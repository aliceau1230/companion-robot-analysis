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charts/colors9.xml" ContentType="application/vnd.ms-office.chartcolorstyle+xml"/>
  <Override PartName="/ppt/charts/style4.xml" ContentType="application/vnd.ms-office.chartstyle+xml"/>
  <Override PartName="/ppt/charts/colors8.xml" ContentType="application/vnd.ms-office.chartcolorstyle+xml"/>
  <Override PartName="/ppt/charts/style3.xml" ContentType="application/vnd.ms-office.chartstyle+xml"/>
  <Override PartName="/ppt/charts/style2.xml" ContentType="application/vnd.ms-office.chartstyle+xml"/>
  <Override PartName="/ppt/charts/style7.xml" ContentType="application/vnd.ms-office.chartstyle+xml"/>
  <Override PartName="/ppt/charts/colors6.xml" ContentType="application/vnd.ms-office.chartcolorstyle+xml"/>
  <Override PartName="/ppt/charts/chart4.xml" ContentType="application/vnd.openxmlformats-officedocument.drawingml.chart+xml"/>
  <Override PartName="/ppt/charts/style10.xml" ContentType="application/vnd.ms-office.chartstyle+xml"/>
  <Override PartName="/ppt/charts/style13.xml" ContentType="application/vnd.ms-office.chartstyle+xml"/>
  <Override PartName="/ppt/charts/colors2.xml" ContentType="application/vnd.ms-office.chartcolorstyle+xml"/>
  <Override PartName="/ppt/charts/colors7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0.xml" ContentType="application/vnd.ms-office.chartcolorstyle+xml"/>
  <Override PartName="/ppt/charts/colors12.xml" ContentType="application/vnd.ms-office.chartcolorstyle+xml"/>
  <Override PartName="/ppt/charts/colors3.xml" ContentType="application/vnd.ms-office.chartcolorstyle+xml"/>
  <Override PartName="/ppt/charts/colors11.xml" ContentType="application/vnd.ms-office.chartcolorstyle+xml"/>
  <Override PartName="/ppt/charts/chart13.xml" ContentType="application/vnd.openxmlformats-officedocument.drawingml.chart+xml"/>
  <Override PartName="/ppt/charts/style6.xml" ContentType="application/vnd.ms-office.chartstyle+xml"/>
  <Override PartName="/ppt/charts/chart9.xml" ContentType="application/vnd.openxmlformats-officedocument.drawingml.chart+xml"/>
  <Override PartName="/ppt/charts/colors13.xml" ContentType="application/vnd.ms-office.chartcolorstyle+xml"/>
  <Override PartName="/ppt/charts/colors1.xml" ContentType="application/vnd.ms-office.chartcolorstyle+xml"/>
  <Override PartName="/ppt/charts/chart7.xml" ContentType="application/vnd.openxmlformats-officedocument.drawingml.chart+xml"/>
  <Override PartName="/ppt/charts/style1.xml" ContentType="application/vnd.ms-office.chartstyle+xml"/>
  <Override PartName="/ppt/charts/style9.xml" ContentType="application/vnd.ms-office.chartstyle+xml"/>
  <Override PartName="/ppt/charts/chart3.xml" ContentType="application/vnd.openxmlformats-officedocument.drawingml.chart+xml"/>
  <Override PartName="/ppt/charts/chart6.xml" ContentType="application/vnd.openxmlformats-officedocument.drawingml.chart+xml"/>
  <Override PartName="/ppt/charts/chart5.xml" ContentType="application/vnd.openxmlformats-officedocument.drawingml.chart+xml"/>
  <Override PartName="/ppt/charts/chart2.xml" ContentType="application/vnd.openxmlformats-officedocument.drawingml.chart+xml"/>
  <Override PartName="/ppt/charts/chart12.xml" ContentType="application/vnd.openxmlformats-officedocument.drawingml.chart+xml"/>
  <Override PartName="/ppt/charts/chart8.xml" ContentType="application/vnd.openxmlformats-officedocument.drawingml.chart+xml"/>
  <Override PartName="/ppt/charts/style12.xml" ContentType="application/vnd.ms-office.chartstyle+xml"/>
  <Override PartName="/ppt/charts/colors4.xml" ContentType="application/vnd.ms-office.chartcolorstyle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style5.xml" ContentType="application/vnd.ms-office.chartstyle+xml"/>
  <Override PartName="/ppt/charts/style8.xml" ContentType="application/vnd.ms-office.chartstyle+xml"/>
  <Override PartName="/ppt/charts/colors5.xml" ContentType="application/vnd.ms-office.chartcolorstyl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1c433c5ed74c72" /><Relationship Type="http://schemas.openxmlformats.org/officeDocument/2006/relationships/extended-properties" Target="/docProps/app.xml" Id="R31bc6f2997e447fd" /><Relationship Type="http://schemas.openxmlformats.org/officeDocument/2006/relationships/officeDocument" Target="/ppt/presentation.xml" Id="R4ebd77a74202466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8642096f4b4dcf"/>
    <p:sldMasterId xmlns:r="http://schemas.openxmlformats.org/officeDocument/2006/relationships" id="2147483655" r:id="R163b1224c9134354"/>
  </p:sldMasterIdLst>
  <p:notesMasterIdLst>
    <p:notesMasterId xmlns:r="http://schemas.openxmlformats.org/officeDocument/2006/relationships" r:id="R0c1358711bde4251"/>
  </p:notesMasterIdLst>
  <p:sldIdLst>
    <p:sldId xmlns:r="http://schemas.openxmlformats.org/officeDocument/2006/relationships" id="256" r:id="Ra9428e390faf41e9"/>
    <p:sldId xmlns:r="http://schemas.openxmlformats.org/officeDocument/2006/relationships" id="257" r:id="R84457b7ca0584e3a"/>
    <p:sldId xmlns:r="http://schemas.openxmlformats.org/officeDocument/2006/relationships" id="258" r:id="R50e950125e4e4f51"/>
    <p:sldId xmlns:r="http://schemas.openxmlformats.org/officeDocument/2006/relationships" id="259" r:id="R090320e2f9204422"/>
    <p:sldId xmlns:r="http://schemas.openxmlformats.org/officeDocument/2006/relationships" id="260" r:id="R91004e3d896b4be8"/>
    <p:sldId xmlns:r="http://schemas.openxmlformats.org/officeDocument/2006/relationships" id="261" r:id="Rcadeb5adb36c4726"/>
    <p:sldId xmlns:r="http://schemas.openxmlformats.org/officeDocument/2006/relationships" id="262" r:id="R531a6f8bb45d40ad"/>
    <p:sldId xmlns:r="http://schemas.openxmlformats.org/officeDocument/2006/relationships" id="263" r:id="Re7d680f653694c5b"/>
    <p:sldId xmlns:r="http://schemas.openxmlformats.org/officeDocument/2006/relationships" id="264" r:id="R883aef26fc31455f"/>
    <p:sldId xmlns:r="http://schemas.openxmlformats.org/officeDocument/2006/relationships" id="265" r:id="Rc2ebf09e6fdf4b97"/>
    <p:sldId xmlns:r="http://schemas.openxmlformats.org/officeDocument/2006/relationships" id="266" r:id="R82a0e77b57b84d82"/>
    <p:sldId xmlns:r="http://schemas.openxmlformats.org/officeDocument/2006/relationships" id="267" r:id="R4349f154cc8042ae"/>
    <p:sldId xmlns:r="http://schemas.openxmlformats.org/officeDocument/2006/relationships" id="268" r:id="R47e74bd36f734f32"/>
    <p:sldId xmlns:r="http://schemas.openxmlformats.org/officeDocument/2006/relationships" id="269" r:id="R141116d9457a4b00"/>
    <p:sldId xmlns:r="http://schemas.openxmlformats.org/officeDocument/2006/relationships" id="270" r:id="R9a342e6ab744469f"/>
    <p:sldId xmlns:r="http://schemas.openxmlformats.org/officeDocument/2006/relationships" id="271" r:id="Rd24892e397c1488f"/>
    <p:sldId xmlns:r="http://schemas.openxmlformats.org/officeDocument/2006/relationships" id="272" r:id="R6c866a50c2d840a4"/>
    <p:sldId xmlns:r="http://schemas.openxmlformats.org/officeDocument/2006/relationships" id="273" r:id="Rdd6dbe2cd1594126"/>
    <p:sldId xmlns:r="http://schemas.openxmlformats.org/officeDocument/2006/relationships" id="274" r:id="R4ac7325629cd46d8"/>
    <p:sldId xmlns:r="http://schemas.openxmlformats.org/officeDocument/2006/relationships" id="275" r:id="Rccf02c262b414c05"/>
    <p:sldId xmlns:r="http://schemas.openxmlformats.org/officeDocument/2006/relationships" id="276" r:id="R9b42bd9b9f53490f"/>
    <p:sldId xmlns:r="http://schemas.openxmlformats.org/officeDocument/2006/relationships" id="277" r:id="R1efd4abad37c4315"/>
    <p:sldId xmlns:r="http://schemas.openxmlformats.org/officeDocument/2006/relationships" id="278" r:id="Re15a5e682b984d4b"/>
    <p:sldId xmlns:r="http://schemas.openxmlformats.org/officeDocument/2006/relationships" id="279" r:id="Rb8accc12fd7c4eb1"/>
    <p:sldId xmlns:r="http://schemas.openxmlformats.org/officeDocument/2006/relationships" id="280" r:id="R1912c3c4a0a84bd5"/>
    <p:sldId xmlns:r="http://schemas.openxmlformats.org/officeDocument/2006/relationships" id="281" r:id="Ra371b0a38539480c"/>
    <p:sldId xmlns:r="http://schemas.openxmlformats.org/officeDocument/2006/relationships" id="282" r:id="Recaaac289eda45dd"/>
    <p:sldId xmlns:r="http://schemas.openxmlformats.org/officeDocument/2006/relationships" id="283" r:id="R39e303c68d9c40e5"/>
    <p:sldId xmlns:r="http://schemas.openxmlformats.org/officeDocument/2006/relationships" id="284" r:id="R5e44b9454f03460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f79d4cb09948ba" /><Relationship Type="http://schemas.openxmlformats.org/officeDocument/2006/relationships/slideMaster" Target="/ppt/slideMasters/slideMaster1.xml" Id="Rc58642096f4b4dcf" /><Relationship Type="http://schemas.openxmlformats.org/officeDocument/2006/relationships/slideMaster" Target="/ppt/slideMasters/slideMaster2.xml" Id="R163b1224c9134354" /><Relationship Type="http://schemas.openxmlformats.org/officeDocument/2006/relationships/notesMaster" Target="/ppt/notesMasters/notesMaster1.xml" Id="R0c1358711bde4251" /><Relationship Type="http://schemas.openxmlformats.org/officeDocument/2006/relationships/presProps" Target="/ppt/presProps.xml" Id="R2b7054939d254d9d" /><Relationship Type="http://schemas.openxmlformats.org/officeDocument/2006/relationships/tableStyles" Target="/ppt/tableStyles.xml" Id="Reb10549c59ff4e3e" /><Relationship Type="http://schemas.openxmlformats.org/officeDocument/2006/relationships/slide" Target="/ppt/slides/slide1.xml" Id="Ra9428e390faf41e9" /><Relationship Type="http://schemas.openxmlformats.org/officeDocument/2006/relationships/slide" Target="/ppt/slides/slide2.xml" Id="R84457b7ca0584e3a" /><Relationship Type="http://schemas.openxmlformats.org/officeDocument/2006/relationships/slide" Target="/ppt/slides/slide3.xml" Id="R50e950125e4e4f51" /><Relationship Type="http://schemas.openxmlformats.org/officeDocument/2006/relationships/slide" Target="/ppt/slides/slide4.xml" Id="R090320e2f9204422" /><Relationship Type="http://schemas.openxmlformats.org/officeDocument/2006/relationships/slide" Target="/ppt/slides/slide5.xml" Id="R91004e3d896b4be8" /><Relationship Type="http://schemas.openxmlformats.org/officeDocument/2006/relationships/slide" Target="/ppt/slides/slide6.xml" Id="Rcadeb5adb36c4726" /><Relationship Type="http://schemas.openxmlformats.org/officeDocument/2006/relationships/slide" Target="/ppt/slides/slide7.xml" Id="R531a6f8bb45d40ad" /><Relationship Type="http://schemas.openxmlformats.org/officeDocument/2006/relationships/slide" Target="/ppt/slides/slide8.xml" Id="Re7d680f653694c5b" /><Relationship Type="http://schemas.openxmlformats.org/officeDocument/2006/relationships/slide" Target="/ppt/slides/slide9.xml" Id="R883aef26fc31455f" /><Relationship Type="http://schemas.openxmlformats.org/officeDocument/2006/relationships/slide" Target="/ppt/slides/slide10.xml" Id="Rc2ebf09e6fdf4b97" /><Relationship Type="http://schemas.openxmlformats.org/officeDocument/2006/relationships/slide" Target="/ppt/slides/slide11.xml" Id="R82a0e77b57b84d82" /><Relationship Type="http://schemas.openxmlformats.org/officeDocument/2006/relationships/slide" Target="/ppt/slides/slide12.xml" Id="R4349f154cc8042ae" /><Relationship Type="http://schemas.openxmlformats.org/officeDocument/2006/relationships/slide" Target="/ppt/slides/slide13.xml" Id="R47e74bd36f734f32" /><Relationship Type="http://schemas.openxmlformats.org/officeDocument/2006/relationships/slide" Target="/ppt/slides/slide14.xml" Id="R141116d9457a4b00" /><Relationship Type="http://schemas.openxmlformats.org/officeDocument/2006/relationships/slide" Target="/ppt/slides/slide15.xml" Id="R9a342e6ab744469f" /><Relationship Type="http://schemas.openxmlformats.org/officeDocument/2006/relationships/slide" Target="/ppt/slides/slide16.xml" Id="Rd24892e397c1488f" /><Relationship Type="http://schemas.openxmlformats.org/officeDocument/2006/relationships/slide" Target="/ppt/slides/slide17.xml" Id="R6c866a50c2d840a4" /><Relationship Type="http://schemas.openxmlformats.org/officeDocument/2006/relationships/slide" Target="/ppt/slides/slide18.xml" Id="Rdd6dbe2cd1594126" /><Relationship Type="http://schemas.openxmlformats.org/officeDocument/2006/relationships/slide" Target="/ppt/slides/slide19.xml" Id="R4ac7325629cd46d8" /><Relationship Type="http://schemas.openxmlformats.org/officeDocument/2006/relationships/slide" Target="/ppt/slides/slide20.xml" Id="Rccf02c262b414c05" /><Relationship Type="http://schemas.openxmlformats.org/officeDocument/2006/relationships/slide" Target="/ppt/slides/slide21.xml" Id="R9b42bd9b9f53490f" /><Relationship Type="http://schemas.openxmlformats.org/officeDocument/2006/relationships/slide" Target="/ppt/slides/slide22.xml" Id="R1efd4abad37c4315" /><Relationship Type="http://schemas.openxmlformats.org/officeDocument/2006/relationships/slide" Target="/ppt/slides/slide23.xml" Id="Re15a5e682b984d4b" /><Relationship Type="http://schemas.openxmlformats.org/officeDocument/2006/relationships/slide" Target="/ppt/slides/slide24.xml" Id="Rb8accc12fd7c4eb1" /><Relationship Type="http://schemas.openxmlformats.org/officeDocument/2006/relationships/slide" Target="/ppt/slides/slide25.xml" Id="R1912c3c4a0a84bd5" /><Relationship Type="http://schemas.openxmlformats.org/officeDocument/2006/relationships/slide" Target="/ppt/slides/slide26.xml" Id="Ra371b0a38539480c" /><Relationship Type="http://schemas.openxmlformats.org/officeDocument/2006/relationships/slide" Target="/ppt/slides/slide27.xml" Id="Recaaac289eda45dd" /><Relationship Type="http://schemas.openxmlformats.org/officeDocument/2006/relationships/slide" Target="/ppt/slides/slide28.xml" Id="R39e303c68d9c40e5" /><Relationship Type="http://schemas.openxmlformats.org/officeDocument/2006/relationships/slide" Target="/ppt/slides/slide29.xml" Id="R5e44b9454f034604" /></Relationships>
</file>

<file path=ppt/charts/_rels/chart1.xml.rels><?xml version='1.0' encoding='UTF-8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
<Relationship Id="rIdEmbeddedData" Type="http://schemas.openxmlformats.org/officeDocument/2006/relationships/package" Target="../embeddings/chart-data-02.xlsx"/></Relationships>
</file>

<file path=ppt/charts/_rels/chart2.xml.rels><?xml version='1.0' encoding='UTF-8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
<Relationship Id="rIdEmbeddedData" Type="http://schemas.openxmlformats.org/officeDocument/2006/relationships/package" Target="../embeddings/chart-data-05.xlsx"/></Relationships>
</file>

<file path=ppt/charts/_rels/chart3.xml.rels><?xml version='1.0' encoding='UTF-8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
<Relationship Id="rIdEmbeddedData" Type="http://schemas.openxmlformats.org/officeDocument/2006/relationships/package" Target="../embeddings/chart-data-06.xlsx"/></Relationships>
</file>

<file path=ppt/charts/_rels/chart4.xml.rels><?xml version='1.0' encoding='UTF-8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
<Relationship Id="rIdEmbeddedData" Type="http://schemas.openxmlformats.org/officeDocument/2006/relationships/package" Target="../embeddings/chart-data-07.xlsx"/></Relationships>
</file>

<file path=ppt/charts/_rels/chart5.xml.rels><?xml version='1.0' encoding='UTF-8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
<Relationship Id="rIdEmbeddedData" Type="http://schemas.openxmlformats.org/officeDocument/2006/relationships/package" Target="../embeddings/chart-data-08.xlsx"/></Relationships>
</file>

<file path=ppt/charts/_rels/chart6.xml.rels><?xml version='1.0' encoding='UTF-8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
<Relationship Id="rIdEmbeddedData" Type="http://schemas.openxmlformats.org/officeDocument/2006/relationships/package" Target="../embeddings/chart-data-09.xlsx"/></Relationships>
</file>

<file path=ppt/charts/_rels/chart7.xml.rels><?xml version='1.0' encoding='UTF-8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
<Relationship Id="rIdEmbeddedData" Type="http://schemas.openxmlformats.org/officeDocument/2006/relationships/package" Target="../embeddings/chart-data-10.xlsx"/></Relationships>
</file>

<file path=ppt/charts/_rels/chart8.xml.rels><?xml version='1.0' encoding='UTF-8'?>
<Relationships xmlns="http://schemas.openxmlformats.org/package/2006/relationships"><Relationship Id="rId1" Type="http://schemas.microsoft.com/office/2011/relationships/chartStyle" Target="style8.xml"/><Relationship Id="rId2" Type="http://schemas.microsoft.com/office/2011/relationships/chartColorStyle" Target="colors8.xml"/>
<Relationship Id="rIdEmbeddedData" Type="http://schemas.openxmlformats.org/officeDocument/2006/relationships/package" Target="../embeddings/chart-data-11.xlsx"/></Relationships>
</file>

<file path=ppt/charts/_rels/chart9.xml.rels><?xml version='1.0' encoding='UTF-8'?>
<Relationships xmlns="http://schemas.openxmlformats.org/package/2006/relationships"><Relationship Id="rId1" Type="http://schemas.microsoft.com/office/2011/relationships/chartStyle" Target="style9.xml"/><Relationship Id="rId2" Type="http://schemas.microsoft.com/office/2011/relationships/chartColorStyle" Target="colors9.xml"/>
<Relationship Id="rIdEmbeddedData" Type="http://schemas.openxmlformats.org/officeDocument/2006/relationships/package" Target="../embeddings/chart-data-14.xlsx"/></Relationships>
</file>

<file path=ppt/charts/_rels/chart10.xml.rels><?xml version='1.0' encoding='UTF-8'?>
<Relationships xmlns="http://schemas.openxmlformats.org/package/2006/relationships"><Relationship Id="rId1" Type="http://schemas.microsoft.com/office/2011/relationships/chartStyle" Target="style10.xml"/><Relationship Id="rId2" Type="http://schemas.microsoft.com/office/2011/relationships/chartColorStyle" Target="colors10.xml"/>
<Relationship Id="rIdEmbeddedData" Type="http://schemas.openxmlformats.org/officeDocument/2006/relationships/package" Target="../embeddings/chart-data-17.xlsx"/></Relationships>
</file>

<file path=ppt/charts/_rels/chart11.xml.rels><?xml version='1.0' encoding='UTF-8'?>
<Relationships xmlns="http://schemas.openxmlformats.org/package/2006/relationships"><Relationship Id="rId1" Type="http://schemas.microsoft.com/office/2011/relationships/chartStyle" Target="style11.xml"/><Relationship Id="rId2" Type="http://schemas.microsoft.com/office/2011/relationships/chartColorStyle" Target="colors11.xml"/>
<Relationship Id="rIdEmbeddedData" Type="http://schemas.openxmlformats.org/officeDocument/2006/relationships/package" Target="../embeddings/chart-data-18.xlsx"/></Relationships>
</file>

<file path=ppt/charts/_rels/chart12.xml.rels><?xml version='1.0' encoding='UTF-8'?>
<Relationships xmlns="http://schemas.openxmlformats.org/package/2006/relationships"><Relationship Id="rId1" Type="http://schemas.microsoft.com/office/2011/relationships/chartStyle" Target="style12.xml"/><Relationship Id="rId2" Type="http://schemas.microsoft.com/office/2011/relationships/chartColorStyle" Target="colors12.xml"/>
<Relationship Id="rIdEmbeddedData" Type="http://schemas.openxmlformats.org/officeDocument/2006/relationships/package" Target="../embeddings/chart-data-19.xlsx"/></Relationships>
</file>

<file path=ppt/charts/_rels/chart13.xml.rels><?xml version='1.0' encoding='UTF-8'?>
<Relationships xmlns="http://schemas.openxmlformats.org/package/2006/relationships"><Relationship Id="rId1" Type="http://schemas.microsoft.com/office/2011/relationships/chartStyle" Target="style13.xml"/><Relationship Id="rId2" Type="http://schemas.microsoft.com/office/2011/relationships/chartColorStyle" Target="colors13.xml"/>
<Relationship Id="rIdEmbeddedData" Type="http://schemas.openxmlformats.org/officeDocument/2006/relationships/package" Target="../embeddings/chart-data-2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v>Population aged 65+ (%)</c:v>
          </c:tx>
          <c:spPr>
            <a:solidFill>
              <a:srgbClr val="41A5C4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41A5C4"/>
              </a:solidFill>
              <a:ln w="0">
                <a:noFill/>
              </a:ln>
            </c:spPr>
          </c:dPt>
          <c:dPt>
            <c:idx val="1"/>
            <c:invertIfNegative val="0"/>
            <c:spPr>
              <a:solidFill>
                <a:srgbClr val="C8E4EA"/>
              </a:solidFill>
              <a:ln w="0">
                <a:noFill/>
              </a:ln>
            </c:spPr>
          </c:dPt>
          <c:dPt>
            <c:idx val="2"/>
            <c:invertIfNegative val="0"/>
            <c:spPr>
              <a:solidFill>
                <a:srgbClr val="C8E4EA"/>
              </a:solidFill>
              <a:ln w="0">
                <a:noFill/>
              </a:ln>
            </c:spPr>
          </c:dPt>
          <c:dPt>
            <c:idx val="3"/>
            <c:invertIfNegative val="0"/>
            <c:spPr>
              <a:solidFill>
                <a:srgbClr val="C8E4EA"/>
              </a:solidFill>
              <a:ln w="0">
                <a:noFill/>
              </a:ln>
            </c:spPr>
          </c:dPt>
          <c:dPt>
            <c:idx val="4"/>
            <c:invertIfNegative val="0"/>
            <c:spPr>
              <a:solidFill>
                <a:srgbClr val="FF8055"/>
              </a:solidFill>
              <a:ln w="0">
                <a:noFill/>
              </a:ln>
            </c:spPr>
          </c:dPt>
          <c:dLbls>
            <c:dLbl>
              <c:idx val="0"/>
              <c:numFmt formatCode="0" sourceLinked="0"/>
              <c:txPr>
                <a:bodyPr wrap="square"/>
                <a:lstStyle/>
                <a:p>
                  <a:pPr>
                    <a:defRPr sz="1500" b="1" u="none" strike="noStrike">
                      <a:solidFill>
                        <a:srgbClr val="23344F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"/>
              <c:numFmt formatCode="0" sourceLinked="0"/>
              <c:txPr>
                <a:bodyPr wrap="square"/>
                <a:lstStyle/>
                <a:p>
                  <a:pPr>
                    <a:defRPr sz="1500" b="1" u="none" strike="noStrike">
                      <a:solidFill>
                        <a:srgbClr val="23344F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2"/>
              <c:numFmt formatCode="0" sourceLinked="0"/>
              <c:txPr>
                <a:bodyPr wrap="square"/>
                <a:lstStyle/>
                <a:p>
                  <a:pPr>
                    <a:defRPr sz="1500" b="1" u="none" strike="noStrike">
                      <a:solidFill>
                        <a:srgbClr val="23344F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3"/>
              <c:numFmt formatCode="0" sourceLinked="0"/>
              <c:txPr>
                <a:bodyPr wrap="square"/>
                <a:lstStyle/>
                <a:p>
                  <a:pPr>
                    <a:defRPr sz="1500" b="1" u="none" strike="noStrike">
                      <a:solidFill>
                        <a:srgbClr val="23344F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4"/>
              <c:numFmt formatCode="0" sourceLinked="0"/>
              <c:txPr>
                <a:bodyPr wrap="square"/>
                <a:lstStyle/>
                <a:p>
                  <a:pPr>
                    <a:defRPr sz="1500" b="1" u="none" strike="noStrike">
                      <a:solidFill>
                        <a:srgbClr val="23344F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numFmt formatCode="0" sourceLinked="0"/>
            <c:txPr>
              <a:bodyPr wrap="square"/>
              <a:lstStyle/>
              <a:p>
                <a:pPr>
                  <a:defRPr sz="1500" b="1" u="none" strike="noStrike">
                    <a:solidFill>
                      <a:srgbClr val="23344F"/>
                    </a:solidFill>
                    <a:uFillTx/>
                    <a:latin typeface="Arial"/>
                    <a:ea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'Chart Data'!$A$2:$A$6</c:f>
              <c:numCache>
                <c:formatCode>0</c:formatCode>
                <c:ptCount val="5"/>
                <c:pt idx="0">
                  <c:v>2026</c:v>
                </c:pt>
                <c:pt idx="1">
                  <c:v>2031</c:v>
                </c:pt>
                <c:pt idx="2">
                  <c:v>2036</c:v>
                </c:pt>
                <c:pt idx="3">
                  <c:v>2041</c:v>
                </c:pt>
                <c:pt idx="4">
                  <c:v>2046</c:v>
                </c:pt>
              </c:numCache>
            </c:numRef>
          </c:cat>
          <c:val>
            <c:numRef>
              <c:f>'Chart Data'!$B$2:$B$6</c:f>
              <c:numCache>
                <c:formatCode>0</c:formatCode>
                <c:ptCount val="5"/>
                <c:pt idx="0">
                  <c:v>26</c:v>
                </c:pt>
                <c:pt idx="1">
                  <c:v>30</c:v>
                </c:pt>
                <c:pt idx="2">
                  <c:v>32</c:v>
                </c:pt>
                <c:pt idx="3">
                  <c:v>34</c:v>
                </c:pt>
                <c:pt idx="4">
                  <c:v>36</c:v>
                </c:pt>
              </c:numCache>
            </c:numRef>
          </c:val>
        </c:ser>
        <c:gapWidth val="85"/>
        <c:overlap val="0"/>
        <c:axId val="55429055"/>
        <c:axId val="62535020"/>
      </c:barChart>
      <c:catAx>
        <c:axId val="55429055"/>
        <c:scaling>
          <c:orientation val="minMax"/>
        </c:scaling>
        <c:delete val="0"/>
        <c:axPos val="b"/>
        <c:numFmt formatCode="0" sourceLinked="0"/>
        <c:majorTickMark val="none"/>
        <c:minorTickMark val="none"/>
        <c:tickLblPos val="nextTo"/>
        <c:spPr>
          <a:ln w="9360">
            <a:solidFill>
              <a:srgbClr val="A3BAD5"/>
            </a:solidFill>
            <a:round/>
          </a:ln>
        </c:spPr>
        <c:txPr>
          <a:bodyPr/>
          <a:lstStyle/>
          <a:p>
            <a:pPr>
              <a:defRPr sz="1575" b="0" u="none" strike="noStrike">
                <a:solidFill>
                  <a:srgbClr val="64748B"/>
                </a:solidFill>
                <a:uFillTx/>
                <a:latin typeface="Arial"/>
                <a:ea typeface="Arial"/>
              </a:defRPr>
            </a:pPr>
          </a:p>
        </c:txPr>
        <c:crossAx val="62535020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62535020"/>
        <c:scaling>
          <c:orientation val="minMax"/>
          <c:max val="50"/>
          <c:min val="0"/>
        </c:scaling>
        <c:delete val="0"/>
        <c:axPos val="l"/>
        <c:majorGridlines>
          <c:spPr>
            <a:ln w="9360">
              <a:solidFill>
                <a:srgbClr val="E3ECF7"/>
              </a:solidFill>
              <a:round/>
            </a:ln>
          </c:spPr>
        </c:majorGridlines>
        <c:title>
          <c:tx>
            <c:rich>
              <a:bodyPr rot="-5400000"/>
              <a:lstStyle/>
              <a:p>
                <a:pPr>
                  <a:defRPr sz="13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  <a:r>
                  <a:rPr sz="1425" b="1" u="none" strike="noStrike">
                    <a:solidFill>
                      <a:srgbClr val="000000"/>
                    </a:solidFill>
                    <a:uFillTx/>
                    <a:latin typeface="Arial"/>
                  </a:rPr>
                  <a:t>Population share (%)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0" sourceLinked="0"/>
        <c:majorTickMark val="none"/>
        <c:minorTickMark val="none"/>
        <c:tickLblPos val="nextTo"/>
        <c:spPr>
          <a:ln w="9360">
            <a:solidFill>
              <a:srgbClr val="C9D9ED"/>
            </a:solidFill>
            <a:round/>
          </a:ln>
        </c:spPr>
        <c:txPr>
          <a:bodyPr/>
          <a:lstStyle/>
          <a:p>
            <a:pPr>
              <a:defRPr sz="1575" b="0" u="none" strike="noStrike">
                <a:solidFill>
                  <a:srgbClr val="64748B"/>
                </a:solidFill>
                <a:uFillTx/>
                <a:latin typeface="Arial"/>
                <a:ea typeface="Arial"/>
              </a:defRPr>
            </a:pPr>
          </a:p>
        </c:txPr>
        <c:crossAx val="55429055"/>
        <c:crosses val="autoZero"/>
        <c:crossBetween val="between"/>
      </c:valAx>
      <c:spPr>
        <a:solidFill>
          <a:srgbClr val="FFFFFF"/>
        </a:solidFill>
        <a:ln w="0">
          <a:noFill/>
        </a:ln>
      </c:spPr>
    </c:plotArea>
    <c:plotVisOnly val="1"/>
    <c:dispBlanksAs val="zero"/>
  </c:chart>
  <c:spPr>
    <a:solidFill>
      <a:srgbClr val="FFFFFF"/>
    </a:solidFill>
    <a:ln w="0">
      <a:noFill/>
    </a:ln>
  </c:spPr>
  <c:externalData r:id="rIdEmbeddedData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v>Activity share (%)</c:v>
          </c:tx>
          <c:spPr>
            <a:solidFill>
              <a:srgbClr val="41A5C4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15B8A6"/>
              </a:solidFill>
              <a:ln w="0">
                <a:noFill/>
              </a:ln>
            </c:spPr>
          </c:dPt>
          <c:dPt>
            <c:idx val="1"/>
            <c:invertIfNegative val="0"/>
            <c:spPr>
              <a:solidFill>
                <a:srgbClr val="FF8055"/>
              </a:solidFill>
              <a:ln w="0">
                <a:noFill/>
              </a:ln>
            </c:spPr>
          </c:dPt>
          <c:dPt>
            <c:idx val="2"/>
            <c:invertIfNegative val="0"/>
            <c:spPr>
              <a:solidFill>
                <a:srgbClr val="8E93F3"/>
              </a:solidFill>
              <a:ln w="0">
                <a:noFill/>
              </a:ln>
            </c:spPr>
          </c:dPt>
          <c:dPt>
            <c:idx val="3"/>
            <c:invertIfNegative val="0"/>
            <c:spPr>
              <a:solidFill>
                <a:srgbClr val="E46BC5"/>
              </a:solidFill>
              <a:ln w="0">
                <a:noFill/>
              </a:ln>
            </c:spPr>
          </c:dPt>
          <c:dPt>
            <c:idx val="4"/>
            <c:invertIfNegative val="0"/>
            <c:spPr>
              <a:solidFill>
                <a:srgbClr val="8ACC4B"/>
              </a:solidFill>
              <a:ln w="0">
                <a:noFill/>
              </a:ln>
            </c:spPr>
          </c:dPt>
          <c:dPt>
            <c:idx val="5"/>
            <c:invertIfNegative val="0"/>
            <c:spPr>
              <a:solidFill>
                <a:srgbClr val="F7BF32"/>
              </a:solidFill>
              <a:ln w="0">
                <a:noFill/>
              </a:ln>
            </c:spPr>
          </c:dPt>
          <c:dPt>
            <c:idx val="6"/>
            <c:invertIfNegative val="0"/>
            <c:spPr>
              <a:solidFill>
                <a:srgbClr val="FFBE69"/>
              </a:solidFill>
              <a:ln w="0">
                <a:noFill/>
              </a:ln>
            </c:spPr>
          </c:dPt>
          <c:dLbls>
            <c:dLbl>
              <c:idx val="0"/>
              <c:numFmt formatCode="0.0" sourceLinked="0"/>
              <c:txPr>
                <a:bodyPr wrap="square"/>
                <a:lstStyle/>
                <a:p>
                  <a:pPr>
                    <a:defRPr sz="1500" b="1" u="none" strike="noStrike">
                      <a:solidFill>
                        <a:srgbClr val="23344F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"/>
              <c:numFmt formatCode="0.0" sourceLinked="0"/>
              <c:txPr>
                <a:bodyPr wrap="square"/>
                <a:lstStyle/>
                <a:p>
                  <a:pPr>
                    <a:defRPr sz="1500" b="1" u="none" strike="noStrike">
                      <a:solidFill>
                        <a:srgbClr val="23344F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2"/>
              <c:numFmt formatCode="0.0" sourceLinked="0"/>
              <c:txPr>
                <a:bodyPr wrap="square"/>
                <a:lstStyle/>
                <a:p>
                  <a:pPr>
                    <a:defRPr sz="1500" b="1" u="none" strike="noStrike">
                      <a:solidFill>
                        <a:srgbClr val="23344F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3"/>
              <c:numFmt formatCode="0.0" sourceLinked="0"/>
              <c:txPr>
                <a:bodyPr wrap="square"/>
                <a:lstStyle/>
                <a:p>
                  <a:pPr>
                    <a:defRPr sz="1500" b="1" u="none" strike="noStrike">
                      <a:solidFill>
                        <a:srgbClr val="23344F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4"/>
              <c:numFmt formatCode="0.0" sourceLinked="0"/>
              <c:txPr>
                <a:bodyPr wrap="square"/>
                <a:lstStyle/>
                <a:p>
                  <a:pPr>
                    <a:defRPr sz="1500" b="1" u="none" strike="noStrike">
                      <a:solidFill>
                        <a:srgbClr val="23344F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5"/>
              <c:numFmt formatCode="0.0" sourceLinked="0"/>
              <c:txPr>
                <a:bodyPr wrap="square"/>
                <a:lstStyle/>
                <a:p>
                  <a:pPr>
                    <a:defRPr sz="1500" b="1" u="none" strike="noStrike">
                      <a:solidFill>
                        <a:srgbClr val="23344F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6"/>
              <c:numFmt formatCode="0.0" sourceLinked="0"/>
              <c:txPr>
                <a:bodyPr wrap="square"/>
                <a:lstStyle/>
                <a:p>
                  <a:pPr>
                    <a:defRPr sz="1500" b="1" u="none" strike="noStrike">
                      <a:solidFill>
                        <a:srgbClr val="23344F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numFmt formatCode="0.0" sourceLinked="0"/>
            <c:txPr>
              <a:bodyPr wrap="square"/>
              <a:lstStyle/>
              <a:p>
                <a:pPr>
                  <a:defRPr sz="1500" b="1" u="none" strike="noStrike">
                    <a:solidFill>
                      <a:srgbClr val="23344F"/>
                    </a:solidFill>
                    <a:uFillTx/>
                    <a:latin typeface="Arial"/>
                    <a:ea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Data'!$A$2:$A$8</c:f>
              <c:strCache>
                <c:ptCount val="7"/>
                <c:pt idx="0">
                  <c:v>Social connectedness</c:v>
                </c:pt>
                <c:pt idx="1">
                  <c:v>Infotainment</c:v>
                </c:pt>
                <c:pt idx="2">
                  <c:v>Tools and reminders</c:v>
                </c:pt>
                <c:pt idx="3">
                  <c:v>Health</c:v>
                </c:pt>
                <c:pt idx="4">
                  <c:v>Wellness activities</c:v>
                </c:pt>
                <c:pt idx="5">
                  <c:v>Cognitive activities</c:v>
                </c:pt>
                <c:pt idx="6">
                  <c:v>Companionship</c:v>
                </c:pt>
              </c:strCache>
            </c:strRef>
          </c:cat>
          <c:val>
            <c:numRef>
              <c:f>'Chart Data'!$B$2:$B$8</c:f>
              <c:numCache>
                <c:formatCode>0</c:formatCode>
                <c:ptCount val="7"/>
                <c:pt idx="0">
                  <c:v>2</c:v>
                </c:pt>
                <c:pt idx="1">
                  <c:v>3.8</c:v>
                </c:pt>
                <c:pt idx="2">
                  <c:v>8.9</c:v>
                </c:pt>
                <c:pt idx="3">
                  <c:v>11</c:v>
                </c:pt>
                <c:pt idx="4">
                  <c:v>15.1</c:v>
                </c:pt>
                <c:pt idx="5">
                  <c:v>19</c:v>
                </c:pt>
                <c:pt idx="6">
                  <c:v>40.1</c:v>
                </c:pt>
              </c:numCache>
            </c:numRef>
          </c:val>
        </c:ser>
        <c:gapWidth val="85"/>
        <c:overlap val="0"/>
        <c:axId val="67640374"/>
        <c:axId val="31817156"/>
      </c:barChart>
      <c:catAx>
        <c:axId val="67640374"/>
        <c:scaling>
          <c:orientation val="minMax"/>
        </c:scaling>
        <c:delete val="0"/>
        <c:axPos val="b"/>
        <c:numFmt formatCode="0" sourceLinked="0"/>
        <c:majorTickMark val="none"/>
        <c:minorTickMark val="none"/>
        <c:tickLblPos val="nextTo"/>
        <c:spPr>
          <a:ln w="9360">
            <a:solidFill>
              <a:srgbClr val="A3BAD5"/>
            </a:solidFill>
            <a:round/>
          </a:ln>
        </c:spPr>
        <c:txPr>
          <a:bodyPr/>
          <a:lstStyle/>
          <a:p>
            <a:pPr>
              <a:defRPr sz="1575" b="0" u="none" strike="noStrike">
                <a:solidFill>
                  <a:srgbClr val="64748B"/>
                </a:solidFill>
                <a:uFillTx/>
                <a:latin typeface="Arial"/>
                <a:ea typeface="Arial"/>
              </a:defRPr>
            </a:pPr>
          </a:p>
        </c:txPr>
        <c:crossAx val="31817156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31817156"/>
        <c:scaling>
          <c:orientation val="minMax"/>
          <c:max val="48"/>
          <c:min val="0"/>
        </c:scaling>
        <c:delete val="0"/>
        <c:axPos val="l"/>
        <c:majorGridlines>
          <c:spPr>
            <a:ln w="9360">
              <a:solidFill>
                <a:srgbClr val="E3ECF7"/>
              </a:solidFill>
              <a:round/>
            </a:ln>
          </c:spPr>
        </c:majorGridlines>
        <c:title>
          <c:tx>
            <c:rich>
              <a:bodyPr rot="0"/>
              <a:lstStyle/>
              <a:p>
                <a:pPr>
                  <a:defRPr sz="13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  <a:r>
                  <a:rPr sz="1425" b="1" u="none" strike="noStrike">
                    <a:solidFill>
                      <a:srgbClr val="000000"/>
                    </a:solidFill>
                    <a:uFillTx/>
                    <a:latin typeface="Arial"/>
                  </a:rPr>
                  <a:t>Activity share (%)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0" sourceLinked="0"/>
        <c:majorTickMark val="none"/>
        <c:minorTickMark val="none"/>
        <c:tickLblPos val="nextTo"/>
        <c:spPr>
          <a:ln w="9360">
            <a:solidFill>
              <a:srgbClr val="C9D9ED"/>
            </a:solidFill>
            <a:round/>
          </a:ln>
        </c:spPr>
        <c:txPr>
          <a:bodyPr/>
          <a:lstStyle/>
          <a:p>
            <a:pPr>
              <a:defRPr sz="1575" b="0" u="none" strike="noStrike">
                <a:solidFill>
                  <a:srgbClr val="64748B"/>
                </a:solidFill>
                <a:uFillTx/>
                <a:latin typeface="Arial"/>
                <a:ea typeface="Arial"/>
              </a:defRPr>
            </a:pPr>
          </a:p>
        </c:txPr>
        <c:crossAx val="67640374"/>
        <c:crosses val="autoZero"/>
        <c:crossBetween val="between"/>
        <c:majorUnit val="10"/>
      </c:valAx>
      <c:spPr>
        <a:solidFill>
          <a:srgbClr val="FFFFFF"/>
        </a:solidFill>
        <a:ln w="0">
          <a:noFill/>
        </a:ln>
      </c:spPr>
    </c:plotArea>
    <c:plotVisOnly val="1"/>
    <c:dispBlanksAs val="zero"/>
  </c:chart>
  <c:spPr>
    <a:solidFill>
      <a:srgbClr val="FFFFFF"/>
    </a:solidFill>
    <a:ln w="0">
      <a:noFill/>
    </a:ln>
  </c:spPr>
  <c:externalData r:id="rIdEmbeddedData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v>Positive responses (%)</c:v>
          </c:tx>
          <c:spPr>
            <a:solidFill>
              <a:srgbClr val="41A5C4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15B8A6"/>
              </a:solidFill>
              <a:ln w="0">
                <a:noFill/>
              </a:ln>
            </c:spPr>
          </c:dPt>
          <c:dPt>
            <c:idx val="1"/>
            <c:invertIfNegative val="0"/>
            <c:spPr>
              <a:solidFill>
                <a:srgbClr val="FF8055"/>
              </a:solidFill>
              <a:ln w="0">
                <a:noFill/>
              </a:ln>
            </c:spPr>
          </c:dPt>
          <c:dPt>
            <c:idx val="2"/>
            <c:invertIfNegative val="0"/>
            <c:spPr>
              <a:solidFill>
                <a:srgbClr val="8E93F3"/>
              </a:solidFill>
              <a:ln w="0">
                <a:noFill/>
              </a:ln>
            </c:spPr>
          </c:dPt>
          <c:dPt>
            <c:idx val="3"/>
            <c:invertIfNegative val="0"/>
            <c:spPr>
              <a:solidFill>
                <a:srgbClr val="E46BC5"/>
              </a:solidFill>
              <a:ln w="0">
                <a:noFill/>
              </a:ln>
            </c:spPr>
          </c:dPt>
          <c:dLbls>
            <c:dLbl>
              <c:idx val="0"/>
              <c:numFmt formatCode="0" sourceLinked="0"/>
              <c:txPr>
                <a:bodyPr wrap="square"/>
                <a:lstStyle/>
                <a:p>
                  <a:pPr>
                    <a:defRPr sz="1500" b="1" u="none" strike="noStrike">
                      <a:solidFill>
                        <a:srgbClr val="23344F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"/>
              <c:numFmt formatCode="0" sourceLinked="0"/>
              <c:txPr>
                <a:bodyPr wrap="square"/>
                <a:lstStyle/>
                <a:p>
                  <a:pPr>
                    <a:defRPr sz="1500" b="1" u="none" strike="noStrike">
                      <a:solidFill>
                        <a:srgbClr val="23344F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2"/>
              <c:numFmt formatCode="0" sourceLinked="0"/>
              <c:txPr>
                <a:bodyPr wrap="square"/>
                <a:lstStyle/>
                <a:p>
                  <a:pPr>
                    <a:defRPr sz="1500" b="1" u="none" strike="noStrike">
                      <a:solidFill>
                        <a:srgbClr val="23344F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3"/>
              <c:numFmt formatCode="0" sourceLinked="0"/>
              <c:txPr>
                <a:bodyPr wrap="square"/>
                <a:lstStyle/>
                <a:p>
                  <a:pPr>
                    <a:defRPr sz="1500" b="1" u="none" strike="noStrike">
                      <a:solidFill>
                        <a:srgbClr val="23344F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numFmt formatCode="0" sourceLinked="0"/>
            <c:txPr>
              <a:bodyPr wrap="square"/>
              <a:lstStyle/>
              <a:p>
                <a:pPr>
                  <a:defRPr sz="1500" b="1" u="none" strike="noStrike">
                    <a:solidFill>
                      <a:srgbClr val="23344F"/>
                    </a:solidFill>
                    <a:uFillTx/>
                    <a:latin typeface="Arial"/>
                    <a:ea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Data'!$A$2:$A$5</c:f>
              <c:strCache>
                <c:ptCount val="4"/>
                <c:pt idx="0">
                  <c:v>Feel more connected</c:v>
                </c:pt>
                <c:pt idx="1">
                  <c:v>Positive change in daily life</c:v>
                </c:pt>
                <c:pt idx="2">
                  <c:v>Feel less lonely</c:v>
                </c:pt>
                <c:pt idx="3">
                  <c:v>Feel better overall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79</c:v>
                </c:pt>
                <c:pt idx="1">
                  <c:v>88</c:v>
                </c:pt>
                <c:pt idx="2">
                  <c:v>94</c:v>
                </c:pt>
                <c:pt idx="3">
                  <c:v>97</c:v>
                </c:pt>
              </c:numCache>
            </c:numRef>
          </c:val>
        </c:ser>
        <c:gapWidth val="85"/>
        <c:overlap val="0"/>
        <c:axId val="48401023"/>
        <c:axId val="26070891"/>
      </c:barChart>
      <c:catAx>
        <c:axId val="48401023"/>
        <c:scaling>
          <c:orientation val="minMax"/>
        </c:scaling>
        <c:delete val="0"/>
        <c:axPos val="b"/>
        <c:numFmt formatCode="0" sourceLinked="0"/>
        <c:majorTickMark val="none"/>
        <c:minorTickMark val="none"/>
        <c:tickLblPos val="nextTo"/>
        <c:spPr>
          <a:ln w="9360">
            <a:solidFill>
              <a:srgbClr val="A3BAD5"/>
            </a:solidFill>
            <a:round/>
          </a:ln>
        </c:spPr>
        <c:txPr>
          <a:bodyPr/>
          <a:lstStyle/>
          <a:p>
            <a:pPr>
              <a:defRPr sz="1575" b="0" u="none" strike="noStrike">
                <a:solidFill>
                  <a:srgbClr val="64748B"/>
                </a:solidFill>
                <a:uFillTx/>
                <a:latin typeface="Arial"/>
                <a:ea typeface="Arial"/>
              </a:defRPr>
            </a:pPr>
          </a:p>
        </c:txPr>
        <c:crossAx val="26070891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26070891"/>
        <c:scaling>
          <c:orientation val="minMax"/>
          <c:max val="110"/>
          <c:min val="0"/>
        </c:scaling>
        <c:delete val="0"/>
        <c:axPos val="l"/>
        <c:majorGridlines>
          <c:spPr>
            <a:ln w="9360">
              <a:solidFill>
                <a:srgbClr val="E3ECF7"/>
              </a:solidFill>
              <a:round/>
            </a:ln>
          </c:spPr>
        </c:majorGridlines>
        <c:title>
          <c:tx>
            <c:rich>
              <a:bodyPr rot="0"/>
              <a:lstStyle/>
              <a:p>
                <a:pPr>
                  <a:defRPr sz="13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  <a:r>
                  <a:rPr sz="1425" b="1" u="none" strike="noStrike">
                    <a:solidFill>
                      <a:srgbClr val="000000"/>
                    </a:solidFill>
                    <a:uFillTx/>
                    <a:latin typeface="Arial"/>
                  </a:rPr>
                  <a:t>Positive responses (%)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0" sourceLinked="0"/>
        <c:majorTickMark val="none"/>
        <c:minorTickMark val="none"/>
        <c:tickLblPos val="nextTo"/>
        <c:spPr>
          <a:ln w="9360">
            <a:solidFill>
              <a:srgbClr val="C9D9ED"/>
            </a:solidFill>
            <a:round/>
          </a:ln>
        </c:spPr>
        <c:txPr>
          <a:bodyPr/>
          <a:lstStyle/>
          <a:p>
            <a:pPr>
              <a:defRPr sz="1575" b="0" u="none" strike="noStrike">
                <a:solidFill>
                  <a:srgbClr val="64748B"/>
                </a:solidFill>
                <a:uFillTx/>
                <a:latin typeface="Arial"/>
                <a:ea typeface="Arial"/>
              </a:defRPr>
            </a:pPr>
          </a:p>
        </c:txPr>
        <c:crossAx val="48401023"/>
        <c:crosses val="autoZero"/>
        <c:crossBetween val="between"/>
        <c:majorUnit val="20"/>
      </c:valAx>
      <c:spPr>
        <a:solidFill>
          <a:srgbClr val="FFFFFF"/>
        </a:solidFill>
        <a:ln w="0">
          <a:noFill/>
        </a:ln>
      </c:spPr>
    </c:plotArea>
    <c:plotVisOnly val="1"/>
    <c:dispBlanksAs val="zero"/>
  </c:chart>
  <c:spPr>
    <a:solidFill>
      <a:srgbClr val="FFFFFF"/>
    </a:solidFill>
    <a:ln w="0">
      <a:noFill/>
    </a:ln>
  </c:spPr>
  <c:externalData r:id="rIdEmbeddedData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v>Before</c:v>
          </c:tx>
          <c:spPr>
            <a:solidFill>
              <a:srgbClr val="41A5C4"/>
            </a:solidFill>
            <a:ln w="0">
              <a:noFill/>
            </a:ln>
          </c:spPr>
          <c:invertIfNegative val="0"/>
          <c:dLbls>
            <c:numFmt formatCode="0.00" sourceLinked="0"/>
            <c:txPr>
              <a:bodyPr wrap="square"/>
              <a:lstStyle/>
              <a:p>
                <a:pPr>
                  <a:defRPr sz="1500" b="1" u="none" strike="noStrike">
                    <a:solidFill>
                      <a:srgbClr val="23344F"/>
                    </a:solidFill>
                    <a:uFillTx/>
                    <a:latin typeface="Arial"/>
                    <a:ea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PIO activity group</c:v>
                </c:pt>
                <c:pt idx="1">
                  <c:v>Control group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42.45</c:v>
                </c:pt>
                <c:pt idx="1">
                  <c:v>42.03</c:v>
                </c:pt>
              </c:numCache>
            </c:numRef>
          </c:val>
        </c:ser>
        <c:ser>
          <c:idx val="1"/>
          <c:order val="1"/>
          <c:tx>
            <c:v>Week 6</c:v>
          </c:tx>
          <c:spPr>
            <a:solidFill>
              <a:srgbClr val="FF8055"/>
            </a:solidFill>
            <a:ln w="0">
              <a:noFill/>
            </a:ln>
          </c:spPr>
          <c:invertIfNegative val="0"/>
          <c:dLbls>
            <c:numFmt formatCode="0.00" sourceLinked="0"/>
            <c:txPr>
              <a:bodyPr wrap="square"/>
              <a:lstStyle/>
              <a:p>
                <a:pPr>
                  <a:defRPr sz="1500" b="1" u="none" strike="noStrike">
                    <a:solidFill>
                      <a:srgbClr val="23344F"/>
                    </a:solidFill>
                    <a:uFillTx/>
                    <a:latin typeface="Arial"/>
                    <a:ea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Data'!$C$2:$C$3</c:f>
              <c:strCache>
                <c:ptCount val="2"/>
                <c:pt idx="0">
                  <c:v>PIO activity group</c:v>
                </c:pt>
                <c:pt idx="1">
                  <c:v>Control group</c:v>
                </c:pt>
              </c:strCache>
            </c:strRef>
          </c:cat>
          <c:val>
            <c:numRef>
              <c:f>'Chart Data'!$D$2:$D$3</c:f>
              <c:numCache>
                <c:formatCode>0</c:formatCode>
                <c:ptCount val="2"/>
                <c:pt idx="0">
                  <c:v>31.19</c:v>
                </c:pt>
                <c:pt idx="1">
                  <c:v>41.48</c:v>
                </c:pt>
              </c:numCache>
            </c:numRef>
          </c:val>
        </c:ser>
        <c:gapWidth val="85"/>
        <c:overlap val="0"/>
        <c:axId val="20782827"/>
        <c:axId val="93257489"/>
      </c:barChart>
      <c:catAx>
        <c:axId val="20782827"/>
        <c:scaling>
          <c:orientation val="minMax"/>
        </c:scaling>
        <c:delete val="0"/>
        <c:axPos val="b"/>
        <c:numFmt formatCode="0" sourceLinked="0"/>
        <c:majorTickMark val="none"/>
        <c:minorTickMark val="none"/>
        <c:tickLblPos val="nextTo"/>
        <c:spPr>
          <a:ln w="9360">
            <a:solidFill>
              <a:srgbClr val="A3BAD5"/>
            </a:solidFill>
            <a:round/>
          </a:ln>
        </c:spPr>
        <c:txPr>
          <a:bodyPr/>
          <a:lstStyle/>
          <a:p>
            <a:pPr>
              <a:defRPr sz="1575" b="0" u="none" strike="noStrike">
                <a:solidFill>
                  <a:srgbClr val="64748B"/>
                </a:solidFill>
                <a:uFillTx/>
                <a:latin typeface="Arial"/>
                <a:ea typeface="Arial"/>
              </a:defRPr>
            </a:pPr>
          </a:p>
        </c:txPr>
        <c:crossAx val="93257489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93257489"/>
        <c:scaling>
          <c:orientation val="minMax"/>
          <c:max val="60"/>
          <c:min val="0"/>
        </c:scaling>
        <c:delete val="0"/>
        <c:axPos val="l"/>
        <c:majorGridlines>
          <c:spPr>
            <a:ln w="9360">
              <a:solidFill>
                <a:srgbClr val="E3ECF7"/>
              </a:solidFill>
              <a:round/>
            </a:ln>
          </c:spPr>
        </c:majorGridlines>
        <c:title>
          <c:tx>
            <c:rich>
              <a:bodyPr rot="-5400000"/>
              <a:lstStyle/>
              <a:p>
                <a:pPr>
                  <a:defRPr sz="13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  <a:r>
                  <a:rPr sz="1425" b="1" u="none" strike="noStrike">
                    <a:solidFill>
                      <a:srgbClr val="000000"/>
                    </a:solidFill>
                    <a:uFillTx/>
                    <a:latin typeface="Arial"/>
                  </a:rPr>
                  <a:t>Mean loneliness score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0" sourceLinked="0"/>
        <c:majorTickMark val="none"/>
        <c:minorTickMark val="none"/>
        <c:tickLblPos val="nextTo"/>
        <c:spPr>
          <a:ln w="9360">
            <a:solidFill>
              <a:srgbClr val="C9D9ED"/>
            </a:solidFill>
            <a:round/>
          </a:ln>
        </c:spPr>
        <c:txPr>
          <a:bodyPr/>
          <a:lstStyle/>
          <a:p>
            <a:pPr>
              <a:defRPr sz="1575" b="0" u="none" strike="noStrike">
                <a:solidFill>
                  <a:srgbClr val="64748B"/>
                </a:solidFill>
                <a:uFillTx/>
                <a:latin typeface="Arial"/>
                <a:ea typeface="Arial"/>
              </a:defRPr>
            </a:pPr>
          </a:p>
        </c:txPr>
        <c:crossAx val="20782827"/>
        <c:crosses val="autoZero"/>
        <c:crossBetween val="between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sz="1650" b="0" u="none" strike="noStrike">
              <a:solidFill>
                <a:srgbClr val="23344F"/>
              </a:solidFill>
              <a:uFillTx/>
              <a:latin typeface="Arial"/>
              <a:ea typeface="Arial"/>
            </a:defRPr>
          </a:pPr>
        </a:p>
      </c:txPr>
    </c:legend>
    <c:plotVisOnly val="1"/>
    <c:dispBlanksAs val="zero"/>
  </c:chart>
  <c:spPr>
    <a:solidFill>
      <a:srgbClr val="FFFFFF"/>
    </a:solidFill>
    <a:ln w="0">
      <a:noFill/>
    </a:ln>
  </c:spPr>
  <c:externalData r:id="rIdEmbeddedData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v>Observed score decrease</c:v>
          </c:tx>
          <c:spPr>
            <a:solidFill>
              <a:srgbClr val="41A5C4"/>
            </a:solidFill>
            <a:ln w="0">
              <a:noFill/>
            </a:ln>
          </c:spPr>
          <c:invertIfNegative val="0"/>
          <c:dLbls>
            <c:numFmt formatCode="0.00" sourceLinked="0"/>
            <c:txPr>
              <a:bodyPr wrap="square"/>
              <a:lstStyle/>
              <a:p>
                <a:pPr>
                  <a:defRPr sz="1500" b="1" u="none" strike="noStrike">
                    <a:solidFill>
                      <a:srgbClr val="23344F"/>
                    </a:solidFill>
                    <a:uFillTx/>
                    <a:latin typeface="Arial"/>
                    <a:ea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PIO activity group</c:v>
                </c:pt>
                <c:pt idx="1">
                  <c:v>Control group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11.26</c:v>
                </c:pt>
                <c:pt idx="1">
                  <c:v>0.55</c:v>
                </c:pt>
              </c:numCache>
            </c:numRef>
          </c:val>
        </c:ser>
        <c:gapWidth val="85"/>
        <c:overlap val="0"/>
        <c:axId val="78637811"/>
        <c:axId val="59888503"/>
      </c:barChart>
      <c:catAx>
        <c:axId val="78637811"/>
        <c:scaling>
          <c:orientation val="minMax"/>
        </c:scaling>
        <c:delete val="0"/>
        <c:axPos val="b"/>
        <c:numFmt formatCode="0" sourceLinked="0"/>
        <c:majorTickMark val="none"/>
        <c:minorTickMark val="none"/>
        <c:tickLblPos val="nextTo"/>
        <c:spPr>
          <a:ln w="9360">
            <a:solidFill>
              <a:srgbClr val="A3BAD5"/>
            </a:solidFill>
            <a:round/>
          </a:ln>
        </c:spPr>
        <c:txPr>
          <a:bodyPr/>
          <a:lstStyle/>
          <a:p>
            <a:pPr>
              <a:defRPr sz="1575" b="0" u="none" strike="noStrike">
                <a:solidFill>
                  <a:srgbClr val="64748B"/>
                </a:solidFill>
                <a:uFillTx/>
                <a:latin typeface="Arial"/>
                <a:ea typeface="Arial"/>
              </a:defRPr>
            </a:pPr>
          </a:p>
        </c:txPr>
        <c:crossAx val="59888503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59888503"/>
        <c:scaling>
          <c:orientation val="minMax"/>
          <c:max val="14"/>
          <c:min val="0"/>
        </c:scaling>
        <c:delete val="0"/>
        <c:axPos val="l"/>
        <c:majorGridlines>
          <c:spPr>
            <a:ln w="9360">
              <a:solidFill>
                <a:srgbClr val="E3ECF7"/>
              </a:solidFill>
              <a:round/>
            </a:ln>
          </c:spPr>
        </c:majorGridlines>
        <c:title>
          <c:tx>
            <c:rich>
              <a:bodyPr rot="-5400000"/>
              <a:lstStyle/>
              <a:p>
                <a:pPr>
                  <a:defRPr sz="13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  <a:r>
                  <a:rPr sz="1425" b="1" u="none" strike="noStrike">
                    <a:solidFill>
                      <a:srgbClr val="000000"/>
                    </a:solidFill>
                    <a:uFillTx/>
                    <a:latin typeface="Arial"/>
                  </a:rPr>
                  <a:t>Score decrease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0" sourceLinked="0"/>
        <c:majorTickMark val="none"/>
        <c:minorTickMark val="none"/>
        <c:tickLblPos val="nextTo"/>
        <c:spPr>
          <a:ln w="9360">
            <a:solidFill>
              <a:srgbClr val="C9D9ED"/>
            </a:solidFill>
            <a:round/>
          </a:ln>
        </c:spPr>
        <c:txPr>
          <a:bodyPr/>
          <a:lstStyle/>
          <a:p>
            <a:pPr>
              <a:defRPr sz="1575" b="0" u="none" strike="noStrike">
                <a:solidFill>
                  <a:srgbClr val="64748B"/>
                </a:solidFill>
                <a:uFillTx/>
                <a:latin typeface="Arial"/>
                <a:ea typeface="Arial"/>
              </a:defRPr>
            </a:pPr>
          </a:p>
        </c:txPr>
        <c:crossAx val="78637811"/>
        <c:crosses val="autoZero"/>
        <c:crossBetween val="between"/>
      </c:valAx>
      <c:spPr>
        <a:solidFill>
          <a:srgbClr val="FFFFFF"/>
        </a:solidFill>
        <a:ln w="0">
          <a:noFill/>
        </a:ln>
      </c:spPr>
    </c:plotArea>
    <c:plotVisOnly val="1"/>
    <c:dispBlanksAs val="zero"/>
  </c:chart>
  <c:spPr>
    <a:solidFill>
      <a:srgbClr val="FFFFFF"/>
    </a:solidFill>
    <a:ln w="0">
      <a:noFill/>
    </a:ln>
  </c:spPr>
  <c:externalData r:id="rIdEmbeddedData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v>Week 6</c:v>
          </c:tx>
          <c:spPr>
            <a:solidFill>
              <a:srgbClr val="41A5C4"/>
            </a:solidFill>
            <a:ln w="0">
              <a:noFill/>
            </a:ln>
          </c:spPr>
          <c:invertIfNegative val="0"/>
          <c:dLbls>
            <c:numFmt formatCode="0.00" sourceLinked="0"/>
            <c:txPr>
              <a:bodyPr wrap="square"/>
              <a:lstStyle/>
              <a:p>
                <a:pPr>
                  <a:defRPr sz="1500" b="1" u="none" strike="noStrike">
                    <a:solidFill>
                      <a:srgbClr val="23344F"/>
                    </a:solidFill>
                    <a:uFillTx/>
                    <a:latin typeface="Arial"/>
                    <a:ea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PARO activity group</c:v>
                </c:pt>
                <c:pt idx="1">
                  <c:v>Control group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-5.36</c:v>
                </c:pt>
                <c:pt idx="1">
                  <c:v>9.18</c:v>
                </c:pt>
              </c:numCache>
            </c:numRef>
          </c:val>
        </c:ser>
        <c:ser>
          <c:idx val="1"/>
          <c:order val="1"/>
          <c:tx>
            <c:v>Week 10</c:v>
          </c:tx>
          <c:spPr>
            <a:solidFill>
              <a:srgbClr val="FF8055"/>
            </a:solidFill>
            <a:ln w="0">
              <a:noFill/>
            </a:ln>
          </c:spPr>
          <c:invertIfNegative val="0"/>
          <c:dLbls>
            <c:numFmt formatCode="0.00" sourceLinked="0"/>
            <c:txPr>
              <a:bodyPr wrap="square"/>
              <a:lstStyle/>
              <a:p>
                <a:pPr>
                  <a:defRPr sz="1500" b="1" u="none" strike="noStrike">
                    <a:solidFill>
                      <a:srgbClr val="23344F"/>
                    </a:solidFill>
                    <a:uFillTx/>
                    <a:latin typeface="Arial"/>
                    <a:ea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Data'!$C$2:$C$3</c:f>
              <c:strCache>
                <c:ptCount val="2"/>
                <c:pt idx="0">
                  <c:v>PARO activity group</c:v>
                </c:pt>
                <c:pt idx="1">
                  <c:v>Control group</c:v>
                </c:pt>
              </c:strCache>
            </c:strRef>
          </c:cat>
          <c:val>
            <c:numRef>
              <c:f>'Chart Data'!$D$2:$D$3</c:f>
              <c:numCache>
                <c:formatCode>0</c:formatCode>
                <c:ptCount val="2"/>
                <c:pt idx="0">
                  <c:v>-1.52</c:v>
                </c:pt>
                <c:pt idx="1">
                  <c:v>1.23</c:v>
                </c:pt>
              </c:numCache>
            </c:numRef>
          </c:val>
        </c:ser>
        <c:gapWidth val="85"/>
        <c:overlap val="0"/>
        <c:axId val="14422607"/>
        <c:axId val="83198739"/>
      </c:barChart>
      <c:catAx>
        <c:axId val="14422607"/>
        <c:scaling>
          <c:orientation val="minMax"/>
        </c:scaling>
        <c:delete val="0"/>
        <c:axPos val="b"/>
        <c:numFmt formatCode="0" sourceLinked="0"/>
        <c:majorTickMark val="none"/>
        <c:minorTickMark val="none"/>
        <c:tickLblPos val="low"/>
        <c:spPr>
          <a:ln w="9360">
            <a:solidFill>
              <a:srgbClr val="A3BAD5"/>
            </a:solidFill>
            <a:round/>
          </a:ln>
        </c:spPr>
        <c:txPr>
          <a:bodyPr/>
          <a:lstStyle/>
          <a:p>
            <a:pPr>
              <a:defRPr sz="1575" b="0" u="none" strike="noStrike">
                <a:solidFill>
                  <a:srgbClr val="64748B"/>
                </a:solidFill>
                <a:uFillTx/>
                <a:latin typeface="Arial"/>
                <a:ea typeface="Arial"/>
              </a:defRPr>
            </a:pPr>
          </a:p>
        </c:txPr>
        <c:crossAx val="83198739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83198739"/>
        <c:scaling>
          <c:orientation val="minMax"/>
          <c:max val="12"/>
          <c:min val="-12"/>
        </c:scaling>
        <c:delete val="0"/>
        <c:axPos val="l"/>
        <c:majorGridlines>
          <c:spPr>
            <a:ln w="9360">
              <a:solidFill>
                <a:srgbClr val="E3ECF7"/>
              </a:solidFill>
              <a:round/>
            </a:ln>
          </c:spPr>
        </c:majorGridlines>
        <c:title>
          <c:tx>
            <c:rich>
              <a:bodyPr rot="-5400000"/>
              <a:lstStyle/>
              <a:p>
                <a:pPr>
                  <a:defRPr sz="13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  <a:r>
                  <a:rPr sz="1425" b="1" u="none" strike="noStrike">
                    <a:solidFill>
                      <a:srgbClr val="000000"/>
                    </a:solidFill>
                    <a:uFillTx/>
                    <a:latin typeface="Arial"/>
                  </a:rPr>
                  <a:t>Score change from baseline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0" sourceLinked="0"/>
        <c:majorTickMark val="none"/>
        <c:minorTickMark val="none"/>
        <c:tickLblPos val="nextTo"/>
        <c:spPr>
          <a:ln w="9360">
            <a:solidFill>
              <a:srgbClr val="C9D9ED"/>
            </a:solidFill>
            <a:round/>
          </a:ln>
        </c:spPr>
        <c:txPr>
          <a:bodyPr/>
          <a:lstStyle/>
          <a:p>
            <a:pPr>
              <a:defRPr sz="1575" b="0" u="none" strike="noStrike">
                <a:solidFill>
                  <a:srgbClr val="64748B"/>
                </a:solidFill>
                <a:uFillTx/>
                <a:latin typeface="Arial"/>
                <a:ea typeface="Arial"/>
              </a:defRPr>
            </a:pPr>
          </a:p>
        </c:txPr>
        <c:crossAx val="14422607"/>
        <c:crosses val="autoZero"/>
        <c:crossBetween val="between"/>
        <c:majorUnit val="4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sz="1650" b="0" u="none" strike="noStrike">
              <a:solidFill>
                <a:srgbClr val="23344F"/>
              </a:solidFill>
              <a:uFillTx/>
              <a:latin typeface="Arial"/>
              <a:ea typeface="Arial"/>
            </a:defRPr>
          </a:pPr>
        </a:p>
      </c:txPr>
    </c:legend>
    <c:plotVisOnly val="1"/>
    <c:dispBlanksAs val="zero"/>
  </c:chart>
  <c:spPr>
    <a:solidFill>
      <a:srgbClr val="FFFFFF"/>
    </a:solidFill>
    <a:ln w="0">
      <a:noFill/>
    </a:ln>
  </c:spPr>
  <c:externalData r:id="rIdEmbeddedData">
    <c:autoUpdate val="0"/>
  </c:externalData>
</c:chartSpace>
</file>

<file path=ppt/charts/chart7.xml><?xml version="1.0" encoding="utf-8"?>
<c:chartSpace xmlns:c="http://schemas.openxmlformats.org/drawingml/2006/chart">
  <c:lang val="en-US"/>
  <c:roundedCorners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17385D"/>
                </a:solidFill>
                <a:latin typeface="Arial"/>
                <a:ea typeface="Arial"/>
                <a:cs typeface="Arial"/>
              </a:rPr>
              <a:t>Original cohort: 41 people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solidFill>
                <a:srgbClr val="17385D"/>
              </a:solidFill>
              <a:latin typeface="Arial"/>
              <a:ea typeface="Arial"/>
              <a:cs typeface="Arial"/>
            </a:defRPr>
          </a:pPr>
        </a:p>
      </c:txPr>
    </c:title>
    <c:autoTitleDeleted val="1"/>
    <c:plotArea>
      <c:doughnutChart>
        <c:ser xmlns:a="http://schemas.openxmlformats.org/drawingml/2006/main">
          <c:idx val="0"/>
          <c:order val="0"/>
          <c:tx>
            <c:v>People</c:v>
          </c:tx>
          <c:spPr>
            <a:solidFill>
              <a:srgbClr val="41A5C4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41A5C4"/>
              </a:solidFill>
              <a:ln w="0">
                <a:noFill/>
              </a:ln>
            </c:spPr>
          </c:dPt>
          <c:dPt>
            <c:idx val="1"/>
            <c:spPr>
              <a:solidFill>
                <a:srgbClr val="FF8055"/>
              </a:solidFill>
              <a:ln w="0">
                <a:noFill/>
              </a:ln>
            </c:spPr>
          </c:dPt>
          <c:dPt>
            <c:idx val="2"/>
            <c:spPr>
              <a:solidFill>
                <a:srgbClr val="C8CED2"/>
              </a:solidFill>
              <a:ln w="0">
                <a:noFill/>
              </a:ln>
            </c:spPr>
          </c:dPt>
          <c:dLbls>
            <c:dLbl>
              <c:idx val="0"/>
              <c:txPr>
                <a:bodyPr wrap="square"/>
                <a:lstStyle/>
                <a:p>
                  <a:pPr>
                    <a:defRPr sz="1500" b="1" u="none" strike="noStrik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square"/>
                <a:lstStyle/>
                <a:p>
                  <a:pPr>
                    <a:defRPr sz="1500" b="1" u="none" strike="noStrik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2"/>
              <c:txPr>
                <a:bodyPr wrap="square"/>
                <a:lstStyle/>
                <a:p>
                  <a:pPr>
                    <a:defRPr sz="1500" b="1" u="none" strike="noStrik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sz="1500" b="1" u="none" strike="noStrike">
                    <a:solidFill>
                      <a:srgbClr val="000000"/>
                    </a:solidFill>
                    <a:uFillTx/>
                    <a:latin typeface="Arial"/>
                    <a:ea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; </c:separator>
            <c:showLeaderLines val="0"/>
          </c:dLbls>
          <c:cat>
            <c:strRef>
              <c:f>'Chart Data'!$A$2:$A$4</c:f>
              <c:strCache>
                <c:ptCount val="3"/>
                <c:pt idx="0">
                  <c:v>Kept: 24 (58.5%)</c:v>
                </c:pt>
                <c:pt idx="1">
                  <c:v>Returned at 4 mo: 11 (26.8%)</c:v>
                </c:pt>
                <c:pt idx="2">
                  <c:v>Returned in 1 wk: 6 (14.6%)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24</c:v>
                </c:pt>
                <c:pt idx="1">
                  <c:v>11</c:v>
                </c:pt>
                <c:pt idx="2">
                  <c:v>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  <c:holeSize val="50"/>
      </c:doughnutChart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r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17385D"/>
              </a:solidFill>
              <a:latin typeface="Arial"/>
              <a:ea typeface="Arial"/>
              <a:cs typeface="Arial"/>
            </a:defRPr>
          </a:pPr>
        </a:p>
      </c:txPr>
    </c:legend>
    <c:plotVisOnly val="1"/>
    <c:dispBlanksAs val="zero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xmlns:r="http://schemas.openxmlformats.org/officeDocument/2006/relationships" r:id="rIdEmbeddedData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>
        <c:manualLayout>
          <c:layoutTarget val="inner"/>
          <c:xMode val="factor"/>
          <c:yMode val="factor"/>
          <c:wMode val="factor"/>
          <c:hMode val="factor"/>
          <c:x val="0.27"/>
          <c:y val="0.04"/>
          <c:w val="0.70"/>
          <c:h val="0.78"/>
        </c:manualLayout>
      </c:layout>
      <c:barChart>
        <c:barDir val="bar"/>
        <c:grouping val="clustered"/>
        <c:varyColors val="0"/>
        <c:ser>
          <c:idx val="0"/>
          <c:order val="0"/>
          <c:tx>
            <c:v>People mentioning a reason</c:v>
          </c:tx>
          <c:spPr>
            <a:solidFill>
              <a:srgbClr val="41A5C4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15B8A6"/>
              </a:solidFill>
              <a:ln w="0">
                <a:noFill/>
              </a:ln>
            </c:spPr>
          </c:dPt>
          <c:dPt>
            <c:idx val="1"/>
            <c:invertIfNegative val="0"/>
            <c:spPr>
              <a:solidFill>
                <a:srgbClr val="FF8055"/>
              </a:solidFill>
              <a:ln w="0">
                <a:noFill/>
              </a:ln>
            </c:spPr>
          </c:dPt>
          <c:dPt>
            <c:idx val="2"/>
            <c:invertIfNegative val="0"/>
            <c:spPr>
              <a:solidFill>
                <a:srgbClr val="8E93F3"/>
              </a:solidFill>
              <a:ln w="0">
                <a:noFill/>
              </a:ln>
            </c:spPr>
          </c:dPt>
          <c:dPt>
            <c:idx val="3"/>
            <c:invertIfNegative val="0"/>
            <c:spPr>
              <a:solidFill>
                <a:srgbClr val="E46BC5"/>
              </a:solidFill>
              <a:ln w="0">
                <a:noFill/>
              </a:ln>
            </c:spPr>
          </c:dPt>
          <c:dPt>
            <c:idx val="4"/>
            <c:invertIfNegative val="0"/>
            <c:spPr>
              <a:solidFill>
                <a:srgbClr val="8ACC4B"/>
              </a:solidFill>
              <a:ln w="0">
                <a:noFill/>
              </a:ln>
            </c:spPr>
          </c:dPt>
          <c:dPt>
            <c:idx val="5"/>
            <c:invertIfNegative val="0"/>
            <c:spPr>
              <a:solidFill>
                <a:srgbClr val="F7BF32"/>
              </a:solidFill>
              <a:ln w="0">
                <a:noFill/>
              </a:ln>
            </c:spPr>
          </c:dPt>
          <c:dPt>
            <c:idx val="6"/>
            <c:invertIfNegative val="0"/>
            <c:spPr>
              <a:solidFill>
                <a:srgbClr val="FFBE69"/>
              </a:solidFill>
              <a:ln w="0">
                <a:noFill/>
              </a:ln>
            </c:spPr>
          </c:dPt>
          <c:dPt>
            <c:idx val="7"/>
            <c:invertIfNegative val="0"/>
            <c:spPr>
              <a:solidFill>
                <a:srgbClr val="B3B3B3"/>
              </a:solidFill>
              <a:ln w="0">
                <a:noFill/>
              </a:ln>
            </c:spPr>
          </c:dPt>
          <c:dLbls>
            <c:dLbl>
              <c:idx val="0"/>
              <c:numFmt formatCode="0" sourceLinked="0"/>
              <c:txPr>
                <a:bodyPr wrap="square"/>
                <a:lstStyle/>
                <a:p>
                  <a:pPr>
                    <a:defRPr sz="1500" b="1" u="none" strike="noStrike">
                      <a:solidFill>
                        <a:srgbClr val="23344F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"/>
              <c:numFmt formatCode="0" sourceLinked="0"/>
              <c:txPr>
                <a:bodyPr wrap="square"/>
                <a:lstStyle/>
                <a:p>
                  <a:pPr>
                    <a:defRPr sz="1500" b="1" u="none" strike="noStrike">
                      <a:solidFill>
                        <a:srgbClr val="23344F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2"/>
              <c:numFmt formatCode="0" sourceLinked="0"/>
              <c:txPr>
                <a:bodyPr wrap="square"/>
                <a:lstStyle/>
                <a:p>
                  <a:pPr>
                    <a:defRPr sz="1500" b="1" u="none" strike="noStrike">
                      <a:solidFill>
                        <a:srgbClr val="23344F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3"/>
              <c:numFmt formatCode="0" sourceLinked="0"/>
              <c:txPr>
                <a:bodyPr wrap="square"/>
                <a:lstStyle/>
                <a:p>
                  <a:pPr>
                    <a:defRPr sz="1500" b="1" u="none" strike="noStrike">
                      <a:solidFill>
                        <a:srgbClr val="23344F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4"/>
              <c:numFmt formatCode="0" sourceLinked="0"/>
              <c:txPr>
                <a:bodyPr wrap="square"/>
                <a:lstStyle/>
                <a:p>
                  <a:pPr>
                    <a:defRPr sz="1500" b="1" u="none" strike="noStrike">
                      <a:solidFill>
                        <a:srgbClr val="23344F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5"/>
              <c:numFmt formatCode="0" sourceLinked="0"/>
              <c:txPr>
                <a:bodyPr wrap="square"/>
                <a:lstStyle/>
                <a:p>
                  <a:pPr>
                    <a:defRPr sz="1500" b="1" u="none" strike="noStrike">
                      <a:solidFill>
                        <a:srgbClr val="23344F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6"/>
              <c:numFmt formatCode="0" sourceLinked="0"/>
              <c:txPr>
                <a:bodyPr wrap="square"/>
                <a:lstStyle/>
                <a:p>
                  <a:pPr>
                    <a:defRPr sz="1500" b="1" u="none" strike="noStrike">
                      <a:solidFill>
                        <a:srgbClr val="23344F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7"/>
              <c:numFmt formatCode="0" sourceLinked="0"/>
              <c:txPr>
                <a:bodyPr wrap="square"/>
                <a:lstStyle/>
                <a:p>
                  <a:pPr>
                    <a:defRPr sz="1500" b="1" u="none" strike="noStrike">
                      <a:solidFill>
                        <a:srgbClr val="23344F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numFmt formatCode="0" sourceLinked="0"/>
            <c:txPr>
              <a:bodyPr wrap="square"/>
              <a:lstStyle/>
              <a:p>
                <a:pPr>
                  <a:defRPr sz="1500" b="1" u="none" strike="noStrike">
                    <a:solidFill>
                      <a:srgbClr val="23344F"/>
                    </a:solidFill>
                    <a:uFillTx/>
                    <a:latin typeface="Arial"/>
                    <a:ea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Data'!$A$2:$A$9</c:f>
              <c:strCache>
                <c:ptCount val="8"/>
                <c:pt idx="0">
                  <c:v>Malfunction</c:v>
                </c:pt>
                <c:pt idx="1">
                  <c:v>Busy schedule</c:v>
                </c:pt>
                <c:pt idx="2">
                  <c:v>Difficult to maintain</c:v>
                </c:pt>
                <c:pt idx="3">
                  <c:v>Content not relevant to immigrant life</c:v>
                </c:pt>
                <c:pt idx="4">
                  <c:v>Health limited interaction</c:v>
                </c:pt>
                <c:pt idx="5">
                  <c:v>More suitable for others</c:v>
                </c:pt>
                <c:pt idx="6">
                  <c:v>Dissatisfied with prerecorded content</c:v>
                </c:pt>
                <c:pt idx="7">
                  <c:v>Disturbed by sound</c:v>
                </c:pt>
              </c:strCache>
            </c:strRef>
          </c:cat>
          <c:val>
            <c:numRef>
              <c:f>'Chart Data'!$B$2:$B$9</c:f>
              <c:numCache>
                <c:formatCode>0</c:formatCode>
                <c:ptCount val="8"/>
                <c:pt idx="0">
                  <c:v>1</c:v>
                </c:pt>
                <c:pt idx="1">
                  <c:v>1</c:v>
                </c:pt>
                <c:pt idx="2">
                  <c:v>2</c:v>
                </c:pt>
                <c:pt idx="3">
                  <c:v>2</c:v>
                </c:pt>
                <c:pt idx="4">
                  <c:v>3</c:v>
                </c:pt>
                <c:pt idx="5">
                  <c:v>4</c:v>
                </c:pt>
                <c:pt idx="6">
                  <c:v>4</c:v>
                </c:pt>
                <c:pt idx="7">
                  <c:v>5</c:v>
                </c:pt>
              </c:numCache>
            </c:numRef>
          </c:val>
        </c:ser>
        <c:gapWidth val="85"/>
        <c:overlap val="0"/>
        <c:axId val="43808500"/>
        <c:axId val="29477370"/>
      </c:barChart>
      <c:catAx>
        <c:axId val="43808500"/>
        <c:scaling>
          <c:orientation val="minMax"/>
        </c:scaling>
        <c:delete val="0"/>
        <c:axPos val="l"/>
        <c:numFmt formatCode="0" sourceLinked="0"/>
        <c:majorTickMark val="none"/>
        <c:minorTickMark val="none"/>
        <c:tickLblPos val="nextTo"/>
        <c:spPr>
          <a:ln w="9360">
            <a:solidFill>
              <a:srgbClr val="A3BAD5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64748B"/>
                </a:solidFill>
                <a:uFillTx/>
                <a:latin typeface="Arial"/>
                <a:ea typeface="Arial"/>
              </a:defRPr>
            </a:pPr>
          </a:p>
        </c:txPr>
        <c:crossAx val="29477370"/>
        <c:crosses val="autoZero"/>
        <c:auto val="0"/>
        <c:lblAlgn val="ctr"/>
        <c:lblOffset val="100"/>
        <c:tickLblSkip val="1"/>
        <c:tickMarkSkip val="1"/>
        <c:noMultiLvlLbl val="0"/>
      </c:catAx>
      <c:valAx>
        <c:axId val="29477370"/>
        <c:scaling>
          <c:orientation val="minMax"/>
          <c:max val="6"/>
          <c:min val="0"/>
        </c:scaling>
        <c:delete val="0"/>
        <c:axPos val="b"/>
        <c:majorGridlines>
          <c:spPr>
            <a:ln w="9360">
              <a:solidFill>
                <a:srgbClr val="E3ECF7"/>
              </a:solidFill>
              <a:round/>
            </a:ln>
          </c:spPr>
        </c:majorGridlines>
        <c:title>
          <c:tx>
            <c:rich>
              <a:bodyPr rot="0"/>
              <a:lstStyle/>
              <a:p>
                <a:pPr>
                  <a:defRPr sz="13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  <a:r>
                  <a:rPr sz="1425" b="1" u="none" strike="noStrike">
                    <a:solidFill>
                      <a:srgbClr val="000000"/>
                    </a:solidFill>
                    <a:uFillTx/>
                    <a:latin typeface="Arial"/>
                  </a:rPr>
                  <a:t>People mentioning a reason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0" sourceLinked="0"/>
        <c:majorTickMark val="none"/>
        <c:minorTickMark val="none"/>
        <c:tickLblPos val="nextTo"/>
        <c:spPr>
          <a:ln w="9360">
            <a:solidFill>
              <a:srgbClr val="C9D9ED"/>
            </a:solidFill>
            <a:round/>
          </a:ln>
        </c:spPr>
        <c:txPr>
          <a:bodyPr/>
          <a:lstStyle/>
          <a:p>
            <a:pPr>
              <a:defRPr sz="1575" b="0" u="none" strike="noStrike">
                <a:solidFill>
                  <a:srgbClr val="64748B"/>
                </a:solidFill>
                <a:uFillTx/>
                <a:latin typeface="Arial"/>
                <a:ea typeface="Arial"/>
              </a:defRPr>
            </a:pPr>
          </a:p>
        </c:txPr>
        <c:crossAx val="43808500"/>
        <c:crosses val="autoZero"/>
        <c:crossBetween val="between"/>
        <c:majorUnit val="1"/>
      </c:valAx>
      <c:spPr>
        <a:solidFill>
          <a:srgbClr val="FFFFFF"/>
        </a:solidFill>
        <a:ln w="0">
          <a:noFill/>
        </a:ln>
      </c:spPr>
    </c:plotArea>
    <c:plotVisOnly val="1"/>
    <c:dispBlanksAs val="zero"/>
  </c:chart>
  <c:spPr>
    <a:solidFill>
      <a:srgbClr val="FFFFFF"/>
    </a:solidFill>
    <a:ln w="0">
      <a:noFill/>
    </a:ln>
  </c:spPr>
  <c:externalData r:id="rIdEmbeddedData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v>Number of turns</c:v>
          </c:tx>
          <c:spPr>
            <a:solidFill>
              <a:srgbClr val="41A5C4"/>
            </a:solidFill>
            <a:ln w="0">
              <a:noFill/>
            </a:ln>
          </c:spPr>
          <c:invertIfNegative val="0"/>
          <c:dLbls>
            <c:numFmt formatCode="0" sourceLinked="0"/>
            <c:txPr>
              <a:bodyPr wrap="square"/>
              <a:lstStyle/>
              <a:p>
                <a:pPr>
                  <a:defRPr sz="1200" b="1" u="none" strike="noStrike">
                    <a:solidFill>
                      <a:srgbClr val="23344F"/>
                    </a:solidFill>
                    <a:uFillTx/>
                    <a:latin typeface="Arial"/>
                    <a:ea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Data'!$A$2:$A$26</c:f>
              <c:strCache>
                <c:ptCount val="25"/>
                <c:pt idx="0">
                  <c:v>P1</c:v>
                </c:pt>
                <c:pt idx="1">
                  <c:v>P2</c:v>
                </c:pt>
                <c:pt idx="2">
                  <c:v>P3</c:v>
                </c:pt>
                <c:pt idx="3">
                  <c:v>P4</c:v>
                </c:pt>
                <c:pt idx="4">
                  <c:v>P5</c:v>
                </c:pt>
                <c:pt idx="5">
                  <c:v>P6</c:v>
                </c:pt>
                <c:pt idx="6">
                  <c:v>P7</c:v>
                </c:pt>
                <c:pt idx="7">
                  <c:v>P8</c:v>
                </c:pt>
                <c:pt idx="8">
                  <c:v>P9</c:v>
                </c:pt>
                <c:pt idx="9">
                  <c:v>P10</c:v>
                </c:pt>
                <c:pt idx="10">
                  <c:v>P11</c:v>
                </c:pt>
                <c:pt idx="11">
                  <c:v>P12</c:v>
                </c:pt>
                <c:pt idx="12">
                  <c:v>P13</c:v>
                </c:pt>
                <c:pt idx="13">
                  <c:v>P14</c:v>
                </c:pt>
                <c:pt idx="14">
                  <c:v>P15</c:v>
                </c:pt>
                <c:pt idx="15">
                  <c:v>P16</c:v>
                </c:pt>
                <c:pt idx="16">
                  <c:v>P17</c:v>
                </c:pt>
                <c:pt idx="17">
                  <c:v>P18</c:v>
                </c:pt>
                <c:pt idx="18">
                  <c:v>P19</c:v>
                </c:pt>
                <c:pt idx="19">
                  <c:v>P20</c:v>
                </c:pt>
                <c:pt idx="20">
                  <c:v>P21</c:v>
                </c:pt>
                <c:pt idx="21">
                  <c:v>P22</c:v>
                </c:pt>
                <c:pt idx="22">
                  <c:v>P23</c:v>
                </c:pt>
                <c:pt idx="23">
                  <c:v>P24</c:v>
                </c:pt>
                <c:pt idx="24">
                  <c:v>P25</c:v>
                </c:pt>
              </c:strCache>
            </c:strRef>
          </c:cat>
          <c:val>
            <c:numRef>
              <c:f>'Chart Data'!$B$2:$B$26</c:f>
              <c:numCache>
                <c:formatCode>0</c:formatCode>
                <c:ptCount val="25"/>
                <c:pt idx="0">
                  <c:v>18</c:v>
                </c:pt>
                <c:pt idx="1">
                  <c:v>24</c:v>
                </c:pt>
                <c:pt idx="2">
                  <c:v>27</c:v>
                </c:pt>
                <c:pt idx="3">
                  <c:v>25</c:v>
                </c:pt>
                <c:pt idx="4">
                  <c:v>26</c:v>
                </c:pt>
                <c:pt idx="5">
                  <c:v>27</c:v>
                </c:pt>
                <c:pt idx="6">
                  <c:v>26</c:v>
                </c:pt>
                <c:pt idx="7">
                  <c:v>21</c:v>
                </c:pt>
                <c:pt idx="8">
                  <c:v>27</c:v>
                </c:pt>
                <c:pt idx="9">
                  <c:v>26</c:v>
                </c:pt>
                <c:pt idx="10">
                  <c:v>26</c:v>
                </c:pt>
                <c:pt idx="11">
                  <c:v>22</c:v>
                </c:pt>
                <c:pt idx="12">
                  <c:v>20</c:v>
                </c:pt>
                <c:pt idx="13">
                  <c:v>22</c:v>
                </c:pt>
                <c:pt idx="14">
                  <c:v>23</c:v>
                </c:pt>
                <c:pt idx="15">
                  <c:v>12</c:v>
                </c:pt>
                <c:pt idx="16">
                  <c:v>25</c:v>
                </c:pt>
                <c:pt idx="17">
                  <c:v>22</c:v>
                </c:pt>
                <c:pt idx="18">
                  <c:v>27</c:v>
                </c:pt>
                <c:pt idx="19">
                  <c:v>29</c:v>
                </c:pt>
                <c:pt idx="20">
                  <c:v>14</c:v>
                </c:pt>
                <c:pt idx="21">
                  <c:v>27</c:v>
                </c:pt>
                <c:pt idx="22">
                  <c:v>26</c:v>
                </c:pt>
                <c:pt idx="23">
                  <c:v>24</c:v>
                </c:pt>
                <c:pt idx="24">
                  <c:v>24</c:v>
                </c:pt>
              </c:numCache>
            </c:numRef>
          </c:val>
        </c:ser>
        <c:gapWidth val="50"/>
        <c:overlap val="0"/>
        <c:axId val="65638600"/>
        <c:axId val="65729128"/>
      </c:barChart>
      <c:catAx>
        <c:axId val="65638600"/>
        <c:scaling>
          <c:orientation val="minMax"/>
        </c:scaling>
        <c:delete val="0"/>
        <c:axPos val="b"/>
        <c:numFmt formatCode="0" sourceLinked="0"/>
        <c:majorTickMark val="none"/>
        <c:minorTickMark val="none"/>
        <c:tickLblPos val="nextTo"/>
        <c:spPr>
          <a:ln w="9360">
            <a:solidFill>
              <a:srgbClr val="A3BAD5"/>
            </a:solidFill>
            <a:round/>
          </a:ln>
        </c:spPr>
        <c:txPr>
          <a:bodyPr rot="-5400000"/>
          <a:lstStyle/>
          <a:p>
            <a:pPr>
              <a:defRPr sz="1275" b="0" u="none" strike="noStrike">
                <a:solidFill>
                  <a:srgbClr val="64748B"/>
                </a:solidFill>
                <a:uFillTx/>
                <a:latin typeface="Arial"/>
                <a:ea typeface="Arial"/>
              </a:defRPr>
            </a:pPr>
          </a:p>
        </c:txPr>
        <c:crossAx val="65729128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65729128"/>
        <c:scaling>
          <c:orientation val="minMax"/>
          <c:max val="35"/>
          <c:min val="0"/>
        </c:scaling>
        <c:delete val="0"/>
        <c:axPos val="l"/>
        <c:majorGridlines>
          <c:spPr>
            <a:ln w="9360">
              <a:solidFill>
                <a:srgbClr val="E3ECF7"/>
              </a:solidFill>
              <a:round/>
            </a:ln>
          </c:spPr>
        </c:majorGridlines>
        <c:title>
          <c:tx>
            <c:rich>
              <a:bodyPr rot="-5400000"/>
              <a:lstStyle/>
              <a:p>
                <a:pPr>
                  <a:defRPr sz="13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  <a:r>
                  <a:rPr sz="1425" b="1" u="none" strike="noStrike">
                    <a:solidFill>
                      <a:srgbClr val="000000"/>
                    </a:solidFill>
                    <a:uFillTx/>
                    <a:latin typeface="Arial"/>
                  </a:rPr>
                  <a:t>Number of turns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0" sourceLinked="0"/>
        <c:majorTickMark val="none"/>
        <c:minorTickMark val="none"/>
        <c:tickLblPos val="nextTo"/>
        <c:spPr>
          <a:ln w="9360">
            <a:solidFill>
              <a:srgbClr val="C9D9ED"/>
            </a:solidFill>
            <a:round/>
          </a:ln>
        </c:spPr>
        <c:txPr>
          <a:bodyPr/>
          <a:lstStyle/>
          <a:p>
            <a:pPr>
              <a:defRPr sz="1575" b="0" u="none" strike="noStrike">
                <a:solidFill>
                  <a:srgbClr val="64748B"/>
                </a:solidFill>
                <a:uFillTx/>
                <a:latin typeface="Arial"/>
                <a:ea typeface="Arial"/>
              </a:defRPr>
            </a:pPr>
          </a:p>
        </c:txPr>
        <c:crossAx val="65638600"/>
        <c:crosses val="autoZero"/>
        <c:crossBetween val="between"/>
      </c:valAx>
      <c:spPr>
        <a:solidFill>
          <a:srgbClr val="FFFFFF"/>
        </a:solidFill>
        <a:ln w="0">
          <a:noFill/>
        </a:ln>
      </c:spPr>
    </c:plotArea>
    <c:plotVisOnly val="1"/>
    <c:dispBlanksAs val="zero"/>
  </c:chart>
  <c:spPr>
    <a:solidFill>
      <a:srgbClr val="FFFFFF"/>
    </a:solidFill>
    <a:ln w="0">
      <a:noFill/>
    </a:ln>
  </c:spPr>
  <c:externalData r:id="rIdEmbeddedData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v>Mean rating</c:v>
          </c:tx>
          <c:spPr>
            <a:solidFill>
              <a:srgbClr val="41A5C4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41A5C4"/>
              </a:solidFill>
              <a:ln w="0">
                <a:noFill/>
              </a:ln>
            </c:spPr>
          </c:dPt>
          <c:dPt>
            <c:idx val="1"/>
            <c:invertIfNegative val="0"/>
            <c:spPr>
              <a:solidFill>
                <a:srgbClr val="FF8055"/>
              </a:solidFill>
              <a:ln w="0">
                <a:noFill/>
              </a:ln>
            </c:spPr>
          </c:dPt>
          <c:dPt>
            <c:idx val="2"/>
            <c:invertIfNegative val="0"/>
            <c:spPr>
              <a:solidFill>
                <a:srgbClr val="15A28C"/>
              </a:solidFill>
              <a:ln w="0">
                <a:noFill/>
              </a:ln>
            </c:spPr>
          </c:dPt>
          <c:dPt>
            <c:idx val="3"/>
            <c:invertIfNegative val="0"/>
            <c:spPr>
              <a:solidFill>
                <a:srgbClr val="AEB5B8"/>
              </a:solidFill>
              <a:ln w="0">
                <a:noFill/>
              </a:ln>
            </c:spPr>
          </c:dPt>
          <c:dPt>
            <c:idx val="4"/>
            <c:invertIfNegative val="0"/>
            <c:spPr>
              <a:solidFill>
                <a:srgbClr val="9677C2"/>
              </a:solidFill>
              <a:ln w="0">
                <a:noFill/>
              </a:ln>
            </c:spPr>
          </c:dPt>
          <c:dLbls>
            <c:dLbl>
              <c:idx val="0"/>
              <c:numFmt formatCode="0.00" sourceLinked="0"/>
              <c:txPr>
                <a:bodyPr wrap="square"/>
                <a:lstStyle/>
                <a:p>
                  <a:pPr>
                    <a:defRPr sz="1500" b="1" u="none" strike="noStrike">
                      <a:solidFill>
                        <a:srgbClr val="23344F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"/>
              <c:numFmt formatCode="0.00" sourceLinked="0"/>
              <c:txPr>
                <a:bodyPr wrap="square"/>
                <a:lstStyle/>
                <a:p>
                  <a:pPr>
                    <a:defRPr sz="1500" b="1" u="none" strike="noStrike">
                      <a:solidFill>
                        <a:srgbClr val="23344F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2"/>
              <c:numFmt formatCode="0.00" sourceLinked="0"/>
              <c:txPr>
                <a:bodyPr wrap="square"/>
                <a:lstStyle/>
                <a:p>
                  <a:pPr>
                    <a:defRPr sz="1500" b="1" u="none" strike="noStrike">
                      <a:solidFill>
                        <a:srgbClr val="23344F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3"/>
              <c:numFmt formatCode="0.00" sourceLinked="0"/>
              <c:txPr>
                <a:bodyPr wrap="square"/>
                <a:lstStyle/>
                <a:p>
                  <a:pPr>
                    <a:defRPr sz="1500" b="1" u="none" strike="noStrike">
                      <a:solidFill>
                        <a:srgbClr val="23344F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4"/>
              <c:numFmt formatCode="0.00" sourceLinked="0"/>
              <c:txPr>
                <a:bodyPr wrap="square"/>
                <a:lstStyle/>
                <a:p>
                  <a:pPr>
                    <a:defRPr sz="1500" b="1" u="none" strike="noStrike">
                      <a:solidFill>
                        <a:srgbClr val="23344F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numFmt formatCode="0.00" sourceLinked="0"/>
            <c:txPr>
              <a:bodyPr wrap="square"/>
              <a:lstStyle/>
              <a:p>
                <a:pPr>
                  <a:defRPr sz="1500" b="1" u="none" strike="noStrike">
                    <a:solidFill>
                      <a:srgbClr val="23344F"/>
                    </a:solidFill>
                    <a:uFillTx/>
                    <a:latin typeface="Arial"/>
                    <a:ea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Data'!$A$2:$A$6</c:f>
              <c:strCache>
                <c:ptCount val="5"/>
                <c:pt idx="0">
                  <c:v>Satisfaction
n=24</c:v>
                </c:pt>
                <c:pt idx="1">
                  <c:v>Fun
n=25</c:v>
                </c:pt>
                <c:pt idx="2">
                  <c:v>Interest
n=25</c:v>
                </c:pt>
                <c:pt idx="3">
                  <c:v>Strangeness
n=25</c:v>
                </c:pt>
                <c:pt idx="4">
                  <c:v>Overall observer
n=25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3.2916666667</c:v>
                </c:pt>
                <c:pt idx="1">
                  <c:v>4</c:v>
                </c:pt>
                <c:pt idx="2">
                  <c:v>3.2</c:v>
                </c:pt>
                <c:pt idx="3">
                  <c:v>3</c:v>
                </c:pt>
                <c:pt idx="4">
                  <c:v>3.6933333333</c:v>
                </c:pt>
              </c:numCache>
            </c:numRef>
          </c:val>
        </c:ser>
        <c:gapWidth val="85"/>
        <c:overlap val="0"/>
        <c:axId val="76901530"/>
        <c:axId val="32250437"/>
      </c:barChart>
      <c:catAx>
        <c:axId val="76901530"/>
        <c:scaling>
          <c:orientation val="minMax"/>
        </c:scaling>
        <c:delete val="0"/>
        <c:axPos val="b"/>
        <c:numFmt formatCode="0" sourceLinked="0"/>
        <c:majorTickMark val="none"/>
        <c:minorTickMark val="none"/>
        <c:tickLblPos val="nextTo"/>
        <c:spPr>
          <a:ln w="9360">
            <a:solidFill>
              <a:srgbClr val="A3BAD5"/>
            </a:solidFill>
            <a:round/>
          </a:ln>
        </c:spPr>
        <c:txPr>
          <a:bodyPr/>
          <a:lstStyle/>
          <a:p>
            <a:pPr>
              <a:defRPr sz="1575" b="0" u="none" strike="noStrike">
                <a:solidFill>
                  <a:srgbClr val="64748B"/>
                </a:solidFill>
                <a:uFillTx/>
                <a:latin typeface="Arial"/>
                <a:ea typeface="Arial"/>
              </a:defRPr>
            </a:pPr>
          </a:p>
        </c:txPr>
        <c:crossAx val="32250437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32250437"/>
        <c:scaling>
          <c:orientation val="minMax"/>
          <c:max val="5"/>
          <c:min val="0"/>
        </c:scaling>
        <c:delete val="0"/>
        <c:axPos val="l"/>
        <c:majorGridlines>
          <c:spPr>
            <a:ln w="9360">
              <a:solidFill>
                <a:srgbClr val="E3ECF7"/>
              </a:solidFill>
              <a:round/>
            </a:ln>
          </c:spPr>
        </c:majorGridlines>
        <c:title>
          <c:tx>
            <c:rich>
              <a:bodyPr rot="-5400000"/>
              <a:lstStyle/>
              <a:p>
                <a:pPr>
                  <a:defRPr sz="13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  <a:r>
                  <a:rPr sz="1425" b="1" u="none" strike="noStrike">
                    <a:solidFill>
                      <a:srgbClr val="000000"/>
                    </a:solidFill>
                    <a:uFillTx/>
                    <a:latin typeface="Arial"/>
                  </a:rPr>
                  <a:t>Mean rating (1-5)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0" sourceLinked="0"/>
        <c:majorTickMark val="none"/>
        <c:minorTickMark val="none"/>
        <c:tickLblPos val="nextTo"/>
        <c:spPr>
          <a:ln w="9360">
            <a:solidFill>
              <a:srgbClr val="C9D9ED"/>
            </a:solidFill>
            <a:round/>
          </a:ln>
        </c:spPr>
        <c:txPr>
          <a:bodyPr/>
          <a:lstStyle/>
          <a:p>
            <a:pPr>
              <a:defRPr sz="1575" b="0" u="none" strike="noStrike">
                <a:solidFill>
                  <a:srgbClr val="64748B"/>
                </a:solidFill>
                <a:uFillTx/>
                <a:latin typeface="Arial"/>
                <a:ea typeface="Arial"/>
              </a:defRPr>
            </a:pPr>
          </a:p>
        </c:txPr>
        <c:crossAx val="76901530"/>
        <c:crosses val="autoZero"/>
        <c:crossBetween val="between"/>
      </c:valAx>
      <c:spPr>
        <a:solidFill>
          <a:srgbClr val="FFFFFF"/>
        </a:solidFill>
        <a:ln w="0">
          <a:noFill/>
        </a:ln>
      </c:spPr>
    </c:plotArea>
    <c:plotVisOnly val="1"/>
    <c:dispBlanksAs val="zero"/>
  </c:chart>
  <c:spPr>
    <a:solidFill>
      <a:srgbClr val="FFFFFF"/>
    </a:solidFill>
    <a:ln w="0">
      <a:noFill/>
    </a:ln>
  </c:spPr>
  <c:externalData r:id="rIdEmbeddedData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scatterChart>
        <c:scatterStyle val="marker"/>
        <c:varyColors val="0"/>
        <c:ser>
          <c:idx val="0"/>
          <c:order val="0"/>
          <c:tx>
            <c:v>Complete respondents</c:v>
          </c:tx>
          <c:spPr>
            <a:ln>
              <a:noFill/>
            </a:ln>
          </c:spPr>
          <c:marker>
            <c:symbol val="circle"/>
            <c:size val="8"/>
            <c:spPr>
              <a:solidFill>
                <a:srgbClr val="156082"/>
              </a:solidFill>
            </c:spPr>
          </c:marker>
          <c:dLbls>
            <c:txPr>
              <a:bodyPr wrap="square"/>
              <a:lstStyle/>
              <a:p>
                <a:pPr>
                  <a:defRPr sz="1500" b="1" u="none" strike="noStrike">
                    <a:solidFill>
                      <a:srgbClr val="23344F"/>
                    </a:solidFill>
                    <a:uFillTx/>
                    <a:latin typeface="Arial"/>
                    <a:ea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trendline>
            <c:spPr>
              <a:ln w="28440">
                <a:solidFill>
                  <a:srgbClr val="FF8055"/>
                </a:solidFill>
                <a:round/>
              </a:ln>
            </c:spPr>
            <c:trendlineType val="linear"/>
            <c:forward val="0"/>
            <c:backward val="0"/>
            <c:dispRSqr val="0"/>
            <c:dispEq val="0"/>
          </c:trendline>
          <c:xVal>
            <c:numRef>
              <c:f>'Chart Data'!$A$2:$A$25</c:f>
              <c:numCache>
                <c:formatCode>General</c:formatCode>
                <c:ptCount val="24"/>
                <c:pt idx="0">
                  <c:v>4.3333333333</c:v>
                </c:pt>
                <c:pt idx="1">
                  <c:v>4.6666666667</c:v>
                </c:pt>
                <c:pt idx="2">
                  <c:v>5</c:v>
                </c:pt>
                <c:pt idx="3">
                  <c:v>3</c:v>
                </c:pt>
                <c:pt idx="4">
                  <c:v>3.6666666667</c:v>
                </c:pt>
                <c:pt idx="5">
                  <c:v>5</c:v>
                </c:pt>
                <c:pt idx="6">
                  <c:v>3</c:v>
                </c:pt>
                <c:pt idx="7">
                  <c:v>4</c:v>
                </c:pt>
                <c:pt idx="8">
                  <c:v>4</c:v>
                </c:pt>
                <c:pt idx="9">
                  <c:v>3.6666666667</c:v>
                </c:pt>
                <c:pt idx="10">
                  <c:v>3.6666666667</c:v>
                </c:pt>
                <c:pt idx="11">
                  <c:v>2.3333333333</c:v>
                </c:pt>
                <c:pt idx="12">
                  <c:v>1.6666666667</c:v>
                </c:pt>
                <c:pt idx="13">
                  <c:v>1.6666666667</c:v>
                </c:pt>
                <c:pt idx="14">
                  <c:v>4</c:v>
                </c:pt>
                <c:pt idx="15">
                  <c:v>3.6666666667</c:v>
                </c:pt>
                <c:pt idx="16">
                  <c:v>2.3333333333</c:v>
                </c:pt>
                <c:pt idx="17">
                  <c:v>3.6666666667</c:v>
                </c:pt>
                <c:pt idx="18">
                  <c:v>3.6666666667</c:v>
                </c:pt>
                <c:pt idx="19">
                  <c:v>3.6666666667</c:v>
                </c:pt>
                <c:pt idx="20">
                  <c:v>4.3333333333</c:v>
                </c:pt>
                <c:pt idx="21">
                  <c:v>2.6666666667</c:v>
                </c:pt>
                <c:pt idx="22">
                  <c:v>3</c:v>
                </c:pt>
                <c:pt idx="23">
                  <c:v>3</c:v>
                </c:pt>
              </c:numCache>
            </c:numRef>
          </c:xVal>
          <c:yVal>
            <c:numRef>
              <c:f>'Chart Data'!$B$2:$B$25</c:f>
              <c:numCache>
                <c:formatCode>0.0</c:formatCode>
                <c:ptCount val="24"/>
                <c:pt idx="0">
                  <c:v>3.3333333333</c:v>
                </c:pt>
                <c:pt idx="1">
                  <c:v>3.6666666667</c:v>
                </c:pt>
                <c:pt idx="2">
                  <c:v>2.3333333333</c:v>
                </c:pt>
                <c:pt idx="3">
                  <c:v>3</c:v>
                </c:pt>
                <c:pt idx="4">
                  <c:v>3</c:v>
                </c:pt>
                <c:pt idx="5">
                  <c:v>3.6666666667</c:v>
                </c:pt>
                <c:pt idx="6">
                  <c:v>3</c:v>
                </c:pt>
                <c:pt idx="7">
                  <c:v>3.6666666667</c:v>
                </c:pt>
                <c:pt idx="8">
                  <c:v>4</c:v>
                </c:pt>
                <c:pt idx="9">
                  <c:v>3</c:v>
                </c:pt>
                <c:pt idx="10">
                  <c:v>4</c:v>
                </c:pt>
                <c:pt idx="11">
                  <c:v>3.3333333333</c:v>
                </c:pt>
                <c:pt idx="12">
                  <c:v>4</c:v>
                </c:pt>
                <c:pt idx="13">
                  <c:v>3.6666666667</c:v>
                </c:pt>
                <c:pt idx="14">
                  <c:v>3</c:v>
                </c:pt>
                <c:pt idx="15">
                  <c:v>4.3333333333</c:v>
                </c:pt>
                <c:pt idx="16">
                  <c:v>4</c:v>
                </c:pt>
                <c:pt idx="17">
                  <c:v>4</c:v>
                </c:pt>
                <c:pt idx="18">
                  <c:v>4.3333333333</c:v>
                </c:pt>
                <c:pt idx="19">
                  <c:v>4</c:v>
                </c:pt>
                <c:pt idx="20">
                  <c:v>4.3333333333</c:v>
                </c:pt>
                <c:pt idx="21">
                  <c:v>3.3333333333</c:v>
                </c:pt>
                <c:pt idx="22">
                  <c:v>4</c:v>
                </c:pt>
                <c:pt idx="23">
                  <c:v>4.3333333333</c:v>
                </c:pt>
              </c:numCache>
            </c:numRef>
          </c:yVal>
          <c:smooth val="0"/>
        </c:ser>
        <c:axId val="40750725"/>
        <c:axId val="48665340"/>
      </c:scatterChart>
      <c:valAx>
        <c:axId val="40750725"/>
        <c:scaling>
          <c:orientation val="minMax"/>
          <c:max val="5.2"/>
          <c:min val="1"/>
        </c:scaling>
        <c:delete val="0"/>
        <c:axPos val="b"/>
        <c:title>
          <c:tx>
            <c:rich>
              <a:bodyPr rot="0"/>
              <a:lstStyle/>
              <a:p>
                <a:pPr>
                  <a:defRPr sz="13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  <a:r>
                  <a:rPr sz="1300" b="0" u="none" strike="noStrike">
                    <a:solidFill>
                      <a:srgbClr val="000000"/>
                    </a:solidFill>
                    <a:uFillTx/>
                    <a:latin typeface="Arial"/>
                  </a:rPr>
                  <a:t>User positive-item mean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0.0" sourceLinked="0"/>
        <c:majorTickMark val="none"/>
        <c:minorTickMark val="none"/>
        <c:tickLblPos val="nextTo"/>
        <c:spPr>
          <a:ln w="9360">
            <a:solidFill>
              <a:srgbClr val="A3BAD5"/>
            </a:solidFill>
            <a:round/>
          </a:ln>
        </c:spPr>
        <c:txPr>
          <a:bodyPr/>
          <a:lstStyle/>
          <a:p>
            <a:pPr>
              <a:defRPr sz="1575" b="0" u="none" strike="noStrike">
                <a:solidFill>
                  <a:srgbClr val="64748B"/>
                </a:solidFill>
                <a:uFillTx/>
                <a:latin typeface="Arial"/>
                <a:ea typeface="Arial"/>
              </a:defRPr>
            </a:pPr>
          </a:p>
        </c:txPr>
        <c:crossAx val="48665340"/>
        <c:crosses val="autoZero"/>
        <c:crossBetween val="midCat"/>
        <c:majorUnit val="1"/>
      </c:valAx>
      <c:valAx>
        <c:axId val="48665340"/>
        <c:scaling>
          <c:orientation val="minMax"/>
          <c:max val="5.2"/>
          <c:min val="1"/>
        </c:scaling>
        <c:delete val="0"/>
        <c:axPos val="l"/>
        <c:majorGridlines>
          <c:spPr>
            <a:ln w="9360">
              <a:solidFill>
                <a:srgbClr val="E3ECF7"/>
              </a:solidFill>
              <a:round/>
            </a:ln>
          </c:spPr>
        </c:majorGridlines>
        <c:title>
          <c:tx>
            <c:rich>
              <a:bodyPr rot="-5400000"/>
              <a:lstStyle/>
              <a:p>
                <a:pPr>
                  <a:defRPr sz="13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  <a:r>
                  <a:rPr sz="1300" b="0" u="none" strike="noStrike">
                    <a:solidFill>
                      <a:srgbClr val="000000"/>
                    </a:solidFill>
                    <a:uFillTx/>
                    <a:latin typeface="Arial"/>
                  </a:rPr>
                  <a:t>Overall observer mean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0.0" sourceLinked="0"/>
        <c:majorTickMark val="none"/>
        <c:minorTickMark val="none"/>
        <c:tickLblPos val="nextTo"/>
        <c:spPr>
          <a:ln w="9360">
            <a:solidFill>
              <a:srgbClr val="C9D9ED"/>
            </a:solidFill>
            <a:round/>
          </a:ln>
        </c:spPr>
        <c:txPr>
          <a:bodyPr/>
          <a:lstStyle/>
          <a:p>
            <a:pPr>
              <a:defRPr sz="1575" b="0" u="none" strike="noStrike">
                <a:solidFill>
                  <a:srgbClr val="64748B"/>
                </a:solidFill>
                <a:uFillTx/>
                <a:latin typeface="Arial"/>
                <a:ea typeface="Arial"/>
              </a:defRPr>
            </a:pPr>
          </a:p>
        </c:txPr>
        <c:crossAx val="40750725"/>
        <c:crosses val="autoZero"/>
        <c:crossBetween val="midCat"/>
        <c:majorUnit val="1"/>
      </c:valAx>
      <c:spPr>
        <a:solidFill>
          <a:srgbClr val="FFFFFF"/>
        </a:solidFill>
        <a:ln w="0">
          <a:noFill/>
        </a:ln>
      </c:spPr>
    </c:plotArea>
    <c:plotVisOnly val="1"/>
    <c:dispBlanksAs val="zero"/>
  </c:chart>
  <c:spPr>
    <a:solidFill>
      <a:srgbClr val="FFFFFF"/>
    </a:solidFill>
    <a:ln w="0">
      <a:noFill/>
    </a:ln>
  </c:spPr>
  <c:externalData r:id="rIdEmbeddedData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v>Number of turns</c:v>
          </c:tx>
          <c:spPr>
            <a:solidFill>
              <a:srgbClr val="41A5C4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41A5C4"/>
              </a:solidFill>
            </c:spPr>
          </c:dPt>
          <c:dPt>
            <c:idx val="1"/>
            <c:invertIfNegative val="0"/>
            <c:spPr>
              <a:solidFill>
                <a:srgbClr val="41A5C4"/>
              </a:solidFill>
            </c:spPr>
          </c:dPt>
          <c:dPt>
            <c:idx val="2"/>
            <c:invertIfNegative val="0"/>
            <c:spPr>
              <a:solidFill>
                <a:srgbClr val="FF8055"/>
              </a:solidFill>
            </c:spPr>
          </c:dPt>
          <c:dPt>
            <c:idx val="3"/>
            <c:invertIfNegative val="0"/>
            <c:spPr>
              <a:solidFill>
                <a:srgbClr val="FF8055"/>
              </a:solidFill>
            </c:spPr>
          </c:dPt>
          <c:dPt>
            <c:idx val="4"/>
            <c:invertIfNegative val="0"/>
            <c:spPr>
              <a:solidFill>
                <a:srgbClr val="FF8055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425" b="1">
                        <a:solidFill>
                          <a:srgbClr val="23344F"/>
                        </a:solidFill>
                        <a:latin typeface="Arial"/>
                        <a:ea typeface="Arial"/>
                        <a:cs typeface="Arial"/>
                      </a:rPr>
                      <a:t>147 (24.9%)</a:t>
                    </a:r>
                  </a:p>
                </c:rich>
              </c:tx>
              <c:txPr>
                <a:bodyPr anchorCtr="1"/>
                <a:lstStyle/>
                <a:p>
                  <a:pPr>
                    <a:defRPr sz="1425" b="1">
                      <a:solidFill>
                        <a:srgbClr val="23344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LegendKey val="0"/>
            </c:dLbl>
            <c:dLbl>
              <c:idx val="1"/>
              <c:tx>
                <c:rich>
                  <a:bodyPr/>
                  <a:lstStyle/>
                  <a:p>
                    <a:r>
                      <a:rPr sz="1425" b="1">
                        <a:solidFill>
                          <a:srgbClr val="23344F"/>
                        </a:solidFill>
                        <a:latin typeface="Arial"/>
                        <a:ea typeface="Arial"/>
                        <a:cs typeface="Arial"/>
                      </a:rPr>
                      <a:t>331 (56.1%)</a:t>
                    </a:r>
                  </a:p>
                </c:rich>
              </c:tx>
              <c:txPr>
                <a:bodyPr anchorCtr="1"/>
                <a:lstStyle/>
                <a:p>
                  <a:pPr>
                    <a:defRPr sz="1425" b="1">
                      <a:solidFill>
                        <a:srgbClr val="23344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LegendKey val="0"/>
            </c:dLbl>
            <c:dLbl>
              <c:idx val="2"/>
              <c:tx>
                <c:rich>
                  <a:bodyPr/>
                  <a:lstStyle/>
                  <a:p>
                    <a:r>
                      <a:rPr sz="1425" b="1">
                        <a:solidFill>
                          <a:srgbClr val="23344F"/>
                        </a:solidFill>
                        <a:latin typeface="Arial"/>
                        <a:ea typeface="Arial"/>
                        <a:cs typeface="Arial"/>
                      </a:rPr>
                      <a:t>104 (17.6%)</a:t>
                    </a:r>
                  </a:p>
                </c:rich>
              </c:tx>
              <c:txPr>
                <a:bodyPr anchorCtr="1"/>
                <a:lstStyle/>
                <a:p>
                  <a:pPr>
                    <a:defRPr sz="1425" b="1">
                      <a:solidFill>
                        <a:srgbClr val="23344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LegendKey val="0"/>
            </c:dLbl>
            <c:dLbl>
              <c:idx val="3"/>
              <c:tx>
                <c:rich>
                  <a:bodyPr/>
                  <a:lstStyle/>
                  <a:p>
                    <a:r>
                      <a:rPr sz="1425" b="1">
                        <a:solidFill>
                          <a:srgbClr val="23344F"/>
                        </a:solidFill>
                        <a:latin typeface="Arial"/>
                        <a:ea typeface="Arial"/>
                        <a:cs typeface="Arial"/>
                      </a:rPr>
                      <a:t>6 (1.0%)</a:t>
                    </a:r>
                  </a:p>
                </c:rich>
              </c:tx>
              <c:txPr>
                <a:bodyPr anchorCtr="1"/>
                <a:lstStyle/>
                <a:p>
                  <a:pPr>
                    <a:defRPr sz="1425" b="1">
                      <a:solidFill>
                        <a:srgbClr val="23344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LegendKey val="0"/>
            </c:dLbl>
            <c:dLbl>
              <c:idx val="4"/>
              <c:tx>
                <c:rich>
                  <a:bodyPr/>
                  <a:lstStyle/>
                  <a:p>
                    <a:r>
                      <a:rPr sz="1425" b="1">
                        <a:solidFill>
                          <a:srgbClr val="23344F"/>
                        </a:solidFill>
                        <a:latin typeface="Arial"/>
                        <a:ea typeface="Arial"/>
                        <a:cs typeface="Arial"/>
                      </a:rPr>
                      <a:t>2 (0.3%)</a:t>
                    </a:r>
                  </a:p>
                </c:rich>
              </c:tx>
              <c:txPr>
                <a:bodyPr anchorCtr="1"/>
                <a:lstStyle/>
                <a:p>
                  <a:pPr>
                    <a:defRPr sz="1425" b="1">
                      <a:solidFill>
                        <a:srgbClr val="23344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LegendKey val="0"/>
            </c:dLbl>
            <c:numFmt formatCode="0" sourceLinked="0"/>
            <c:txPr>
              <a:bodyPr anchorCtr="1"/>
              <a:lstStyle/>
              <a:p>
                <a:pPr>
                  <a:defRPr sz="1500" b="1" u="none" strike="noStrike">
                    <a:solidFill>
                      <a:srgbClr val="23344F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eparator>; </c:separator>
            <c:showLeaderLines val="0"/>
          </c:dLbls>
          <c:cat>
            <c:numRef>
              <c:f>'Chart Data'!$A$2:$A$6</c:f>
              <c:numCache>
                <c:formatCode>0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cat>
          <c:val>
            <c:numRef>
              <c:f>'Chart Data'!$B$2:$B$6</c:f>
              <c:numCache>
                <c:formatCode>0</c:formatCode>
                <c:ptCount val="5"/>
                <c:pt idx="0">
                  <c:v>147</c:v>
                </c:pt>
                <c:pt idx="1">
                  <c:v>331</c:v>
                </c:pt>
                <c:pt idx="2">
                  <c:v>104</c:v>
                </c:pt>
                <c:pt idx="3">
                  <c:v>6</c:v>
                </c:pt>
                <c:pt idx="4">
                  <c:v>2</c:v>
                </c:pt>
              </c:numCache>
            </c:numRef>
          </c:val>
        </c:ser>
        <c:gapWidth val="85"/>
        <c:overlap val="0"/>
        <c:axId val="14979446"/>
        <c:axId val="35108970"/>
      </c:barChart>
      <c:catAx>
        <c:axId val="14979446"/>
        <c:scaling>
          <c:orientation val="minMax"/>
        </c:scaling>
        <c:delete val="0"/>
        <c:axPos val="b"/>
        <c:numFmt formatCode="0" sourceLinked="0"/>
        <c:majorTickMark val="none"/>
        <c:minorTickMark val="none"/>
        <c:tickLblPos val="nextTo"/>
        <c:spPr>
          <a:ln w="9360">
            <a:solidFill>
              <a:srgbClr val="A3BAD5"/>
            </a:solidFill>
            <a:round/>
          </a:ln>
        </c:spPr>
        <c:txPr>
          <a:bodyPr/>
          <a:lstStyle/>
          <a:p>
            <a:pPr>
              <a:defRPr sz="1575" b="0" u="none" strike="noStrike">
                <a:solidFill>
                  <a:srgbClr val="64748B"/>
                </a:solidFill>
                <a:uFillTx/>
                <a:latin typeface="Arial"/>
                <a:ea typeface="Arial"/>
              </a:defRPr>
            </a:pPr>
          </a:p>
        </c:txPr>
        <c:crossAx val="35108970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35108970"/>
        <c:scaling>
          <c:orientation val="minMax"/>
          <c:max val="400"/>
          <c:min val="0"/>
        </c:scaling>
        <c:delete val="0"/>
        <c:axPos val="l"/>
        <c:majorGridlines>
          <c:spPr>
            <a:ln w="9360">
              <a:solidFill>
                <a:srgbClr val="E3ECF7"/>
              </a:solidFill>
              <a:round/>
            </a:ln>
          </c:spPr>
        </c:majorGridlines>
        <c:title>
          <c:tx>
            <c:rich>
              <a:bodyPr rot="-5400000"/>
              <a:lstStyle/>
              <a:p>
                <a:pPr>
                  <a:defRPr sz="13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  <a:r>
                  <a:rPr sz="1425" b="1" u="none" strike="noStrike">
                    <a:solidFill>
                      <a:srgbClr val="000000"/>
                    </a:solidFill>
                    <a:uFillTx/>
                    <a:latin typeface="Arial"/>
                  </a:rPr>
                  <a:t>Number of turns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0" sourceLinked="0"/>
        <c:majorTickMark val="none"/>
        <c:minorTickMark val="none"/>
        <c:tickLblPos val="nextTo"/>
        <c:spPr>
          <a:ln w="9360">
            <a:solidFill>
              <a:srgbClr val="C9D9ED"/>
            </a:solidFill>
            <a:round/>
          </a:ln>
        </c:spPr>
        <c:txPr>
          <a:bodyPr/>
          <a:lstStyle/>
          <a:p>
            <a:pPr>
              <a:defRPr sz="1575" b="0" u="none" strike="noStrike">
                <a:solidFill>
                  <a:srgbClr val="64748B"/>
                </a:solidFill>
                <a:uFillTx/>
                <a:latin typeface="Arial"/>
                <a:ea typeface="Arial"/>
              </a:defRPr>
            </a:pPr>
          </a:p>
        </c:txPr>
        <c:crossAx val="14979446"/>
        <c:crosses val="autoZero"/>
        <c:crossBetween val="between"/>
      </c:valAx>
      <c:spPr>
        <a:solidFill>
          <a:srgbClr val="FFFFFF"/>
        </a:solidFill>
        <a:ln w="0">
          <a:noFill/>
        </a:ln>
      </c:spPr>
    </c:plotArea>
    <c:plotVisOnly val="1"/>
    <c:dispBlanksAs val="zero"/>
  </c:chart>
  <c:spPr>
    <a:solidFill>
      <a:srgbClr val="FFFFFF"/>
    </a:solidFill>
    <a:ln w="0">
      <a:noFill/>
    </a:ln>
  </c:spPr>
  <c:externalData r:id="rIdEmbeddedData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v>Number of complaints</c:v>
          </c:tx>
          <c:spPr>
            <a:solidFill>
              <a:srgbClr val="41A5C4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C8E4EA"/>
              </a:solidFill>
              <a:ln w="0">
                <a:noFill/>
              </a:ln>
            </c:spPr>
          </c:dPt>
          <c:dPt>
            <c:idx val="1"/>
            <c:invertIfNegative val="0"/>
            <c:spPr>
              <a:solidFill>
                <a:srgbClr val="C8E4EA"/>
              </a:solidFill>
              <a:ln w="0">
                <a:noFill/>
              </a:ln>
            </c:spPr>
          </c:dPt>
          <c:dPt>
            <c:idx val="2"/>
            <c:invertIfNegative val="0"/>
            <c:spPr>
              <a:solidFill>
                <a:srgbClr val="C8E4EA"/>
              </a:solidFill>
              <a:ln w="0">
                <a:noFill/>
              </a:ln>
            </c:spPr>
          </c:dPt>
          <c:dPt>
            <c:idx val="3"/>
            <c:invertIfNegative val="0"/>
            <c:spPr>
              <a:solidFill>
                <a:srgbClr val="C8E4EA"/>
              </a:solidFill>
              <a:ln w="0">
                <a:noFill/>
              </a:ln>
            </c:spPr>
          </c:dPt>
          <c:dPt>
            <c:idx val="4"/>
            <c:invertIfNegative val="0"/>
            <c:spPr>
              <a:solidFill>
                <a:srgbClr val="C8E4EA"/>
              </a:solidFill>
              <a:ln w="0">
                <a:noFill/>
              </a:ln>
            </c:spPr>
          </c:dPt>
          <c:dPt>
            <c:idx val="5"/>
            <c:invertIfNegative val="0"/>
            <c:spPr>
              <a:solidFill>
                <a:srgbClr val="FF8055"/>
              </a:solidFill>
              <a:ln w="0">
                <a:noFill/>
              </a:ln>
            </c:spPr>
          </c:dPt>
          <c:dLbls>
            <c:dLbl>
              <c:idx val="0"/>
              <c:numFmt formatCode="0" sourceLinked="0"/>
              <c:txPr>
                <a:bodyPr wrap="square"/>
                <a:lstStyle/>
                <a:p>
                  <a:pPr>
                    <a:defRPr sz="1500" b="1" u="none" strike="noStrike">
                      <a:solidFill>
                        <a:srgbClr val="23344F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"/>
              <c:numFmt formatCode="0" sourceLinked="0"/>
              <c:txPr>
                <a:bodyPr wrap="square"/>
                <a:lstStyle/>
                <a:p>
                  <a:pPr>
                    <a:defRPr sz="1500" b="1" u="none" strike="noStrike">
                      <a:solidFill>
                        <a:srgbClr val="23344F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2"/>
              <c:numFmt formatCode="0" sourceLinked="0"/>
              <c:txPr>
                <a:bodyPr wrap="square"/>
                <a:lstStyle/>
                <a:p>
                  <a:pPr>
                    <a:defRPr sz="1500" b="1" u="none" strike="noStrike">
                      <a:solidFill>
                        <a:srgbClr val="23344F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3"/>
              <c:numFmt formatCode="0" sourceLinked="0"/>
              <c:txPr>
                <a:bodyPr wrap="square"/>
                <a:lstStyle/>
                <a:p>
                  <a:pPr>
                    <a:defRPr sz="1500" b="1" u="none" strike="noStrike">
                      <a:solidFill>
                        <a:srgbClr val="23344F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4"/>
              <c:numFmt formatCode="0" sourceLinked="0"/>
              <c:txPr>
                <a:bodyPr wrap="square"/>
                <a:lstStyle/>
                <a:p>
                  <a:pPr>
                    <a:defRPr sz="1500" b="1" u="none" strike="noStrike">
                      <a:solidFill>
                        <a:srgbClr val="23344F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5"/>
              <c:numFmt formatCode="0" sourceLinked="0"/>
              <c:txPr>
                <a:bodyPr wrap="square"/>
                <a:lstStyle/>
                <a:p>
                  <a:pPr>
                    <a:defRPr sz="1500" b="1" u="none" strike="noStrike">
                      <a:solidFill>
                        <a:srgbClr val="23344F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numFmt formatCode="0" sourceLinked="0"/>
            <c:txPr>
              <a:bodyPr wrap="square"/>
              <a:lstStyle/>
              <a:p>
                <a:pPr>
                  <a:defRPr sz="1500" b="1" u="none" strike="noStrike">
                    <a:solidFill>
                      <a:srgbClr val="23344F"/>
                    </a:solidFill>
                    <a:uFillTx/>
                    <a:latin typeface="Arial"/>
                    <a:ea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Data'!$A$2:$A$7</c:f>
              <c:strCache>
                <c:ptCount val="6"/>
                <c:pt idx="0">
                  <c:v>Government Impersonation</c:v>
                </c:pt>
                <c:pt idx="1">
                  <c:v>Investment</c:v>
                </c:pt>
                <c:pt idx="2">
                  <c:v>Non-Payment/Non-Delivery</c:v>
                </c:pt>
                <c:pt idx="3">
                  <c:v>Confidence/Romance</c:v>
                </c:pt>
                <c:pt idx="4">
                  <c:v>Personal Data Breach</c:v>
                </c:pt>
                <c:pt idx="5">
                  <c:v>Tech Support</c:v>
                </c:pt>
              </c:strCache>
            </c:strRef>
          </c:cat>
          <c:val>
            <c:numRef>
              <c:f>'Chart Data'!$B$2:$B$7</c:f>
              <c:numCache>
                <c:formatCode>#,##0</c:formatCode>
                <c:ptCount val="6"/>
                <c:pt idx="0">
                  <c:v>3517</c:v>
                </c:pt>
                <c:pt idx="1">
                  <c:v>6443</c:v>
                </c:pt>
                <c:pt idx="2">
                  <c:v>6693</c:v>
                </c:pt>
                <c:pt idx="3">
                  <c:v>6740</c:v>
                </c:pt>
                <c:pt idx="4">
                  <c:v>7333</c:v>
                </c:pt>
                <c:pt idx="5">
                  <c:v>17696</c:v>
                </c:pt>
              </c:numCache>
            </c:numRef>
          </c:val>
        </c:ser>
        <c:gapWidth val="85"/>
        <c:overlap val="0"/>
        <c:axId val="88787017"/>
        <c:axId val="39679602"/>
      </c:barChart>
      <c:catAx>
        <c:axId val="88787017"/>
        <c:scaling>
          <c:orientation val="minMax"/>
        </c:scaling>
        <c:delete val="0"/>
        <c:axPos val="b"/>
        <c:numFmt formatCode="0" sourceLinked="0"/>
        <c:majorTickMark val="none"/>
        <c:minorTickMark val="none"/>
        <c:tickLblPos val="nextTo"/>
        <c:spPr>
          <a:ln w="9360">
            <a:solidFill>
              <a:srgbClr val="A3BAD5"/>
            </a:solidFill>
            <a:round/>
          </a:ln>
        </c:spPr>
        <c:txPr>
          <a:bodyPr/>
          <a:lstStyle/>
          <a:p>
            <a:pPr>
              <a:defRPr sz="1575" b="0" u="none" strike="noStrike">
                <a:solidFill>
                  <a:srgbClr val="64748B"/>
                </a:solidFill>
                <a:uFillTx/>
                <a:latin typeface="Arial"/>
                <a:ea typeface="Arial"/>
              </a:defRPr>
            </a:pPr>
          </a:p>
        </c:txPr>
        <c:crossAx val="39679602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39679602"/>
        <c:scaling>
          <c:orientation val="minMax"/>
          <c:max val="21000"/>
          <c:min val="0"/>
        </c:scaling>
        <c:delete val="0"/>
        <c:axPos val="l"/>
        <c:majorGridlines>
          <c:spPr>
            <a:ln w="9360">
              <a:solidFill>
                <a:srgbClr val="E3ECF7"/>
              </a:solidFill>
              <a:round/>
            </a:ln>
          </c:spPr>
        </c:majorGridlines>
        <c:title>
          <c:tx>
            <c:rich>
              <a:bodyPr rot="0"/>
              <a:lstStyle/>
              <a:p>
                <a:pPr>
                  <a:defRPr sz="13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  <a:r>
                  <a:rPr sz="1425" b="1" u="none" strike="noStrike">
                    <a:solidFill>
                      <a:srgbClr val="000000"/>
                    </a:solidFill>
                    <a:uFillTx/>
                    <a:latin typeface="Arial"/>
                  </a:rPr>
                  <a:t>Number of complaints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#,##0" sourceLinked="0"/>
        <c:majorTickMark val="none"/>
        <c:minorTickMark val="none"/>
        <c:tickLblPos val="nextTo"/>
        <c:spPr>
          <a:ln w="9360">
            <a:solidFill>
              <a:srgbClr val="C9D9ED"/>
            </a:solidFill>
            <a:round/>
          </a:ln>
        </c:spPr>
        <c:txPr>
          <a:bodyPr/>
          <a:lstStyle/>
          <a:p>
            <a:pPr>
              <a:defRPr sz="1575" b="0" u="none" strike="noStrike">
                <a:solidFill>
                  <a:srgbClr val="64748B"/>
                </a:solidFill>
                <a:uFillTx/>
                <a:latin typeface="Arial"/>
                <a:ea typeface="Arial"/>
              </a:defRPr>
            </a:pPr>
          </a:p>
        </c:txPr>
        <c:crossAx val="88787017"/>
        <c:crosses val="autoZero"/>
        <c:crossBetween val="between"/>
        <c:majorUnit val="5000"/>
      </c:valAx>
      <c:spPr>
        <a:solidFill>
          <a:srgbClr val="FFFFFF"/>
        </a:solidFill>
        <a:ln w="0">
          <a:noFill/>
        </a:ln>
      </c:spPr>
    </c:plotArea>
    <c:plotVisOnly val="1"/>
    <c:dispBlanksAs val="zero"/>
  </c:chart>
  <c:spPr>
    <a:solidFill>
      <a:srgbClr val="FFFFFF"/>
    </a:solidFill>
    <a:ln w="0">
      <a:noFill/>
    </a:ln>
  </c:spPr>
  <c:externalData r:id="rIdEmbeddedData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2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3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4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5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6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7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8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9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10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11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12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13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0850a4ed5658436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48e60419174e01" /><Relationship Type="http://schemas.openxmlformats.org/officeDocument/2006/relationships/notesMaster" Target="/ppt/notesMasters/notesMaster1.xml" Id="Rfe479f4e316f49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86c5363569845cd" /><Relationship Type="http://schemas.openxmlformats.org/officeDocument/2006/relationships/notesMaster" Target="/ppt/notesMasters/notesMaster1.xml" Id="R551313d274a14c8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352927807f84008" /><Relationship Type="http://schemas.openxmlformats.org/officeDocument/2006/relationships/notesMaster" Target="/ppt/notesMasters/notesMaster1.xml" Id="R59184d49ee73406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90f62cc19d4ccd" /><Relationship Type="http://schemas.openxmlformats.org/officeDocument/2006/relationships/notesMaster" Target="/ppt/notesMasters/notesMaster1.xml" Id="Rf3d9443326064e8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6d06439d0af4443" /><Relationship Type="http://schemas.openxmlformats.org/officeDocument/2006/relationships/notesMaster" Target="/ppt/notesMasters/notesMaster1.xml" Id="R6779a258eef941c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3ce6544f1df476f" /><Relationship Type="http://schemas.openxmlformats.org/officeDocument/2006/relationships/notesMaster" Target="/ppt/notesMasters/notesMaster1.xml" Id="R8402b18fabd1448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e6367e571304599" /><Relationship Type="http://schemas.openxmlformats.org/officeDocument/2006/relationships/notesMaster" Target="/ppt/notesMasters/notesMaster1.xml" Id="Rdd11852ddb27486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91def5a1f2640d3" /><Relationship Type="http://schemas.openxmlformats.org/officeDocument/2006/relationships/notesMaster" Target="/ppt/notesMasters/notesMaster1.xml" Id="R72390a9e021e42f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ca92db0c9ab4963" /><Relationship Type="http://schemas.openxmlformats.org/officeDocument/2006/relationships/notesMaster" Target="/ppt/notesMasters/notesMaster1.xml" Id="R5a697d50436542a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29fef08e4734d99" /><Relationship Type="http://schemas.openxmlformats.org/officeDocument/2006/relationships/notesMaster" Target="/ppt/notesMasters/notesMaster1.xml" Id="R770896ed437e449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231a11ab6ad4833" /><Relationship Type="http://schemas.openxmlformats.org/officeDocument/2006/relationships/notesMaster" Target="/ppt/notesMasters/notesMaster1.xml" Id="R58efa0571c774ca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0ecf8a95232431e" /><Relationship Type="http://schemas.openxmlformats.org/officeDocument/2006/relationships/notesMaster" Target="/ppt/notesMasters/notesMaster1.xml" Id="R37e36c5e9f60436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67b56131c744c16" /><Relationship Type="http://schemas.openxmlformats.org/officeDocument/2006/relationships/notesMaster" Target="/ppt/notesMasters/notesMaster1.xml" Id="R74142114a0984ef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3252390ac4f4fe1" /><Relationship Type="http://schemas.openxmlformats.org/officeDocument/2006/relationships/notesMaster" Target="/ppt/notesMasters/notesMaster1.xml" Id="R73365c9f0e19495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5a84f6f70a447e6" /><Relationship Type="http://schemas.openxmlformats.org/officeDocument/2006/relationships/notesMaster" Target="/ppt/notesMasters/notesMaster1.xml" Id="R7f28988568ea4a5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2ed470d9ce74bc9" /><Relationship Type="http://schemas.openxmlformats.org/officeDocument/2006/relationships/notesMaster" Target="/ppt/notesMasters/notesMaster1.xml" Id="R2597e2aa59284f3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71524a48d304e47" /><Relationship Type="http://schemas.openxmlformats.org/officeDocument/2006/relationships/notesMaster" Target="/ppt/notesMasters/notesMaster1.xml" Id="Rd9b71da6245641f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6be3963b8744bfa" /><Relationship Type="http://schemas.openxmlformats.org/officeDocument/2006/relationships/notesMaster" Target="/ppt/notesMasters/notesMaster1.xml" Id="Rf7dda6d0eb804f9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04b9df1ecb64859" /><Relationship Type="http://schemas.openxmlformats.org/officeDocument/2006/relationships/notesMaster" Target="/ppt/notesMasters/notesMaster1.xml" Id="R5a017c6e0bbb475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25b07d4c8da437a" /><Relationship Type="http://schemas.openxmlformats.org/officeDocument/2006/relationships/notesMaster" Target="/ppt/notesMasters/notesMaster1.xml" Id="R07095526760c4a1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fb7bddf54574098" /><Relationship Type="http://schemas.openxmlformats.org/officeDocument/2006/relationships/notesMaster" Target="/ppt/notesMasters/notesMaster1.xml" Id="Rf6480473e61940b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748500dce344b9a" /><Relationship Type="http://schemas.openxmlformats.org/officeDocument/2006/relationships/notesMaster" Target="/ppt/notesMasters/notesMaster1.xml" Id="Rfed03ea7468c49c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ef9816e88b24467" /><Relationship Type="http://schemas.openxmlformats.org/officeDocument/2006/relationships/notesMaster" Target="/ppt/notesMasters/notesMaster1.xml" Id="R1e291fb758e94f2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efb6a608eb74ca9" /><Relationship Type="http://schemas.openxmlformats.org/officeDocument/2006/relationships/notesMaster" Target="/ppt/notesMasters/notesMaster1.xml" Id="Rd0a3d165d22f416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e59afecb08c497c" /><Relationship Type="http://schemas.openxmlformats.org/officeDocument/2006/relationships/notesMaster" Target="/ppt/notesMasters/notesMaster1.xml" Id="R934a50204cc94b7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919c3738cc54559" /><Relationship Type="http://schemas.openxmlformats.org/officeDocument/2006/relationships/notesMaster" Target="/ppt/notesMasters/notesMaster1.xml" Id="R867b1fa2034e40a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0a23fe36c3046a1" /><Relationship Type="http://schemas.openxmlformats.org/officeDocument/2006/relationships/notesMaster" Target="/ppt/notesMasters/notesMaster1.xml" Id="R6b12ef8eecd64ff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762539799f64605" /><Relationship Type="http://schemas.openxmlformats.org/officeDocument/2006/relationships/notesMaster" Target="/ppt/notesMasters/notesMaster1.xml" Id="R6771d69860384b0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0cf8154147c04229" /><Relationship Type="http://schemas.openxmlformats.org/officeDocument/2006/relationships/notesMaster" Target="/ppt/notesMasters/notesMaster1.xml" Id="Re948d5a129044b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Data Analysis for the Development of Companion Robots for Older Adults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Interaction experience, continued use and the Guardian proposal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Interaction experience, continued use and the Guardian proposal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AI-generated concept illustration. Proposed product only.</a:t>
            </a:r>
            <a:endParaRPr sz="12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Why study support for older adults?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Purpose: Explain the population context for this research.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Finding: A rise of 10 percentage points. Local demand still needs separate research.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Source: Census and Statistics Department (2023), Appendix B, Table B1.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Method: Compare five years in the 2023 projection. Unit: population percentage.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Population context motivates the study. Product suitability needs separate evidence.</a:t>
            </a:r>
            <a:endParaRPr sz="12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Research question and evidence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Which interaction and support functions should the team test first?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Main dataset: HRI CUES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590 dialogue turns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25 participants and 25 survey rows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Interaction process and individual experience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Turn duration, user feedback, observer ratings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Nine supplementary CSVs: 61 aggregate rows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1 file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Population projection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Research context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6 files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ElliQ, PIO, PARO and Hyodol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Use, outcomes and continued use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2 files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Hobbit and IC3 fraud data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Function availability and safety scenarios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Synthesis: interaction controls, support scenarios and a four-week pilot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Analyse each source separately. Supplementary CSVs do not add HRI CUES participants.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meaning of each row determines how we interpret a comparison.</a:t>
            </a:r>
            <a:endParaRPr sz="12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590 turns come from 25 people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590 turns come from 25 participants. Summaries must account for repeated observations.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After defining each row, check and prepare the data.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HRI CUES in full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Observer assessment of enjoyment during robot conversations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HRI CUES main dataset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Sources: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https://doi.org/10.5281/zenodo.12588810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Scale definition: Irfan et al. (2026), IEEE Transactions on Affective Computing, 17(2), 1438–1453. https://doi.org/10.1109/TAFFC.2025.3590359</a:t>
            </a:r>
            <a:endParaRPr sz="12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Preparing the data for analysis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1 Read and check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2 Prepare and calculate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3 Answer with charts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Dataset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Turns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Survey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Rows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Missing cells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Keep P21 satisfaction missing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24 complete pairs for comparison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Example: first dialogue turn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End 00:00:09,270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Start 00:00:00,000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Turn duration = 9.27 seconds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Group by participant and average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Mean: 23.6 turns per person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Mean: 17.73 seconds per turn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Time conversion, groupby, mean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merge, pivot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Experience varies: boxplot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Ratings relate: scatterplot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First, check the number of turns recorded for each person.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HRI CUES main dataset</a:t>
            </a:r>
            <a:endParaRPr sz="12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Dialogue turns per participant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Purpose: Check how interaction records are distributed across 25 participants.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Finding: 590 turns from 25 people. More turns do not establish preference or continued use.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Source: Irfan et al. (2024), Exchanges.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Method: Count dialogue turns by participant and compare using a bar chart.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Turn counts describe data volume. Duration describes the interaction process.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HRI CUES main dataset</a:t>
            </a:r>
            <a:endParaRPr sz="12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Dialogue turn duration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Purpose: Describe the distribution of dialogue turn duration.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Finding: Mean duration is 17.73 seconds. Turns include both speakers and do not measure system latency.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Source: Irfan et al. (2024), Exchanges. Author calculations.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Method: Subtract start from end time. Use a histogram and KDE to describe the sample.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Duration describes the process. Ratings provide a view of experience.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HRI CUES main dataset</a:t>
            </a:r>
            <a:endParaRPr sz="12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Observed enjoyment varies across turns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Purpose: Examine variation within and between participants.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Finding: Scores vary. Line: median. White diamond: mean. Box: middle 50% of turns.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Source: Irfan et al. (2024), Exchanges. Author calculations.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Method: Average the three observer scores for each turn, then plot by participant.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Do observers and users describe the same experience?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HRI CUES main dataset</a:t>
            </a:r>
            <a:endParaRPr sz="12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How users rated the interaction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Purpose: Summarise user feedback and show the overall observer rating separately.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Finding: Fun averages 4.00. Higher strangeness means feeling more strange. The fifth measure is from observers.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Source: Irfan et al. (2024), Overall. Author calculations.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Method: Average four questionnaire items separately, plus the overall observer mean.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next comparison examines the relationship between these perspectives.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User reports: four survey items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Observers: overall rating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HRI CUES main dataset</a:t>
            </a:r>
            <a:endParaRPr sz="12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User and observer ratings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Purpose: Compare user reports with overall observer ratings.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Finding: Spearman is about -0.10, a weak association. The orange fit does not establish causation or prediction.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Source: Irfan et al. (2024), Overall. Author calculations.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Method: Pair 24 complete three-positive-item averages with overall observer means.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User and observer ratings differ. How much do observers differ from each other?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24 complete respondents   Spearman = -0.10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HRI CUES main dataset</a:t>
            </a:r>
            <a:endParaRPr sz="12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Score differences between observers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Purpose: Describe differences between the three ratings of each turn.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Finding: Blue: 478 turns (81.0%). Orange: 112 (19.0%). Score spread is descriptive only.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Source: Irfan et al. (2024), Exchanges. Author calculations.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Method: Subtract the lowest from the highest score per turn, then count each gap.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workshop does not measure continued use. Product studies provide further context.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HRI CUES main dataset</a:t>
            </a:r>
            <a:endParaRPr sz="12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Continued use after a short interaction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Product appendix: Report pp. 19-21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Desktop conversation and activities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Parrot shaped activity robot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Seal shaped interaction robot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Doll retention and return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Mobile home support prototype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Different participants, periods and measures. These studies supplement the workshop evidence.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First, examine ElliQ activity shares and user feedback.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Sources: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https://elliq.com/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https://doi.org/10.3389/fpubh.2023.1097485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https://commons.wikimedia.org/wiki/File:Paro_robot.jpg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https://doi.org/10.3389/fpubh.2024.1424123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https://www.acin.tuwien.ac.at/en/vision-for-robotics/roboter/hobbit/</a:t>
            </a:r>
            <a:endParaRPr sz="12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ElliQ activity categories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Purpose: Understand the reported uses of a companion product.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Finding: Companionship accounts for 40.1% of activities. This is not a treatment effect or a share of users.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Source: Intuition Robotics (2026), p. 6.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Method: Sort reported activity shares and compare them in a horizontal bar chart.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Activity shares describe use. User feedback describes reported experience.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Sources: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https://elliq.com/</a:t>
            </a:r>
            <a:endParaRPr sz="12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ElliQ self-reported feedback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Purpose: Examine users' reported experience with ElliQ.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Finding: 94% reported feeling less lonely. Item sample sizes are unspecified. Scores did not fall by 94%.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Source: Intuition Robotics (2026), p. 3.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Method: Compare four published positive-response percentages.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Self-reports offer a clue. PIO provides a separate before-and-after comparison.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Sources: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https://elliq.com/</a:t>
            </a:r>
            <a:endParaRPr sz="12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PIO loneliness scores over six weeks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Purpose: Compare mean loneliness scores before and after six weeks.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Finding: PIO group: 42.45 to 31.19. Groups were not randomised and activities included staff. Lower is better.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Source: Lim (2023), Table 4.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Method: Compare baseline and Week 6 means for 31 activity-group and 33 control participants.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next chart expresses these results as observed decreases.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Sources: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https://doi.org/10.3389/fpubh.2023.1097485</a:t>
            </a:r>
            <a:endParaRPr sz="12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PIO observed decrease by group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Purpose: Express the before-and-after scores as decreases for comparison.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Finding: The observed decrease differs by 10.71 points. Staff-led activities prevent isolating the robot's contribution.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Source: Lim (2023), Table 4. Author calculations.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Method: Subtract Week 6 from baseline in each group, then compare decreases.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Does improvement persist? PARO provides separate follow-up evidence.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Sources: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https://doi.org/10.3389/fpubh.2023.1097485</a:t>
            </a:r>
            <a:endParaRPr sz="12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PARO change at Weeks 6 and 10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Purpose: Examine whether observed changes persist at follow-up.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Finding: PARO decreased 5.36 points at Week 6 and 1.52 at Week 10. Week 10 difference: p=.07, inconclusive.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Source: Chen et al. (2024), Table 4.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Method: Compare change from baseline in both groups at Weeks 6 and 10.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Beyond score changes, do users keep the product?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Sources: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https://commons.wikimedia.org/wiki/File:Paro_robot.jpg</a:t>
            </a:r>
            <a:endParaRPr sz="12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Hyodol retention after four months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Finding: Kept 58.5%, returned at four months 26.8%, returned within one week 14.6%. Free use is not purchase.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Source: Lee et al. (2024), Methods 2.2 and Results 3.4.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Purpose: Describe retention and return in the original cohort.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Method: Use all 41 original participants as the denominator for each percentage.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Retention describes the outcome. Return reasons suggest possible improvements.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Original cohort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41 people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Kept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24 (58.5%)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Returned at 4 months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11 (26.8%)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Returned within 1 week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6 (14.6%)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Sources: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https://doi.org/10.3389/fpubh.2024.1424123</a:t>
            </a:r>
            <a:endParaRPr sz="12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Why users returned Hyodol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Purpose: Identify barriers that could inform design tests.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Finding: Sound disturbance: 5 people. Prerecorded content: 4. Test volume, quiet times and topic choices.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Source: Lee et al. (2024), Table 4.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Method: Count reasons from 11 four-month returners. Multiple responses are allowed.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Interaction settings suggest a starting point. Support functions need separate testing.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Sources: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https://doi.org/10.3389/fpubh.2024.1424123</a:t>
            </a:r>
            <a:endParaRPr sz="12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Fraud scenarios for Guardian testing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Purpose: Design scenarios involving suspicious calls and software installation requests.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Finding: Tech Support has 17,696 complaints. US counts do not measure Hong Kong risk or prevention.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Source: FBI (2024), 2023 Elder Fraud Report, p. 7.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Method: Compare six selected US complaint categories for people over 60 in 2023.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Complaint counts help choose scenarios. Workflow reliability still needs testing.</a:t>
            </a:r>
            <a:endParaRPr sz="12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Hobbit prototype feature availability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Purpose: Identify prototype functions and workflows that require testing.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Finding: Working over days in use is an availability indicator, not detection accuracy or rescue success.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Source: Bajones et al. (2018), Table 2.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Method: Compare reported availability in Companion and Device modes using colour and values.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Use reported experience and function limitations to propose improvements.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Sources: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https://www.acin.tuwien.ac.at/en/vision-for-robotics/roboter/hobbit/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Device mode came first, followed by Companion mode. The study used sequential conditions. Working over days in use includes partial working days. It does not estimate detection accuracy, per-task success or rescue rates.</a:t>
            </a:r>
            <a:endParaRPr sz="12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Improvements suggested by the evidence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Evidence supports design tests. Long-term outcomes still need local validation.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Guardian proposal puts these ideas into everyday scenarios.</a:t>
            </a:r>
            <a:endParaRPr sz="12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Guardian proposal: companionship and support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Everyday companionship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Share photos and let users choose topics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Verification and authorised help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Prompt verification and contact family with consent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Proposed scenarios. AI-generated illustration, not a real product or validated function.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next step is a four-week pilot to find usability and workflow problems.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Guardian functions and trial are proposals. No new participant data or validated safety outcomes are reported.</a:t>
            </a:r>
            <a:endParaRPr sz="12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Proposed four-week pilot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Proposed scale only. No new participants or completed tests are reported.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Which records would support a decision after testing?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Guardian functions and trial are proposals. No new participant data or validated safety outcomes are reported.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Before testing, define the expected response for each of the 20 scripted cases. Five volunteers would take part with staff present. The proposed tests have not been conducted.</a:t>
            </a:r>
            <a:endParaRPr sz="12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Records needed before a larger trial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Can users understand prompts and stop independently?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Are simulated messages and notifications fully recorded?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Have known notification failures been fixed and retested?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team and centre review the records before deciding on a larger supervised trial.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Review user actions and notification records before expanding.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Guardian functions and trial are proposals. No new participant data or validated safety outcomes are reported.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A false alarm is a warning in a scripted case predefined as requiring no warning. A missed prompt is no warning in a case predefined as requiring one. Missed acknowledgement and delivery failure are separate workflow problems. The team must confirm stopping, withdrawal and retesting of known failures before considering further supervised use.</a:t>
            </a:r>
            <a:endParaRPr sz="12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Recommendations for development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User suitability determines development priorities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Main data show individual experience varies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Product studies add continued-use evidence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Support functions require independent testing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Recommendation: run the four-week pilot, then review whether to expand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Guardian functions and trial are proposals. No new participant data or validated safety outcomes are reported.</a:t>
            </a:r>
            <a:endParaRPr sz="12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Research data and references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Main dataset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Irfan et al. (2024), anonymised HRI CUES dataset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https://doi.org/10.5281/zenodo.12588810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Supplementary sources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Census and Statistics Department (2023), population projections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Intuition Robotics (2026), ElliQ programme report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Lim (2023), PIO; Chen et al. (2024), PARO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Lee et al. (2024), Hyodol; Bajones et al. (2018), Hobbit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FBI (2024), 2023 Elder Fraud Report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Full references: Report pp. 16-17 and the source documentation.</a:t>
            </a:r>
            <a:endParaRPr sz="12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Product illustrations and price context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Product forms and uses provide context for the analysis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Desktop device and tablet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Conversation and everyday activities.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Recorded US annual fee: USD 588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Plus USD 249 rental initiation fee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Related analysis: Figures 8 and 9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Parrot shaped robot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Staff-led cognitive and social activities.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Current retail price unverified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Supplier quotation required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Related analysis: Figures 10 and 11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Seal shaped robot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Group interaction and companionship.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Historical reference: USD 6,000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US launch price in 2009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Related analysis: Figure 12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Price context recorded on 15 October 2026. Original currencies. Rental fees, historical prices and targets differ.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Sources: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https://elliq.com/products/membership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https://elliq.com/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https://doi.org/10.3389/fpubh.2023.1097485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https://www.parorobots.com/pdf/pressreleases/PARO%20Robots%20US-Press%20Release%202009-11-04.pdf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https://commons.wikimedia.org/wiki/File:Paro_robot.jpg</a:t>
            </a:r>
            <a:endParaRPr sz="12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Retention and home support products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Continued-use experience and home functions supplement the interaction analysis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Doll shaped companion robot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Home companionship, studied through retention and return.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Current retail price unverified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Supplier quotation required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Related analysis: Figures 13 and 14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Mobile home support prototype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A wheeled research prototype with a screen and robotic arm.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Historical target: below EUR 14,000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Research target, not current retail price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Related analysis: Figure 15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Price context recorded on 15 October 2026. Original currencies. Rental fees, historical prices and targets differ.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Sources: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https://doi.org/10.3389/fpubh.2024.1424123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https://www.acin.tuwien.ac.at/en/project/hobbit/</a:t>
            </a:r>
            <a:endParaRPr sz="1200"/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https://www.acin.tuwien.ac.at/en/vision-for-robotics/roboter/hobbit/</a:t>
            </a:r>
            <a:endParaRPr sz="12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9b7a9c85734f8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471d512c024e4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1f167e94f84c3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62e9445bf84f0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e8a0ebfca9490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cfd3ebf003403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46163334b31479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5623e74a42b416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f2f2a946c0e41a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4657fa516354bb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0239e1c8df44642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4f80c4efcc74a95" /></Relationships>
</file>

<file path=ppt/slideLayouts/slideLayout1.xml><?xml version="1.0" encoding="utf-8"?>
<p:sldLayout xmlns:p="http://schemas.openxmlformats.org/presentationml/2006/main" type="blank" preserve="1">
  <p:cSld name="Title and Body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4535BC9D-C0BE-4705-A096-245A7BFDA2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520"/>
            <a:ext cx="10820160" cy="83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indent="0" algn="l">
              <a:lnSpc>
                <a:spcPct val="90000"/>
              </a:lnSpc>
              <a:buNone/>
              <a:defRPr sz="33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indent="0" algn="l">
              <a:lnSpc>
                <a:spcPct val="90000"/>
              </a:lnSpc>
              <a:buNone/>
            </a:pPr>
            <a:r>
              <a:rPr sz="33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rPr>
              <a:t>Click to edit the title text format</a:t>
            </a:r>
            <a:endParaRPr sz="33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F1129174-4427-43C2-9E77-249B9966A5A4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85800" y="1905120"/>
            <a:ext cx="1082016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rPr>
              <a:t>Click to edit the outline text format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rPr>
              <a:t>Second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rPr>
              <a:t>Third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rPr>
              <a:t>Fourth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rPr>
              <a:t>Fifth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rPr>
              <a:t>Sixth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rPr>
              <a:t>Seventh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2.xml><?xml version="1.0" encoding="utf-8"?>
<p:sldLayout xmlns:p="http://schemas.openxmlformats.org/presentationml/2006/main" type="blank" preserve="1">
  <p:cSld name="Title and Two Column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3A6757E2-6D31-4E42-A20E-DB3EA7D176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520"/>
            <a:ext cx="10820160" cy="83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indent="0" algn="l">
              <a:lnSpc>
                <a:spcPct val="90000"/>
              </a:lnSpc>
              <a:buNone/>
              <a:defRPr sz="33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indent="0" algn="l">
              <a:lnSpc>
                <a:spcPct val="90000"/>
              </a:lnSpc>
              <a:buNone/>
            </a:pPr>
            <a:r>
              <a:rPr sz="33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rPr>
              <a:t>Click to edit the title text format</a:t>
            </a:r>
            <a:endParaRPr sz="33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B4C6BBA3-0806-4AE0-9A5C-325702265B34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85800" y="1905120"/>
            <a:ext cx="502884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rPr>
              <a:t>Click to edit the outline text format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rPr>
              <a:t>Second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rPr>
              <a:t>Third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rPr>
              <a:t>Fourth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rPr>
              <a:t>Fifth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rPr>
              <a:t>Sixth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rPr>
              <a:t>Seventh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362BF2A1-2D63-4284-9E42-338C053C26F6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477120" y="1905120"/>
            <a:ext cx="502884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rPr>
              <a:t>Click to edit the outline text format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rPr>
              <a:t>Second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rPr>
              <a:t>Third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rPr>
              <a:t>Fourth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rPr>
              <a:t>Fifth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rPr>
              <a:t>Sixth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rPr>
              <a:t>Seventh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3.xml><?xml version="1.0" encoding="utf-8"?>
<p:sldLayout xmlns:p="http://schemas.openxmlformats.org/presentationml/2006/main" type="blank" preserve="1">
  <p:cSld name="Blank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ADB92BB8-5E2B-46E6-B3DB-DE810E3458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indent="0" algn="l">
              <a:lnSpc>
                <a:spcPct val="90000"/>
              </a:lnSpc>
              <a:buNone/>
              <a:defRPr sz="44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indent="0" algn="l">
              <a:lnSpc>
                <a:spcPct val="90000"/>
              </a:lnSpc>
              <a:buNone/>
            </a:pPr>
            <a:r>
              <a:rPr sz="44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rPr>
              <a:t>Click to edit the title text format</a:t>
            </a:r>
            <a:endParaRPr sz="44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08DB5733-1F89-4DF1-A118-0ADE2E0AD851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1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</a:lstStyle>
          <a:p xmlns:a="http://schemas.openxmlformats.org/drawingml/2006/main"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rPr>
              <a:t>Click to edit the outline text format</a:t>
            </a:r>
            <a:endParaRPr sz="2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rPr>
              <a:t>Second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rPr>
              <a:t>Third Outline Level</a:t>
            </a:r>
            <a:endParaRPr sz="1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rPr>
              <a:t>Fourth Outline Level</a:t>
            </a:r>
            <a:endParaRPr sz="1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rPr>
              <a:t>Fifth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rPr>
              <a:t>Sixth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rPr>
              <a:t>Seventh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4.xml><?xml version="1.0" encoding="utf-8"?>
<p:sldLayout xmlns:p="http://schemas.openxmlformats.org/presentationml/2006/main" type="blank" preserve="1">
  <p:cSld name="Title and One Column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1476D068-EAF4-4153-A152-76A620FBDD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520"/>
            <a:ext cx="10820160" cy="83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indent="0" algn="l">
              <a:lnSpc>
                <a:spcPct val="90000"/>
              </a:lnSpc>
              <a:buNone/>
              <a:defRPr sz="33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indent="0" algn="l">
              <a:lnSpc>
                <a:spcPct val="90000"/>
              </a:lnSpc>
              <a:buNone/>
            </a:pPr>
            <a:r>
              <a:rPr sz="33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rPr>
              <a:t>Click to edit the title text format</a:t>
            </a:r>
            <a:endParaRPr sz="33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5995AD5E-FEA1-4002-A5F1-63C4C0CC802F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85800" y="1905120"/>
            <a:ext cx="502884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rPr>
              <a:t>Click to edit the outline text format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rPr>
              <a:t>Second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rPr>
              <a:t>Third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rPr>
              <a:t>Fourth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rPr>
              <a:t>Fifth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rPr>
              <a:t>Sixth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rPr>
              <a:t>Seventh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" preserve="1">
  <p:cSld name="Title Slide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76F61A54-9ADD-40EA-8A47-73B132CCEE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320" y="2590920"/>
            <a:ext cx="9753120" cy="990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indent="0" algn="l">
              <a:lnSpc>
                <a:spcPct val="90000"/>
              </a:lnSpc>
              <a:buNone/>
              <a:defRPr sz="4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indent="0" algn="l">
              <a:lnSpc>
                <a:spcPct val="90000"/>
              </a:lnSpc>
              <a:buNone/>
            </a:pPr>
            <a:r>
              <a:rPr sz="4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rPr>
              <a:t>Click to edit the title text format</a:t>
            </a:r>
            <a:endParaRPr sz="4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6.xml><?xml version="1.0" encoding="utf-8"?>
<p:sldLayout xmlns:p="http://schemas.openxmlformats.org/presentationml/2006/main" type="blank" preserve="1">
  <p:cSld name="Section Header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ACB8007C-0C58-480F-B631-31766B01FF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320" y="2857680"/>
            <a:ext cx="9753120" cy="1142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indent="0" algn="l">
              <a:lnSpc>
                <a:spcPct val="90000"/>
              </a:lnSpc>
              <a:buNone/>
              <a:defRPr sz="42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indent="0" algn="l">
              <a:lnSpc>
                <a:spcPct val="90000"/>
              </a:lnSpc>
              <a:buNone/>
            </a:pPr>
            <a:r>
              <a:rPr sz="42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rPr>
              <a:t>Click to edit the title text format</a:t>
            </a:r>
            <a:endParaRPr sz="42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Master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828374BE-02C5-4E61-8C16-6F6D6F8B75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520"/>
            <a:ext cx="10820160" cy="83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indent="0" algn="l">
              <a:lnSpc>
                <a:spcPct val="90000"/>
              </a:lnSpc>
              <a:buNone/>
              <a:defRPr sz="33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indent="0" algn="l">
              <a:lnSpc>
                <a:spcPct val="90000"/>
              </a:lnSpc>
              <a:buNone/>
            </a:pPr>
            <a:r>
              <a:rPr sz="33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rPr>
              <a:t>Click to edit the title text format</a:t>
            </a:r>
            <a:endParaRPr sz="33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56832C8A-AD6F-4767-A89A-9F7E377A15F6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85800" y="1905120"/>
            <a:ext cx="502884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rPr>
              <a:t>Click to edit the outline text format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rPr>
              <a:t>Second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rPr>
              <a:t>Third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rPr>
              <a:t>Fourth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rPr>
              <a:t>Fifth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rPr>
              <a:t>Sixth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rPr>
              <a:t>Seventh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E0511553-B641-4534-9815-19C716CE5C6B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477120" y="1905120"/>
            <a:ext cx="502884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rPr>
              <a:t>Click to edit the outline text format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rPr>
              <a:t>Second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rPr>
              <a:t>Third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rPr>
              <a:t>Fourth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rPr>
              <a:t>Fifth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rPr>
              <a:t>Sixth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rPr>
              <a:t>Seventh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8.xml><?xml version="1.0" encoding="utf-8"?>
<p:sldLayout xmlns:p="http://schemas.openxmlformats.org/presentationml/2006/main" type="blank" preserve="1">
  <p:cSld name="Default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A18EEBF-8CCA-4C83-A81E-18F0882FD2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indent="0" algn="l">
              <a:lnSpc>
                <a:spcPct val="90000"/>
              </a:lnSpc>
              <a:buNone/>
              <a:defRPr sz="44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indent="0" algn="l">
              <a:lnSpc>
                <a:spcPct val="90000"/>
              </a:lnSpc>
              <a:buNone/>
            </a:pPr>
            <a:r>
              <a:rPr sz="44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rPr>
              <a:t>Click to edit the title text format</a:t>
            </a:r>
            <a:endParaRPr sz="44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70B01788-BB2B-41DF-8CD0-CB8EEF2CCF86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1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</a:lstStyle>
          <a:p xmlns:a="http://schemas.openxmlformats.org/drawingml/2006/main"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rPr>
              <a:t>Click to edit the outline text format</a:t>
            </a:r>
            <a:endParaRPr sz="2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rPr>
              <a:t>Second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rPr>
              <a:t>Third Outline Level</a:t>
            </a:r>
            <a:endParaRPr sz="1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rPr>
              <a:t>Fourth Outline Level</a:t>
            </a:r>
            <a:endParaRPr sz="1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rPr>
              <a:t>Fifth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rPr>
              <a:t>Sixth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rPr>
              <a:t>Seventh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9.xml><?xml version="1.0" encoding="utf-8"?>
<p:sldLayout xmlns:p="http://schemas.openxmlformats.org/presentationml/2006/main" type="title" preserve="1">
  <p:cSld name="Default 1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F162F022-706E-4021-9E72-4F5099D925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320" y="2590920"/>
            <a:ext cx="9753120" cy="990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indent="0" algn="l">
              <a:lnSpc>
                <a:spcPct val="90000"/>
              </a:lnSpc>
              <a:buNone/>
              <a:defRPr sz="4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indent="0" algn="l">
              <a:lnSpc>
                <a:spcPct val="90000"/>
              </a:lnSpc>
              <a:buNone/>
            </a:pPr>
            <a:r>
              <a:rPr sz="4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rPr>
              <a:t>Click to edit the title text format</a:t>
            </a:r>
            <a:endParaRPr sz="4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10.xml><?xml version="1.0" encoding="utf-8"?>
<p:sldLayout xmlns:p="http://schemas.openxmlformats.org/presentationml/2006/main" type="blank" preserve="1">
  <p:cSld name="Default 2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C20A2418-BE8C-4E8A-A222-DDA6464593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520"/>
            <a:ext cx="10820160" cy="83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indent="0" algn="l">
              <a:lnSpc>
                <a:spcPct val="90000"/>
              </a:lnSpc>
              <a:buNone/>
              <a:defRPr sz="33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indent="0" algn="l">
              <a:lnSpc>
                <a:spcPct val="90000"/>
              </a:lnSpc>
              <a:buNone/>
            </a:pPr>
            <a:r>
              <a:rPr sz="33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rPr>
              <a:t>Click to edit the title text format</a:t>
            </a:r>
            <a:endParaRPr sz="33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566116ED-5642-48E5-B46A-3441BD68B202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85800" y="1905120"/>
            <a:ext cx="502884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rPr>
              <a:t>Click to edit the outline text format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rPr>
              <a:t>Second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rPr>
              <a:t>Third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rPr>
              <a:t>Fourth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rPr>
              <a:t>Fifth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rPr>
              <a:t>Sixth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rPr>
              <a:t>Seventh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11.xml><?xml version="1.0" encoding="utf-8"?>
<p:sldLayout xmlns:p="http://schemas.openxmlformats.org/presentationml/2006/main" type="blank" preserve="1">
  <p:cSld name="Default 3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3503ECD8-3220-4DFC-A9BC-6103E0B7DB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520"/>
            <a:ext cx="10820160" cy="83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indent="0" algn="l">
              <a:lnSpc>
                <a:spcPct val="90000"/>
              </a:lnSpc>
              <a:buNone/>
              <a:defRPr sz="33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indent="0" algn="l">
              <a:lnSpc>
                <a:spcPct val="90000"/>
              </a:lnSpc>
              <a:buNone/>
            </a:pPr>
            <a:r>
              <a:rPr sz="33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rPr>
              <a:t>Click to edit the title text format</a:t>
            </a:r>
            <a:endParaRPr sz="33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BB21E526-086F-4072-97C4-E63CB71D4294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85800" y="1905120"/>
            <a:ext cx="1082016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rPr>
              <a:t>Click to edit the outline text format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rPr>
              <a:t>Second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rPr>
              <a:t>Third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rPr>
              <a:t>Fourth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rPr>
              <a:t>Fifth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rPr>
              <a:t>Sixth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rPr>
              <a:t>Seventh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Default 4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B55FBD02-DE84-455F-A598-7F1A124969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320" y="2857680"/>
            <a:ext cx="9753120" cy="1142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indent="0" algn="l">
              <a:lnSpc>
                <a:spcPct val="90000"/>
              </a:lnSpc>
              <a:buNone/>
              <a:defRPr sz="42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indent="0" algn="l">
              <a:lnSpc>
                <a:spcPct val="90000"/>
              </a:lnSpc>
              <a:buNone/>
            </a:pPr>
            <a:r>
              <a:rPr sz="42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rPr>
              <a:t>Click to edit the title text format</a:t>
            </a:r>
            <a:endParaRPr sz="42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12666236534c38" /><Relationship Type="http://schemas.openxmlformats.org/officeDocument/2006/relationships/slideLayout" Target="/ppt/slideLayouts/slideLayout1.xml" Id="R23f4a02ff5634999" /><Relationship Type="http://schemas.openxmlformats.org/officeDocument/2006/relationships/slideLayout" Target="/ppt/slideLayouts/slideLayout2.xml" Id="R38989024577e4d18" /><Relationship Type="http://schemas.openxmlformats.org/officeDocument/2006/relationships/slideLayout" Target="/ppt/slideLayouts/slideLayout3.xml" Id="Rc35adaad45304e34" /><Relationship Type="http://schemas.openxmlformats.org/officeDocument/2006/relationships/slideLayout" Target="/ppt/slideLayouts/slideLayout4.xml" Id="R802d3c12ff29412c" /><Relationship Type="http://schemas.openxmlformats.org/officeDocument/2006/relationships/slideLayout" Target="/ppt/slideLayouts/slideLayout5.xml" Id="R0dd24e425b264ecd" /><Relationship Type="http://schemas.openxmlformats.org/officeDocument/2006/relationships/slideLayout" Target="/ppt/slideLayouts/slideLayout6.xml" Id="Rd7a4867fc3704d8f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ff9773bb75354033" /><Relationship Type="http://schemas.openxmlformats.org/officeDocument/2006/relationships/slideLayout" Target="/ppt/slideLayouts/slideLayout7.xml" Id="R75800bd129b64edc" /><Relationship Type="http://schemas.openxmlformats.org/officeDocument/2006/relationships/slideLayout" Target="/ppt/slideLayouts/slideLayout8.xml" Id="Re8bd7fcb56964d97" /><Relationship Type="http://schemas.openxmlformats.org/officeDocument/2006/relationships/slideLayout" Target="/ppt/slideLayouts/slideLayout9.xml" Id="Re86b147fc41a409f" /><Relationship Type="http://schemas.openxmlformats.org/officeDocument/2006/relationships/slideLayout" Target="/ppt/slideLayouts/slideLayout10.xml" Id="R4afeacae16604be6" /><Relationship Type="http://schemas.openxmlformats.org/officeDocument/2006/relationships/slideLayout" Target="/ppt/slideLayouts/slideLayout11.xml" Id="Rf505db0966334831" /><Relationship Type="http://schemas.openxmlformats.org/officeDocument/2006/relationships/slideLayout" Target="/ppt/slideLayouts/slideLayout12.xml" Id="Rd83f485a19f94fda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3f4a02ff5634999"/>
    <p:sldLayoutId xmlns:r="http://schemas.openxmlformats.org/officeDocument/2006/relationships" id="2147483650" r:id="R38989024577e4d18"/>
    <p:sldLayoutId xmlns:r="http://schemas.openxmlformats.org/officeDocument/2006/relationships" id="2147483651" r:id="Rc35adaad45304e34"/>
    <p:sldLayoutId xmlns:r="http://schemas.openxmlformats.org/officeDocument/2006/relationships" id="2147483652" r:id="R802d3c12ff29412c"/>
    <p:sldLayoutId xmlns:r="http://schemas.openxmlformats.org/officeDocument/2006/relationships" id="2147483653" r:id="R0dd24e425b264ecd"/>
    <p:sldLayoutId xmlns:r="http://schemas.openxmlformats.org/officeDocument/2006/relationships" id="2147483654" r:id="Rd7a4867fc3704d8f"/>
  </p:sldLayoutIdLst>
</p:sldMaster>
</file>

<file path=ppt/slideMasters/slideMaster2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6" r:id="R75800bd129b64edc"/>
    <p:sldLayoutId xmlns:r="http://schemas.openxmlformats.org/officeDocument/2006/relationships" id="2147483657" r:id="Re8bd7fcb56964d97"/>
    <p:sldLayoutId xmlns:r="http://schemas.openxmlformats.org/officeDocument/2006/relationships" id="2147483658" r:id="Re86b147fc41a409f"/>
    <p:sldLayoutId xmlns:r="http://schemas.openxmlformats.org/officeDocument/2006/relationships" id="2147483659" r:id="R4afeacae16604be6"/>
    <p:sldLayoutId xmlns:r="http://schemas.openxmlformats.org/officeDocument/2006/relationships" id="2147483660" r:id="Rf505db0966334831"/>
    <p:sldLayoutId xmlns:r="http://schemas.openxmlformats.org/officeDocument/2006/relationships" id="2147483661" r:id="Rd83f485a19f94fda"/>
  </p:sldLayoutIdLst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48899dc4d8d4bf9" /><Relationship Type="http://schemas.openxmlformats.org/officeDocument/2006/relationships/image" Target="/ppt/media/image.png" Id="R256d4625144d416c" /><Relationship Type="http://schemas.openxmlformats.org/officeDocument/2006/relationships/notesSlide" Target="/ppt/notesSlides/notesSlide1.xml" Id="R73654a002b264e77" 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3.xml" Id="R21b1779e5f004732"/><Relationship Type="http://schemas.openxmlformats.org/officeDocument/2006/relationships/chart" Target="/ppt/charts/chart1.xml" Id="Ra23a585a237c497e"/><Relationship Type="http://schemas.openxmlformats.org/officeDocument/2006/relationships/notesSlide" Target="/ppt/notesSlides/notesSlide2.xml" Id="R8e6d22fca4774b47"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93360c84dfe45b4" /><Relationship Type="http://schemas.openxmlformats.org/officeDocument/2006/relationships/notesSlide" Target="/ppt/notesSlides/notesSlide3.xml" Id="R5e0f75873010408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3ef8d626317426a" /><Relationship Type="http://schemas.openxmlformats.org/officeDocument/2006/relationships/notesSlide" Target="/ppt/notesSlides/notesSlide4.xml" Id="Rbd0182fce3c547a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ac87667ef15485b" /><Relationship Type="http://schemas.openxmlformats.org/officeDocument/2006/relationships/image" Target="/ppt/media/image2.png" Id="Rea94e3e92aa74ec7" /><Relationship Type="http://schemas.openxmlformats.org/officeDocument/2006/relationships/image" Target="/ppt/media/image3.png" Id="Ra6ef887db58d4229" /><Relationship Type="http://schemas.openxmlformats.org/officeDocument/2006/relationships/notesSlide" Target="/ppt/notesSlides/notesSlide5.xml" Id="Rf3210e1b8db34d5e" 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3.xml" Id="R7a56780775844db6"/><Relationship Type="http://schemas.openxmlformats.org/officeDocument/2006/relationships/chart" Target="/ppt/charts/chart9.xml" Id="Rc4b1c0f2f04c43fc"/><Relationship Type="http://schemas.openxmlformats.org/officeDocument/2006/relationships/notesSlide" Target="/ppt/notesSlides/notesSlide6.xml" Id="R13c8e37b234642e6"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3058aa8fb28452e" /><Relationship Type="http://schemas.openxmlformats.org/officeDocument/2006/relationships/image" Target="/ppt/media/image4.png" Id="R81da17e3d53544b3" /><Relationship Type="http://schemas.openxmlformats.org/officeDocument/2006/relationships/notesSlide" Target="/ppt/notesSlides/notesSlide7.xml" Id="R4b10162d3e5948a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8946695b95c4d4a" /><Relationship Type="http://schemas.openxmlformats.org/officeDocument/2006/relationships/image" Target="/ppt/media/image5.png" Id="R62fb5f2ea73a4e22" /><Relationship Type="http://schemas.openxmlformats.org/officeDocument/2006/relationships/notesSlide" Target="/ppt/notesSlides/notesSlide8.xml" Id="Rc1ba9615f88b4fa7" /></Relationships>
</file>

<file path=ppt/slides/_rels/slide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3.xml" Id="Rbf4c1de2006c4e56"/><Relationship Type="http://schemas.openxmlformats.org/officeDocument/2006/relationships/chart" Target="/ppt/charts/chart10.xml" Id="R2ec91766957b4041"/><Relationship Type="http://schemas.openxmlformats.org/officeDocument/2006/relationships/notesSlide" Target="/ppt/notesSlides/notesSlide9.xml" Id="R1094f35f2119495a"/></Relationships>
</file>

<file path=ppt/slides/_rels/slide1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3.xml" Id="Rbe168fe7c1644edd"/><Relationship Type="http://schemas.openxmlformats.org/officeDocument/2006/relationships/chart" Target="/ppt/charts/chart11.xml" Id="Rb6dba1f7fcf34d90"/><Relationship Type="http://schemas.openxmlformats.org/officeDocument/2006/relationships/notesSlide" Target="/ppt/notesSlides/notesSlide10.xml" Id="R3e0e593ec47f4689"/></Relationships>
</file>

<file path=ppt/slides/_rels/slide1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3.xml" Id="R01e44c509d764e3b"/><Relationship Type="http://schemas.openxmlformats.org/officeDocument/2006/relationships/chart" Target="/ppt/charts/chart12.xml" Id="Rbc879409b3764683"/><Relationship Type="http://schemas.openxmlformats.org/officeDocument/2006/relationships/notesSlide" Target="/ppt/notesSlides/notesSlide11.xml" Id="Rc33805a2ff9345ef"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1c5c1000d3645d5" /><Relationship Type="http://schemas.openxmlformats.org/officeDocument/2006/relationships/image" Target="/ppt/media/image6.png" Id="Rad1b663808a24ebe" /><Relationship Type="http://schemas.openxmlformats.org/officeDocument/2006/relationships/image" Target="/ppt/media/image7.png" Id="R9bcde46112634914" /><Relationship Type="http://schemas.openxmlformats.org/officeDocument/2006/relationships/image" Target="/ppt/media/image8.png" Id="R2f0416cbaf0b4bb5" /><Relationship Type="http://schemas.openxmlformats.org/officeDocument/2006/relationships/image" Target="/ppt/media/image9.png" Id="R70d9bc6f3d3349f4" /><Relationship Type="http://schemas.openxmlformats.org/officeDocument/2006/relationships/image" Target="/ppt/media/image10.png" Id="R1f73df4174284ba8" /><Relationship Type="http://schemas.openxmlformats.org/officeDocument/2006/relationships/notesSlide" Target="/ppt/notesSlides/notesSlide12.xml" Id="R69606f8ff9244870" /></Relationships>
</file>

<file path=ppt/slides/_rels/slide1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3.xml" Id="R5808512a29f841d8"/><Relationship Type="http://schemas.openxmlformats.org/officeDocument/2006/relationships/chart" Target="/ppt/charts/chart2.xml" Id="Rbf3ed22b58104119"/><Relationship Type="http://schemas.openxmlformats.org/officeDocument/2006/relationships/image" Target="/ppt/media/image11.png" Id="R31740d98de424df9"/><Relationship Type="http://schemas.openxmlformats.org/officeDocument/2006/relationships/notesSlide" Target="/ppt/notesSlides/notesSlide13.xml" Id="Re19610deeb0846d1"/></Relationships>
</file>

<file path=ppt/slides/_rels/slide1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3.xml" Id="R2dd540f298704633"/><Relationship Type="http://schemas.openxmlformats.org/officeDocument/2006/relationships/chart" Target="/ppt/charts/chart3.xml" Id="R68f94e7e782d4722"/><Relationship Type="http://schemas.openxmlformats.org/officeDocument/2006/relationships/image" Target="/ppt/media/image12.png" Id="R76285616052a4d07"/><Relationship Type="http://schemas.openxmlformats.org/officeDocument/2006/relationships/notesSlide" Target="/ppt/notesSlides/notesSlide14.xml" Id="Rf642fc89ebb0450f"/></Relationships>
</file>

<file path=ppt/slides/_rels/slide1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3.xml" Id="Rcb7e2bc7dcf54dea"/><Relationship Type="http://schemas.openxmlformats.org/officeDocument/2006/relationships/chart" Target="/ppt/charts/chart4.xml" Id="Rfecf50c5e0dc42d3"/><Relationship Type="http://schemas.openxmlformats.org/officeDocument/2006/relationships/image" Target="/ppt/media/image13.png" Id="R543d03e2a24a48cf"/><Relationship Type="http://schemas.openxmlformats.org/officeDocument/2006/relationships/notesSlide" Target="/ppt/notesSlides/notesSlide15.xml" Id="Red1f394bc61c43c4"/></Relationships>
</file>

<file path=ppt/slides/_rels/slide1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3.xml" Id="Rdfceab84943a4e90"/><Relationship Type="http://schemas.openxmlformats.org/officeDocument/2006/relationships/chart" Target="/ppt/charts/chart5.xml" Id="Rb3d904e2255749db"/><Relationship Type="http://schemas.openxmlformats.org/officeDocument/2006/relationships/image" Target="/ppt/media/image14.png" Id="Rbad0bee057a14eff"/><Relationship Type="http://schemas.openxmlformats.org/officeDocument/2006/relationships/notesSlide" Target="/ppt/notesSlides/notesSlide16.xml" Id="R22b5484a1c464a44"/></Relationships>
</file>

<file path=ppt/slides/_rels/slide1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3.xml" Id="R433ac01dcc184624"/><Relationship Type="http://schemas.openxmlformats.org/officeDocument/2006/relationships/chart" Target="/ppt/charts/chart6.xml" Id="Ra3b98409af9f4a0b"/><Relationship Type="http://schemas.openxmlformats.org/officeDocument/2006/relationships/image" Target="/ppt/media/image15.png" Id="R1b9a9e1ea3494959"/><Relationship Type="http://schemas.openxmlformats.org/officeDocument/2006/relationships/notesSlide" Target="/ppt/notesSlides/notesSlide17.xml" Id="R9a3c24866dc14c15"/></Relationships>
</file>

<file path=ppt/slides/_rels/slide1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3.xml" Id="R739e1d601c6f4e93"/><Relationship Type="http://schemas.openxmlformats.org/officeDocument/2006/relationships/chart" Target="/ppt/charts/chart7.xml" Id="Rce8ec410a16a4f36"/><Relationship Type="http://schemas.openxmlformats.org/officeDocument/2006/relationships/image" Target="/ppt/media/image16.png" Id="R1940e91687074dec"/><Relationship Type="http://schemas.openxmlformats.org/officeDocument/2006/relationships/notesSlide" Target="/ppt/notesSlides/notesSlide18.xml" Id="Rccea0f176f2e4749"/></Relationships>
</file>

<file path=ppt/slides/_rels/slide1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3.xml" Id="Reada2cec13274be8"/><Relationship Type="http://schemas.openxmlformats.org/officeDocument/2006/relationships/chart" Target="/ppt/charts/chart8.xml" Id="R95a3a8e5cffa40ae"/><Relationship Type="http://schemas.openxmlformats.org/officeDocument/2006/relationships/image" Target="/ppt/media/image17.png" Id="R3530b09f742942a7"/><Relationship Type="http://schemas.openxmlformats.org/officeDocument/2006/relationships/notesSlide" Target="/ppt/notesSlides/notesSlide19.xml" Id="R1ab58cc49c2b4c94"/></Relationships>
</file>

<file path=ppt/slides/_rels/slide2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3.xml" Id="R74408a8e9158418f"/><Relationship Type="http://schemas.openxmlformats.org/officeDocument/2006/relationships/chart" Target="/ppt/charts/chart13.xml" Id="R9ffe30cd1c09431d"/><Relationship Type="http://schemas.openxmlformats.org/officeDocument/2006/relationships/notesSlide" Target="/ppt/notesSlides/notesSlide20.xml" Id="R8f7442a6ddfa4d0f"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a1894b1f4944dd3" /><Relationship Type="http://schemas.openxmlformats.org/officeDocument/2006/relationships/image" Target="/ppt/media/image18.png" Id="R4c4cbb6595ab4d8a" /><Relationship Type="http://schemas.openxmlformats.org/officeDocument/2006/relationships/notesSlide" Target="/ppt/notesSlides/notesSlide21.xml" Id="Rb2a710f5f8864b3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617eda13f3f4fee" /><Relationship Type="http://schemas.openxmlformats.org/officeDocument/2006/relationships/notesSlide" Target="/ppt/notesSlides/notesSlide22.xml" Id="Rc1177f5e12d241d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69cf4a1481240be" /><Relationship Type="http://schemas.openxmlformats.org/officeDocument/2006/relationships/image" Target="/ppt/media/image19.png" Id="R531cef5ac0d64f6b" /><Relationship Type="http://schemas.openxmlformats.org/officeDocument/2006/relationships/notesSlide" Target="/ppt/notesSlides/notesSlide23.xml" Id="Rc2fe67c85846417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2897287c52c4834" /><Relationship Type="http://schemas.openxmlformats.org/officeDocument/2006/relationships/notesSlide" Target="/ppt/notesSlides/notesSlide24.xml" Id="Rfdc11fc86ff442a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88271da38a74d4c" /><Relationship Type="http://schemas.openxmlformats.org/officeDocument/2006/relationships/notesSlide" Target="/ppt/notesSlides/notesSlide25.xml" Id="R6f1d108bbac64ce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68e4fdce25b4dd1" /><Relationship Type="http://schemas.openxmlformats.org/officeDocument/2006/relationships/notesSlide" Target="/ppt/notesSlides/notesSlide26.xml" Id="R241d6a4db102494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2b7df7491cb4085" /><Relationship Type="http://schemas.openxmlformats.org/officeDocument/2006/relationships/notesSlide" Target="/ppt/notesSlides/notesSlide27.xml" Id="Rb5da8287a6bd4e9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74623273836b4088" /><Relationship Type="http://schemas.openxmlformats.org/officeDocument/2006/relationships/image" Target="/ppt/media/image6.png" Id="Re4b08563f42e4a27" /><Relationship Type="http://schemas.openxmlformats.org/officeDocument/2006/relationships/image" Target="/ppt/media/image7.png" Id="Rf42a656323524ce0" /><Relationship Type="http://schemas.openxmlformats.org/officeDocument/2006/relationships/image" Target="/ppt/media/image8.png" Id="R42c1d9c6c422447d" /><Relationship Type="http://schemas.openxmlformats.org/officeDocument/2006/relationships/notesSlide" Target="/ppt/notesSlides/notesSlide28.xml" Id="R8efb65a5a1cb47a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f20c48f1565448fc" /><Relationship Type="http://schemas.openxmlformats.org/officeDocument/2006/relationships/image" Target="/ppt/media/image9.png" Id="R591f857efd134316" /><Relationship Type="http://schemas.openxmlformats.org/officeDocument/2006/relationships/image" Target="/ppt/media/image10.png" Id="Rba0e8aee4d394367" /><Relationship Type="http://schemas.openxmlformats.org/officeDocument/2006/relationships/notesSlide" Target="/ppt/notesSlides/notesSlide29.xml" Id="R6c4a6993f4b2443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Slide1_Object2">
            <a:extLst xmlns:a="http://schemas.openxmlformats.org/drawingml/2006/main">
              <a:ext uri="{FF2B5EF4-FFF2-40B4-BE49-F238E27FC236}">
                <a16:creationId xmlns:a16="http://schemas.microsoft.com/office/drawing/2014/main" id="{CAE5B22F-C1BE-49F5-947B-2C926F19AB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6d4625144d416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lide1_Object3">
            <a:extLst xmlns:a="http://schemas.openxmlformats.org/drawingml/2006/main">
              <a:ext uri="{FF2B5EF4-FFF2-40B4-BE49-F238E27FC236}">
                <a16:creationId xmlns:a16="http://schemas.microsoft.com/office/drawing/2014/main" id="{B05BD75C-D8B3-46C4-8A6E-3046B93C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14450"/>
            <a:ext cx="10477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7385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4800" b="1">
                <a:solidFill>
                  <a:srgbClr val="15365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4800" b="1">
                <a:solidFill>
                  <a:srgbClr val="15365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4800" b="1">
                <a:solidFill>
                  <a:srgbClr val="15365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4800" b="1">
                <a:solidFill>
                  <a:srgbClr val="15365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4800" b="1">
                <a:solidFill>
                  <a:srgbClr val="15365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4800" b="1">
                <a:solidFill>
                  <a:srgbClr val="15365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4800" b="1">
                <a:solidFill>
                  <a:srgbClr val="15365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4800" b="1">
                <a:solidFill>
                  <a:srgbClr val="15365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4800" b="1">
                <a:solidFill>
                  <a:srgbClr val="15365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7385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85D"/>
                </a:solidFill>
                <a:latin typeface="Arial"/>
                <a:ea typeface="Arial"/>
                <a:cs typeface="Arial"/>
              </a:rPr>
              <a:t>Data Analysis for the Development of</a:t>
            </a:r>
            <a:endParaRPr sz="4800"/>
          </a:p>
          <a:p xmlns:a="http://schemas.openxmlformats.org/drawingml/2006/main">
            <a:pPr>
              <a:buNone/>
              <a:defRPr sz="3300" b="1">
                <a:solidFill>
                  <a:srgbClr val="17385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85D"/>
                </a:solidFill>
                <a:latin typeface="Arial"/>
                <a:ea typeface="Arial"/>
                <a:cs typeface="Arial"/>
              </a:rPr>
              <a:t>Companion Robots for Older Adults</a:t>
            </a:r>
            <a:endParaRPr sz="4800"/>
          </a:p>
        </p:txBody>
      </p:sp>
      <p:sp>
        <p:nvSpPr>
          <p:cNvPr id="4" name="Slide1_Object4">
            <a:extLst xmlns:a="http://schemas.openxmlformats.org/drawingml/2006/main">
              <a:ext uri="{FF2B5EF4-FFF2-40B4-BE49-F238E27FC236}">
                <a16:creationId xmlns:a16="http://schemas.microsoft.com/office/drawing/2014/main" id="{609991C6-DBE1-49E1-866B-8F8BAB499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33700"/>
            <a:ext cx="1000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00" b="0">
                <a:solidFill>
                  <a:srgbClr val="24748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9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39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39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39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39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39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39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39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39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24748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748A"/>
                </a:solidFill>
                <a:latin typeface="Arial"/>
                <a:ea typeface="Arial"/>
                <a:cs typeface="Arial"/>
              </a:rPr>
              <a:t>Interaction experience, continued use and the Guardian proposal</a:t>
            </a:r>
            <a:endParaRPr sz="3850"/>
          </a:p>
        </p:txBody>
      </p:sp>
      <p:sp>
        <p:nvSpPr>
          <p:cNvPr id="6" name="Slide1_Object6">
            <a:extLst xmlns:a="http://schemas.openxmlformats.org/drawingml/2006/main">
              <a:ext uri="{FF2B5EF4-FFF2-40B4-BE49-F238E27FC236}">
                <a16:creationId xmlns:a16="http://schemas.microsoft.com/office/drawing/2014/main" id="{D5FB257F-52CE-4EDF-A9A0-83DF5C314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63817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AI-generated concept illustration. Proposed product only.</a:t>
            </a:r>
            <a:endParaRPr sz="1050"/>
          </a:p>
        </p:txBody>
      </p:sp>
      <p:sp>
        <p:nvSpPr>
          <p:cNvPr id="7" name="Class and student name">
            <a:extLst xmlns:a="http://schemas.openxmlformats.org/drawingml/2006/main">
              <a:ext uri="{FF2B5EF4-FFF2-40B4-BE49-F238E27FC236}">
                <a16:creationId xmlns:a16="http://schemas.microsoft.com/office/drawing/2014/main" id="{D4E74E85-5737-4651-BB1A-2DFF63D48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524500"/>
            <a:ext cx="723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>
                <a:solidFill>
                  <a:srgbClr val="17385D"/>
                </a:solidFill>
                <a:latin typeface="Arial"/>
                <a:ea typeface="Arial"/>
                <a:cs typeface="Arial"/>
              </a:defRPr>
            </a:defPPr>
            <a:lvl1pPr>
              <a:defRPr sz="1800">
                <a:solidFill>
                  <a:srgbClr val="17385D"/>
                </a:solidFill>
                <a:latin typeface="Arial"/>
                <a:ea typeface="Arial"/>
                <a:cs typeface="Arial"/>
              </a:defRPr>
            </a:lvl1pPr>
            <a:lvl2pPr>
              <a:defRPr sz="1800">
                <a:solidFill>
                  <a:srgbClr val="17385D"/>
                </a:solidFill>
                <a:latin typeface="Arial"/>
                <a:ea typeface="Arial"/>
                <a:cs typeface="Arial"/>
              </a:defRPr>
            </a:lvl2pPr>
            <a:lvl3pPr>
              <a:defRPr sz="1800">
                <a:solidFill>
                  <a:srgbClr val="17385D"/>
                </a:solidFill>
                <a:latin typeface="Arial"/>
                <a:ea typeface="Arial"/>
                <a:cs typeface="Arial"/>
              </a:defRPr>
            </a:lvl3pPr>
            <a:lvl4pPr>
              <a:defRPr sz="1800">
                <a:solidFill>
                  <a:srgbClr val="17385D"/>
                </a:solidFill>
                <a:latin typeface="Arial"/>
                <a:ea typeface="Arial"/>
                <a:cs typeface="Arial"/>
              </a:defRPr>
            </a:lvl4pPr>
            <a:lvl5pPr>
              <a:defRPr sz="1800">
                <a:solidFill>
                  <a:srgbClr val="17385D"/>
                </a:solidFill>
                <a:latin typeface="Arial"/>
                <a:ea typeface="Arial"/>
                <a:cs typeface="Arial"/>
              </a:defRPr>
            </a:lvl5pPr>
            <a:lvl6pPr>
              <a:defRPr sz="1800">
                <a:solidFill>
                  <a:srgbClr val="17385D"/>
                </a:solidFill>
                <a:latin typeface="Arial"/>
                <a:ea typeface="Arial"/>
                <a:cs typeface="Arial"/>
              </a:defRPr>
            </a:lvl6pPr>
            <a:lvl7pPr>
              <a:defRPr sz="1800">
                <a:solidFill>
                  <a:srgbClr val="17385D"/>
                </a:solidFill>
                <a:latin typeface="Arial"/>
                <a:ea typeface="Arial"/>
                <a:cs typeface="Arial"/>
              </a:defRPr>
            </a:lvl7pPr>
            <a:lvl8pPr>
              <a:defRPr sz="1800">
                <a:solidFill>
                  <a:srgbClr val="17385D"/>
                </a:solidFill>
                <a:latin typeface="Arial"/>
                <a:ea typeface="Arial"/>
                <a:cs typeface="Arial"/>
              </a:defRPr>
            </a:lvl8pPr>
            <a:lvl9pPr>
              <a:defRPr sz="1800">
                <a:solidFill>
                  <a:srgbClr val="1738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385D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385D"/>
                </a:solidFill>
                <a:latin typeface="Arial"/>
                <a:ea typeface="Arial"/>
                <a:cs typeface="Arial"/>
              </a:rPr>
              <a:t>Class: CT2985013</a:t>
            </a:r>
          </a:p>
          <a:p xmlns:a="http://schemas.openxmlformats.org/drawingml/2006/main">
            <a:pPr>
              <a:defRPr sz="1800">
                <a:solidFill>
                  <a:srgbClr val="17385D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385D"/>
                </a:solidFill>
                <a:latin typeface="Arial"/>
                <a:ea typeface="Arial"/>
                <a:cs typeface="Arial"/>
              </a:rPr>
              <a:t>Student Name: Wong Chei Oi (Alice)</a:t>
            </a:r>
          </a:p>
        </p:txBody>
      </p:sp>
    </p:spTree>
    <p:extLst>
      <p:ext uri="{BB962C8B-B14F-4D97-AF65-F5344CB8AC3E}">
        <p14:creationId xmlns:p14="http://schemas.microsoft.com/office/powerpoint/2010/main" val="5310493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-0">
            <a:extLst xmlns:a="http://schemas.openxmlformats.org/drawingml/2006/main">
              <a:ext uri="{FF2B5EF4-FFF2-40B4-BE49-F238E27FC236}">
                <a16:creationId xmlns:a16="http://schemas.microsoft.com/office/drawing/2014/main" id="{74536E29-9F54-4AB1-A495-31A0B7C63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"/>
            <a:ext cx="11087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5365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3000" b="1">
                <a:solidFill>
                  <a:srgbClr val="15365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 u="none" strike="noStrike">
                <a:solidFill>
                  <a:srgbClr val="15365C"/>
                </a:solidFill>
                <a:latin typeface="Arial"/>
                <a:ea typeface="Arial"/>
                <a:cs typeface="Arial"/>
              </a:rPr>
              <a:t>Why study support for older adults?</a:t>
            </a:r>
            <a:endParaRPr sz="3000"/>
          </a:p>
        </p:txBody>
      </p:sp>
      <p:sp>
        <p:nvSpPr>
          <p:cNvPr id="37" name="text-1">
            <a:extLst xmlns:a="http://schemas.openxmlformats.org/drawingml/2006/main">
              <a:ext uri="{FF2B5EF4-FFF2-40B4-BE49-F238E27FC236}">
                <a16:creationId xmlns:a16="http://schemas.microsoft.com/office/drawing/2014/main" id="{237CC932-6A0A-4F57-9DDB-111B122DE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43675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 u="none" strike="noStrike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text-2">
            <a:extLst xmlns:a="http://schemas.openxmlformats.org/drawingml/2006/main">
              <a:ext uri="{FF2B5EF4-FFF2-40B4-BE49-F238E27FC236}">
                <a16:creationId xmlns:a16="http://schemas.microsoft.com/office/drawing/2014/main" id="{89FAAF95-51B6-4C23-8491-6020F070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 u="none" strike="noStrike">
                <a:solidFill>
                  <a:srgbClr val="64748B"/>
                </a:solidFill>
                <a:latin typeface="Arial"/>
                <a:ea typeface="Arial"/>
                <a:cs typeface="Arial"/>
              </a:rPr>
              <a:t>Figure 7   Report p. 3</a:t>
            </a:r>
            <a:endParaRPr sz="1050"/>
          </a:p>
        </p:txBody>
      </p:sp>
      <p:graphicFrame>
        <p:nvGraphicFramePr>
          <p:cNvPr id="39" name="Chart">
            <a:extLst xmlns:a="http://schemas.openxmlformats.org/drawingml/2006/main">
              <a:ext uri="{FF2B5EF4-FFF2-40B4-BE49-F238E27FC236}">
                <a16:creationId xmlns:a16="http://schemas.microsoft.com/office/drawing/2014/main" id="{B49950E3-7CE5-440C-B72D-FDE2C9BA6679}"/>
              </a:ext>
            </a:extLst>
          </p:cNvPr>
          <p:cNvGraphicFramePr/>
          <p:nvPr/>
        </p:nvGraphicFramePr>
        <p:xfrm>
          <a:off xmlns:a="http://schemas.openxmlformats.org/drawingml/2006/main" x="523875" y="1762125"/>
          <a:ext xmlns:a="http://schemas.openxmlformats.org/drawingml/2006/main" cx="11096625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23a585a237c497e"/>
          </a:graphicData>
        </a:graphic>
      </p:graphicFrame>
      <p:sp>
        <p:nvSpPr>
          <p:cNvPr id="40" name="text-3">
            <a:extLst xmlns:a="http://schemas.openxmlformats.org/drawingml/2006/main">
              <a:ext uri="{FF2B5EF4-FFF2-40B4-BE49-F238E27FC236}">
                <a16:creationId xmlns:a16="http://schemas.microsoft.com/office/drawing/2014/main" id="{071D9337-BD79-4200-9A43-7D880828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8107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8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u="none" strike="noStrike">
                <a:solidFill>
                  <a:srgbClr val="276F8A"/>
                </a:solidFill>
                <a:latin typeface="Arial"/>
                <a:ea typeface="Arial"/>
                <a:cs typeface="Arial"/>
              </a:rPr>
              <a:t>Purpose: Explain Hong Kong’s projected population share aged 65 and over.</a:t>
            </a:r>
            <a:endParaRPr sz="1800"/>
          </a:p>
        </p:txBody>
      </p:sp>
      <p:sp>
        <p:nvSpPr>
          <p:cNvPr id="41" name="text-4">
            <a:extLst xmlns:a="http://schemas.openxmlformats.org/drawingml/2006/main">
              <a:ext uri="{FF2B5EF4-FFF2-40B4-BE49-F238E27FC236}">
                <a16:creationId xmlns:a16="http://schemas.microsoft.com/office/drawing/2014/main" id="{026F3DF3-412D-48DB-9A71-5371681D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57800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1">
                <a:latin typeface="Arial"/>
                <a:ea typeface="Arial"/>
                <a:cs typeface="Arial"/>
              </a:rPr>
              <a:t>Finding: A rise of 10 percentage points. Local demand still needs separate research.</a:t>
            </a:r>
            <a:endParaRPr sz="1600"/>
          </a:p>
        </p:txBody>
      </p:sp>
      <p:sp>
        <p:nvSpPr>
          <p:cNvPr id="43" name="text-6">
            <a:extLst xmlns:a="http://schemas.openxmlformats.org/drawingml/2006/main">
              <a:ext uri="{FF2B5EF4-FFF2-40B4-BE49-F238E27FC236}">
                <a16:creationId xmlns:a16="http://schemas.microsoft.com/office/drawing/2014/main" id="{097FDDBB-4915-4694-97E2-54EED31F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57925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 u="none" strike="noStrike">
                <a:solidFill>
                  <a:srgbClr val="64748B"/>
                </a:solidFill>
                <a:latin typeface="Arial"/>
                <a:ea typeface="Arial"/>
                <a:cs typeface="Arial"/>
              </a:rPr>
              <a:t>Source: Census and Statistics Department (2023), Appendix B, Table B1.</a:t>
            </a:r>
            <a:endParaRPr sz="1050"/>
          </a:p>
        </p:txBody>
      </p:sp>
      <p:sp>
        <p:nvSpPr>
          <p:cNvPr id="44" name="Slide2_Object44">
            <a:extLst xmlns:a="http://schemas.openxmlformats.org/drawingml/2006/main">
              <a:ext uri="{FF2B5EF4-FFF2-40B4-BE49-F238E27FC236}">
                <a16:creationId xmlns:a16="http://schemas.microsoft.com/office/drawing/2014/main" id="{7F89677A-E7AB-4030-B2CF-6E061C1AF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2397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23344F"/>
                </a:solidFill>
                <a:latin typeface="Arial"/>
                <a:ea typeface="Arial"/>
                <a:cs typeface="Arial"/>
              </a:rPr>
              <a:t>Method: 2026–2046 projections published in 2023, excluding foreign domestic helpers.</a:t>
            </a:r>
            <a:endParaRPr sz="1800"/>
          </a:p>
        </p:txBody>
      </p:sp>
      <p:sp>
        <p:nvSpPr>
          <p:cNvPr id="45" name="Slide2_Object45">
            <a:extLst xmlns:a="http://schemas.openxmlformats.org/drawingml/2006/main">
              <a:ext uri="{FF2B5EF4-FFF2-40B4-BE49-F238E27FC236}">
                <a16:creationId xmlns:a16="http://schemas.microsoft.com/office/drawing/2014/main" id="{268713DA-B530-4BDD-BA28-66424FC47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9775"/>
            <a:ext cx="11087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C34D22"/>
                </a:solidFill>
                <a:latin typeface="Arial"/>
                <a:ea typeface="Arial"/>
                <a:cs typeface="Arial"/>
              </a:rPr>
              <a:t>Population context motivates the study. Product suitability needs separate evidence.</a:t>
            </a: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2713604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text-0">
            <a:extLst xmlns:a="http://schemas.openxmlformats.org/drawingml/2006/main">
              <a:ext uri="{FF2B5EF4-FFF2-40B4-BE49-F238E27FC236}">
                <a16:creationId xmlns:a16="http://schemas.microsoft.com/office/drawing/2014/main" id="{A027F5D9-C00B-432A-8C5D-99BCCDD6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600" y="361800"/>
            <a:ext cx="11048760" cy="71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3000" b="1" u="none" strike="noStrike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rPr>
              <a:t/>
            </a:r>
            <a:endParaRPr sz="3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text-1">
            <a:extLst xmlns:a="http://schemas.openxmlformats.org/drawingml/2006/main">
              <a:ext uri="{FF2B5EF4-FFF2-40B4-BE49-F238E27FC236}">
                <a16:creationId xmlns:a16="http://schemas.microsoft.com/office/drawing/2014/main" id="{84EC711E-75D4-4BA3-822C-42B767C3E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43675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 u="none" strike="noStrike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/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" name="text-2">
            <a:extLst xmlns:a="http://schemas.openxmlformats.org/drawingml/2006/main">
              <a:ext uri="{FF2B5EF4-FFF2-40B4-BE49-F238E27FC236}">
                <a16:creationId xmlns:a16="http://schemas.microsoft.com/office/drawing/2014/main" id="{06761FD7-7D13-485E-9A0F-BF5FA3370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600" y="6553080"/>
            <a:ext cx="571464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0" u="none" strike="noStrike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/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-3">
            <a:extLst xmlns:a="http://schemas.openxmlformats.org/drawingml/2006/main">
              <a:ext uri="{FF2B5EF4-FFF2-40B4-BE49-F238E27FC236}">
                <a16:creationId xmlns:a16="http://schemas.microsoft.com/office/drawing/2014/main" id="{A0E4315B-D052-45DF-BC93-60CB36E5C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200" y="1714680"/>
            <a:ext cx="10667520" cy="71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850" b="1" u="none" strike="noStrike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rPr>
              <a:t/>
            </a:r>
            <a:endParaRPr sz="28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" name="text-4">
            <a:extLst xmlns:a="http://schemas.openxmlformats.org/drawingml/2006/main">
              <a:ext uri="{FF2B5EF4-FFF2-40B4-BE49-F238E27FC236}">
                <a16:creationId xmlns:a16="http://schemas.microsoft.com/office/drawing/2014/main" id="{C3D74CBC-A117-4879-9FA7-EC9F0143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00"/>
            <a:ext cx="1066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4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4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4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4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4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4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4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4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4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24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 u="none" strike="noStrike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rPr>
              <a:t/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" name="text-5">
            <a:extLst xmlns:a="http://schemas.openxmlformats.org/drawingml/2006/main">
              <a:ext uri="{FF2B5EF4-FFF2-40B4-BE49-F238E27FC236}">
                <a16:creationId xmlns:a16="http://schemas.microsoft.com/office/drawing/2014/main" id="{40FE9568-4146-49A5-98CC-ED70ED08C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200" y="5286240"/>
            <a:ext cx="10667520" cy="666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250" b="1" u="none" strike="noStrike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rPr>
              <a:t/>
            </a:r>
            <a:endParaRPr sz="22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" name="Slide3_Object50">
            <a:extLst xmlns:a="http://schemas.openxmlformats.org/drawingml/2006/main">
              <a:ext uri="{FF2B5EF4-FFF2-40B4-BE49-F238E27FC236}">
                <a16:creationId xmlns:a16="http://schemas.microsoft.com/office/drawing/2014/main" id="{7B08C7A0-EE28-4F3C-906C-AD86166F1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5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</p:txBody>
      </p:sp>
      <p:sp>
        <p:nvSpPr>
          <p:cNvPr id="51" name="Slide3_Object51">
            <a:extLst xmlns:a="http://schemas.openxmlformats.org/drawingml/2006/main">
              <a:ext uri="{FF2B5EF4-FFF2-40B4-BE49-F238E27FC236}">
                <a16:creationId xmlns:a16="http://schemas.microsoft.com/office/drawing/2014/main" id="{912AC94E-59B6-457E-BC6B-EE29D87C7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"/>
            <a:ext cx="11087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5365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15365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5365C"/>
                </a:solidFill>
                <a:latin typeface="Arial"/>
                <a:ea typeface="Arial"/>
                <a:cs typeface="Arial"/>
              </a:rPr>
              <a:t>Research question and evidence</a:t>
            </a:r>
            <a:endParaRPr sz="3000"/>
          </a:p>
        </p:txBody>
      </p:sp>
      <p:sp>
        <p:nvSpPr>
          <p:cNvPr id="52" name="Slide3_Object52">
            <a:extLst xmlns:a="http://schemas.openxmlformats.org/drawingml/2006/main">
              <a:ext uri="{FF2B5EF4-FFF2-40B4-BE49-F238E27FC236}">
                <a16:creationId xmlns:a16="http://schemas.microsoft.com/office/drawing/2014/main" id="{14E0B7C2-4F52-4FD8-9FFE-5AF40A33F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24625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Report p. 4</a:t>
            </a:r>
            <a:endParaRPr sz="1050"/>
          </a:p>
        </p:txBody>
      </p:sp>
      <p:sp>
        <p:nvSpPr>
          <p:cNvPr id="53" name="Slide3_Object53">
            <a:extLst xmlns:a="http://schemas.openxmlformats.org/drawingml/2006/main">
              <a:ext uri="{FF2B5EF4-FFF2-40B4-BE49-F238E27FC236}">
                <a16:creationId xmlns:a16="http://schemas.microsoft.com/office/drawing/2014/main" id="{13406012-53D3-49E4-94B8-D9A9E3395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246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54" name="Slide3_Object54">
            <a:extLst xmlns:a="http://schemas.openxmlformats.org/drawingml/2006/main">
              <a:ext uri="{FF2B5EF4-FFF2-40B4-BE49-F238E27FC236}">
                <a16:creationId xmlns:a16="http://schemas.microsoft.com/office/drawing/2014/main" id="{D346F28A-99D9-40B0-B0C9-4C1869536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025" b="0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025" b="0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025" b="0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025" b="0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025" b="0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025" b="0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025" b="0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025" b="0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025" b="0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025" b="0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76F8A"/>
                </a:solidFill>
                <a:latin typeface="Arial"/>
                <a:ea typeface="Arial"/>
                <a:cs typeface="Arial"/>
              </a:rPr>
              <a:t>What do interaction records reveal, and which improvements should the team test next?</a:t>
            </a:r>
            <a:endParaRPr sz="2025"/>
          </a:p>
        </p:txBody>
      </p:sp>
      <p:sp>
        <p:nvSpPr>
          <p:cNvPr id="55" name="Slide3_Object55">
            <a:extLst xmlns:a="http://schemas.openxmlformats.org/drawingml/2006/main">
              <a:ext uri="{FF2B5EF4-FFF2-40B4-BE49-F238E27FC236}">
                <a16:creationId xmlns:a16="http://schemas.microsoft.com/office/drawing/2014/main" id="{6E7281AC-C563-497A-8856-4DBB9CFAB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4572000" cy="2838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Slide3_Object56">
            <a:extLst xmlns:a="http://schemas.openxmlformats.org/drawingml/2006/main">
              <a:ext uri="{FF2B5EF4-FFF2-40B4-BE49-F238E27FC236}">
                <a16:creationId xmlns:a16="http://schemas.microsoft.com/office/drawing/2014/main" id="{6BE43532-E987-44FC-A119-AEFBE6A7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562100"/>
            <a:ext cx="6000750" cy="2838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Slide3_Object57">
            <a:extLst xmlns:a="http://schemas.openxmlformats.org/drawingml/2006/main">
              <a:ext uri="{FF2B5EF4-FFF2-40B4-BE49-F238E27FC236}">
                <a16:creationId xmlns:a16="http://schemas.microsoft.com/office/drawing/2014/main" id="{A1F95F3C-2454-443D-870A-1A52C1701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4191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2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2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2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2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2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2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2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2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2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2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3344F"/>
                </a:solidFill>
                <a:latin typeface="Arial"/>
                <a:ea typeface="Arial"/>
                <a:cs typeface="Arial"/>
              </a:rPr>
              <a:t>Main dataset: HRI CUES</a:t>
            </a:r>
            <a:endParaRPr sz="2250"/>
          </a:p>
        </p:txBody>
      </p:sp>
      <p:sp>
        <p:nvSpPr>
          <p:cNvPr id="58" name="Slide3_Object58">
            <a:extLst xmlns:a="http://schemas.openxmlformats.org/drawingml/2006/main">
              <a:ext uri="{FF2B5EF4-FFF2-40B4-BE49-F238E27FC236}">
                <a16:creationId xmlns:a16="http://schemas.microsoft.com/office/drawing/2014/main" id="{FD903ECE-5318-4067-93A7-863A37245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9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9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9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9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9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9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9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9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9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9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9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0">
                <a:solidFill>
                  <a:srgbClr val="23344F"/>
                </a:solidFill>
                <a:latin typeface="Arial"/>
                <a:ea typeface="Arial"/>
                <a:cs typeface="Arial"/>
              </a:rPr>
              <a:t>590 dialogue turns</a:t>
            </a:r>
            <a:endParaRPr sz="2925"/>
          </a:p>
        </p:txBody>
      </p:sp>
      <p:sp>
        <p:nvSpPr>
          <p:cNvPr id="59" name="Slide3_Object59">
            <a:extLst xmlns:a="http://schemas.openxmlformats.org/drawingml/2006/main">
              <a:ext uri="{FF2B5EF4-FFF2-40B4-BE49-F238E27FC236}">
                <a16:creationId xmlns:a16="http://schemas.microsoft.com/office/drawing/2014/main" id="{EE50F78D-2A6F-4579-A154-E2AF02C8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90825"/>
            <a:ext cx="4191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9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9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9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9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9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9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9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9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9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9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23344F"/>
                </a:solidFill>
                <a:latin typeface="Arial"/>
                <a:ea typeface="Arial"/>
                <a:cs typeface="Arial"/>
              </a:rPr>
              <a:t>25 participants and 25 survey rows</a:t>
            </a:r>
            <a:endParaRPr sz="1800"/>
          </a:p>
        </p:txBody>
      </p:sp>
      <p:sp>
        <p:nvSpPr>
          <p:cNvPr id="60" name="Slide3_Object60">
            <a:extLst xmlns:a="http://schemas.openxmlformats.org/drawingml/2006/main">
              <a:ext uri="{FF2B5EF4-FFF2-40B4-BE49-F238E27FC236}">
                <a16:creationId xmlns:a16="http://schemas.microsoft.com/office/drawing/2014/main" id="{DE19DF84-41D8-4F91-8168-8094998E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62325"/>
            <a:ext cx="4191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0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0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0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0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0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0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0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0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0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0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23344F"/>
                </a:solidFill>
                <a:latin typeface="Arial"/>
                <a:ea typeface="Arial"/>
                <a:cs typeface="Arial"/>
              </a:rPr>
              <a:t>Interaction process and individual experience</a:t>
            </a:r>
            <a:endParaRPr sz="1425"/>
          </a:p>
        </p:txBody>
      </p:sp>
      <p:sp>
        <p:nvSpPr>
          <p:cNvPr id="61" name="Slide3_Object61">
            <a:extLst xmlns:a="http://schemas.openxmlformats.org/drawingml/2006/main">
              <a:ext uri="{FF2B5EF4-FFF2-40B4-BE49-F238E27FC236}">
                <a16:creationId xmlns:a16="http://schemas.microsoft.com/office/drawing/2014/main" id="{AF535966-855D-404D-90CE-1D29E5E71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3857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75" b="0">
                <a:solidFill>
                  <a:srgbClr val="23344F"/>
                </a:solidFill>
                <a:latin typeface="Arial"/>
                <a:ea typeface="Arial"/>
                <a:cs typeface="Arial"/>
              </a:rPr>
              <a:t>Turn duration, user feedback, observer ratings</a:t>
            </a:r>
            <a:endParaRPr sz="1375"/>
          </a:p>
        </p:txBody>
      </p:sp>
      <p:sp>
        <p:nvSpPr>
          <p:cNvPr id="62" name="Slide3_Object62">
            <a:extLst xmlns:a="http://schemas.openxmlformats.org/drawingml/2006/main">
              <a:ext uri="{FF2B5EF4-FFF2-40B4-BE49-F238E27FC236}">
                <a16:creationId xmlns:a16="http://schemas.microsoft.com/office/drawing/2014/main" id="{27159CEB-92F6-4B62-B013-3A914372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695450"/>
            <a:ext cx="5619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1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1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1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1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1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1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1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1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1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00" b="0">
                <a:solidFill>
                  <a:srgbClr val="23344F"/>
                </a:solidFill>
                <a:latin typeface="Arial"/>
                <a:ea typeface="Arial"/>
                <a:cs typeface="Arial"/>
              </a:rPr>
              <a:t>Nine supplementary CSVs: 61 aggregate rows</a:t>
            </a:r>
            <a:endParaRPr sz="1900"/>
          </a:p>
        </p:txBody>
      </p:sp>
      <p:sp>
        <p:nvSpPr>
          <p:cNvPr id="63" name="Slide3_Object63">
            <a:extLst xmlns:a="http://schemas.openxmlformats.org/drawingml/2006/main">
              <a:ext uri="{FF2B5EF4-FFF2-40B4-BE49-F238E27FC236}">
                <a16:creationId xmlns:a16="http://schemas.microsoft.com/office/drawing/2014/main" id="{F84D6589-A70C-4561-95A6-AB7D8F21E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266950"/>
            <a:ext cx="523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23344F"/>
                </a:solidFill>
                <a:latin typeface="Arial"/>
                <a:ea typeface="Arial"/>
                <a:cs typeface="Arial"/>
              </a:rPr>
              <a:t>1 file</a:t>
            </a:r>
            <a:endParaRPr sz="1650"/>
          </a:p>
        </p:txBody>
      </p:sp>
      <p:sp>
        <p:nvSpPr>
          <p:cNvPr id="64" name="Slide3_Object64">
            <a:extLst xmlns:a="http://schemas.openxmlformats.org/drawingml/2006/main">
              <a:ext uri="{FF2B5EF4-FFF2-40B4-BE49-F238E27FC236}">
                <a16:creationId xmlns:a16="http://schemas.microsoft.com/office/drawing/2014/main" id="{4032AD66-590A-4B07-9DFB-8D941E1BB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2669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23344F"/>
                </a:solidFill>
                <a:latin typeface="Arial"/>
                <a:ea typeface="Arial"/>
                <a:cs typeface="Arial"/>
              </a:rPr>
              <a:t>Population projection</a:t>
            </a:r>
            <a:endParaRPr sz="1800"/>
          </a:p>
        </p:txBody>
      </p:sp>
      <p:sp>
        <p:nvSpPr>
          <p:cNvPr id="65" name="Slide3_Object65">
            <a:extLst xmlns:a="http://schemas.openxmlformats.org/drawingml/2006/main">
              <a:ext uri="{FF2B5EF4-FFF2-40B4-BE49-F238E27FC236}">
                <a16:creationId xmlns:a16="http://schemas.microsoft.com/office/drawing/2014/main" id="{E3FE9190-C84F-4DD1-B08F-A870BD5C6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58127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3344F"/>
                </a:solidFill>
                <a:latin typeface="Arial"/>
                <a:ea typeface="Arial"/>
                <a:cs typeface="Arial"/>
              </a:rPr>
              <a:t>Research context</a:t>
            </a:r>
            <a:endParaRPr sz="1725"/>
          </a:p>
        </p:txBody>
      </p:sp>
      <p:sp>
        <p:nvSpPr>
          <p:cNvPr id="66" name="Slide3_Object66">
            <a:extLst xmlns:a="http://schemas.openxmlformats.org/drawingml/2006/main">
              <a:ext uri="{FF2B5EF4-FFF2-40B4-BE49-F238E27FC236}">
                <a16:creationId xmlns:a16="http://schemas.microsoft.com/office/drawing/2014/main" id="{823156F7-763C-4D81-AD65-0323655BA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914650"/>
            <a:ext cx="523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3344F"/>
                </a:solidFill>
                <a:latin typeface="Arial"/>
                <a:ea typeface="Arial"/>
                <a:cs typeface="Arial"/>
              </a:rPr>
              <a:t>6 files</a:t>
            </a:r>
            <a:endParaRPr sz="1350"/>
          </a:p>
        </p:txBody>
      </p:sp>
      <p:sp>
        <p:nvSpPr>
          <p:cNvPr id="67" name="Slide3_Object67">
            <a:extLst xmlns:a="http://schemas.openxmlformats.org/drawingml/2006/main">
              <a:ext uri="{FF2B5EF4-FFF2-40B4-BE49-F238E27FC236}">
                <a16:creationId xmlns:a16="http://schemas.microsoft.com/office/drawing/2014/main" id="{80CC01B0-0300-4138-A5D4-8B78F9D16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9146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23344F"/>
                </a:solidFill>
                <a:latin typeface="Arial"/>
                <a:ea typeface="Arial"/>
                <a:cs typeface="Arial"/>
              </a:rPr>
              <a:t>ElliQ, PIO, PARO and Hyodol</a:t>
            </a:r>
            <a:endParaRPr sz="1800"/>
          </a:p>
        </p:txBody>
      </p:sp>
      <p:sp>
        <p:nvSpPr>
          <p:cNvPr id="68" name="Slide3_Object68">
            <a:extLst xmlns:a="http://schemas.openxmlformats.org/drawingml/2006/main">
              <a:ext uri="{FF2B5EF4-FFF2-40B4-BE49-F238E27FC236}">
                <a16:creationId xmlns:a16="http://schemas.microsoft.com/office/drawing/2014/main" id="{F4CCE3F8-76AF-419D-BD8A-FF320CB6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22897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3344F"/>
                </a:solidFill>
                <a:latin typeface="Arial"/>
                <a:ea typeface="Arial"/>
                <a:cs typeface="Arial"/>
              </a:rPr>
              <a:t>Use, outcomes and continued use</a:t>
            </a:r>
            <a:endParaRPr sz="1725"/>
          </a:p>
        </p:txBody>
      </p:sp>
      <p:sp>
        <p:nvSpPr>
          <p:cNvPr id="69" name="Slide3_Object69">
            <a:extLst xmlns:a="http://schemas.openxmlformats.org/drawingml/2006/main">
              <a:ext uri="{FF2B5EF4-FFF2-40B4-BE49-F238E27FC236}">
                <a16:creationId xmlns:a16="http://schemas.microsoft.com/office/drawing/2014/main" id="{9A43D38E-4775-445E-B508-C1F095815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562350"/>
            <a:ext cx="523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3344F"/>
                </a:solidFill>
                <a:latin typeface="Arial"/>
                <a:ea typeface="Arial"/>
                <a:cs typeface="Arial"/>
              </a:rPr>
              <a:t>2 files</a:t>
            </a:r>
            <a:endParaRPr sz="1350"/>
          </a:p>
        </p:txBody>
      </p:sp>
      <p:sp>
        <p:nvSpPr>
          <p:cNvPr id="70" name="Slide3_Object70">
            <a:extLst xmlns:a="http://schemas.openxmlformats.org/drawingml/2006/main">
              <a:ext uri="{FF2B5EF4-FFF2-40B4-BE49-F238E27FC236}">
                <a16:creationId xmlns:a16="http://schemas.microsoft.com/office/drawing/2014/main" id="{41BCC332-0CA1-4291-938A-C899EFCDF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5623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23344F"/>
                </a:solidFill>
                <a:latin typeface="Arial"/>
                <a:ea typeface="Arial"/>
                <a:cs typeface="Arial"/>
              </a:rPr>
              <a:t>Hobbit and IC3 fraud data</a:t>
            </a:r>
            <a:endParaRPr sz="1800"/>
          </a:p>
        </p:txBody>
      </p:sp>
      <p:sp>
        <p:nvSpPr>
          <p:cNvPr id="71" name="Slide3_Object71">
            <a:extLst xmlns:a="http://schemas.openxmlformats.org/drawingml/2006/main">
              <a:ext uri="{FF2B5EF4-FFF2-40B4-BE49-F238E27FC236}">
                <a16:creationId xmlns:a16="http://schemas.microsoft.com/office/drawing/2014/main" id="{C7B9ED77-DB33-41BD-A2CE-6129B866C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87667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3344F"/>
                </a:solidFill>
                <a:latin typeface="Arial"/>
                <a:ea typeface="Arial"/>
                <a:cs typeface="Arial"/>
              </a:rPr>
              <a:t>Function availability and safety scenarios</a:t>
            </a:r>
            <a:endParaRPr sz="1725"/>
          </a:p>
        </p:txBody>
      </p:sp>
      <p:sp>
        <p:nvSpPr>
          <p:cNvPr id="72" name="Slide3_Object72">
            <a:extLst xmlns:a="http://schemas.openxmlformats.org/drawingml/2006/main">
              <a:ext uri="{FF2B5EF4-FFF2-40B4-BE49-F238E27FC236}">
                <a16:creationId xmlns:a16="http://schemas.microsoft.com/office/drawing/2014/main" id="{9312A28A-22D3-4140-8F79-E6AD95372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524375"/>
            <a:ext cx="342900" cy="323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76F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Slide3_Object73">
            <a:extLst xmlns:a="http://schemas.openxmlformats.org/drawingml/2006/main">
              <a:ext uri="{FF2B5EF4-FFF2-40B4-BE49-F238E27FC236}">
                <a16:creationId xmlns:a16="http://schemas.microsoft.com/office/drawing/2014/main" id="{D5287DEC-DE68-43EC-9787-27B102B7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524375"/>
            <a:ext cx="342900" cy="323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76F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Slide3_Object74">
            <a:extLst xmlns:a="http://schemas.openxmlformats.org/drawingml/2006/main">
              <a:ext uri="{FF2B5EF4-FFF2-40B4-BE49-F238E27FC236}">
                <a16:creationId xmlns:a16="http://schemas.microsoft.com/office/drawing/2014/main" id="{99959C07-1DDF-43E8-A845-77F0FF86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00625"/>
            <a:ext cx="11087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Slide3_Object75">
            <a:extLst xmlns:a="http://schemas.openxmlformats.org/drawingml/2006/main">
              <a:ext uri="{FF2B5EF4-FFF2-40B4-BE49-F238E27FC236}">
                <a16:creationId xmlns:a16="http://schemas.microsoft.com/office/drawing/2014/main" id="{17EF9003-DBE2-4139-864B-8C9FE8A5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95875"/>
            <a:ext cx="10706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7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17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17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17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17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17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17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17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17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17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17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23344F"/>
                </a:solidFill>
                <a:latin typeface="Arial"/>
                <a:ea typeface="Arial"/>
                <a:cs typeface="Arial"/>
              </a:rPr>
              <a:t>Synthesis: interaction controls, support scenarios and a four-week pilot</a:t>
            </a:r>
            <a:endParaRPr sz="2175"/>
          </a:p>
        </p:txBody>
      </p:sp>
      <p:sp>
        <p:nvSpPr>
          <p:cNvPr id="76" name="Slide3_Object76">
            <a:extLst xmlns:a="http://schemas.openxmlformats.org/drawingml/2006/main">
              <a:ext uri="{FF2B5EF4-FFF2-40B4-BE49-F238E27FC236}">
                <a16:creationId xmlns:a16="http://schemas.microsoft.com/office/drawing/2014/main" id="{5BDDE818-896B-4C77-8116-6442C5E4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91200"/>
            <a:ext cx="11087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3344F"/>
                </a:solidFill>
                <a:latin typeface="Arial"/>
                <a:ea typeface="Arial"/>
                <a:cs typeface="Arial"/>
              </a:rPr>
              <a:t>Analyse each source separately. Supplementary CSVs do not add HRI CUES participants.</a:t>
            </a:r>
            <a:endParaRPr sz="1725"/>
          </a:p>
        </p:txBody>
      </p:sp>
      <p:sp>
        <p:nvSpPr>
          <p:cNvPr id="77" name="Slide3_Object77">
            <a:extLst xmlns:a="http://schemas.openxmlformats.org/drawingml/2006/main">
              <a:ext uri="{FF2B5EF4-FFF2-40B4-BE49-F238E27FC236}">
                <a16:creationId xmlns:a16="http://schemas.microsoft.com/office/drawing/2014/main" id="{233CBA1A-E5F7-4FE4-810E-6750ADEB5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11087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C34D22"/>
                </a:solidFill>
                <a:latin typeface="Arial"/>
                <a:ea typeface="Arial"/>
                <a:cs typeface="Arial"/>
              </a:rPr>
              <a:t>The meaning of each row determines how we interpret a comparison.</a:t>
            </a: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8348127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5" name="text-0">
            <a:extLst xmlns:a="http://schemas.openxmlformats.org/drawingml/2006/main">
              <a:ext uri="{FF2B5EF4-FFF2-40B4-BE49-F238E27FC236}">
                <a16:creationId xmlns:a16="http://schemas.microsoft.com/office/drawing/2014/main" id="{7E635083-6E24-4BCA-9063-224C0516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"/>
            <a:ext cx="11087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5365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3000" b="1">
                <a:solidFill>
                  <a:srgbClr val="15365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 u="none" strike="noStrike">
                <a:solidFill>
                  <a:srgbClr val="15365C"/>
                </a:solidFill>
                <a:latin typeface="Arial"/>
                <a:ea typeface="Arial"/>
                <a:cs typeface="Arial"/>
              </a:rPr>
              <a:t>590 turns come from 25 people</a:t>
            </a:r>
            <a:endParaRPr sz="3000"/>
          </a:p>
        </p:txBody>
      </p:sp>
      <p:sp>
        <p:nvSpPr>
          <p:cNvPr id="126" name="text-1">
            <a:extLst xmlns:a="http://schemas.openxmlformats.org/drawingml/2006/main">
              <a:ext uri="{FF2B5EF4-FFF2-40B4-BE49-F238E27FC236}">
                <a16:creationId xmlns:a16="http://schemas.microsoft.com/office/drawing/2014/main" id="{D7D6867A-0644-4DB1-96F0-763B2B982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43675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 u="none" strike="noStrike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text-2">
            <a:extLst xmlns:a="http://schemas.openxmlformats.org/drawingml/2006/main">
              <a:ext uri="{FF2B5EF4-FFF2-40B4-BE49-F238E27FC236}">
                <a16:creationId xmlns:a16="http://schemas.microsoft.com/office/drawing/2014/main" id="{55DA7984-F2A9-44D1-83B7-E527CD3E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641" y="6553105"/>
            <a:ext cx="5714619" cy="209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 u="none" strike="noStrike">
                <a:solidFill>
                  <a:srgbClr val="64748B"/>
                </a:solidFill>
                <a:latin typeface="Arial"/>
                <a:ea typeface="Arial"/>
                <a:cs typeface="Arial"/>
              </a:rPr>
              <a:t>Report p. 4</a:t>
            </a:r>
            <a:endParaRPr sz="1050"/>
          </a:p>
        </p:txBody>
      </p:sp>
      <p:graphicFrame>
        <p:nvGraphicFramePr>
          <p:cNvPr id="128" name="Slide4_Object128">
            <a:extLst xmlns:a="http://schemas.openxmlformats.org/drawingml/2006/main">
              <a:ext uri="{FF2B5EF4-FFF2-40B4-BE49-F238E27FC236}">
                <a16:creationId xmlns:a16="http://schemas.microsoft.com/office/drawing/2014/main" id="{469A173C-0890-4C51-A105-5FEBA7B2CD45}"/>
              </a:ext>
            </a:extLst>
          </p:cNvPr>
          <p:cNvGraphicFramePr/>
          <p:nvPr/>
        </p:nvGraphicFramePr>
        <p:xfrm>
          <a:off xmlns:a="http://schemas.openxmlformats.org/drawingml/2006/main" x="571680" y="1571760"/>
          <a:ext xmlns:a="http://schemas.openxmlformats.org/drawingml/2006/main" cx="10953360" cy="27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76600"/>
                <a:gridCol w="1428480"/>
                <a:gridCol w="5047920"/>
              </a:tblGrid>
              <a:tr h="678600">
                <a:tc>
                  <a:txBody>
                    <a:bodyPr anchor="t">
                      <a:no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600" b="1" u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Dataset</a:t>
                      </a:r>
                      <a:endParaRPr sz="1600"/>
                    </a:p>
                  </a:txBody>
                  <a:tcPr marL="91440" marR="91440" marT="45720" marB="45720" anchor="t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solidFill>
                      <a:srgbClr val="276F8A"/>
                    </a:solidFill>
                  </a:tcPr>
                </a:tc>
                <a:tc>
                  <a:txBody>
                    <a:bodyPr anchor="t">
                      <a:no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600" b="1" u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Rows</a:t>
                      </a:r>
                      <a:endParaRPr sz="1600"/>
                    </a:p>
                  </a:txBody>
                  <a:tcPr marL="91440" marR="91440" marT="45720" marB="45720" anchor="t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solidFill>
                      <a:srgbClr val="276F8A"/>
                    </a:solidFill>
                  </a:tcPr>
                </a:tc>
                <a:tc>
                  <a:txBody>
                    <a:bodyPr anchor="t">
                      <a:no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600" b="1" u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One row represents</a:t>
                      </a:r>
                      <a:endParaRPr sz="1600"/>
                    </a:p>
                  </a:txBody>
                  <a:tcPr marL="91440" marR="91440" marT="45720" marB="45720" anchor="t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solidFill>
                      <a:srgbClr val="276F8A"/>
                    </a:solidFill>
                  </a:tcPr>
                </a:tc>
              </a:tr>
              <a:tr h="678600">
                <a:tc>
                  <a:txBody>
                    <a:bodyPr anchor="t">
                      <a:no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600" b="0" u="none" strike="noStrike">
                          <a:solidFill>
                            <a:srgbClr val="23344F"/>
                          </a:solidFill>
                          <a:latin typeface="Arial"/>
                          <a:ea typeface="Arial"/>
                          <a:cs typeface="Arial"/>
                        </a:rPr>
                        <a:t>HRI CUES turns</a:t>
                      </a:r>
                      <a:endParaRPr sz="1600"/>
                    </a:p>
                  </a:txBody>
                  <a:tcPr marL="91440" marR="91440" marT="45720" marB="45720" anchor="t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solidFill>
                      <a:srgbClr val="F0F7F8"/>
                    </a:solidFill>
                  </a:tcPr>
                </a:tc>
                <a:tc>
                  <a:txBody>
                    <a:bodyPr anchor="t">
                      <a:no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600" b="0" u="none" strike="noStrike">
                          <a:solidFill>
                            <a:srgbClr val="23344F"/>
                          </a:solidFill>
                          <a:latin typeface="Arial"/>
                          <a:ea typeface="Arial"/>
                          <a:cs typeface="Arial"/>
                        </a:rPr>
                        <a:t>590</a:t>
                      </a:r>
                      <a:endParaRPr sz="1600"/>
                    </a:p>
                  </a:txBody>
                  <a:tcPr marL="91440" marR="91440" marT="45720" marB="45720" anchor="t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solidFill>
                      <a:srgbClr val="F0F7F8"/>
                    </a:solidFill>
                  </a:tcPr>
                </a:tc>
                <a:tc>
                  <a:txBody>
                    <a:bodyPr anchor="t">
                      <a:no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600" b="0" u="none" strike="noStrike">
                          <a:solidFill>
                            <a:srgbClr val="23344F"/>
                          </a:solidFill>
                          <a:latin typeface="Arial"/>
                          <a:ea typeface="Arial"/>
                          <a:cs typeface="Arial"/>
                        </a:rPr>
                        <a:t>One dialogue turn</a:t>
                      </a:r>
                      <a:endParaRPr sz="1600"/>
                    </a:p>
                  </a:txBody>
                  <a:tcPr marL="91440" marR="91440" marT="45720" marB="45720" anchor="t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solidFill>
                      <a:srgbClr val="F0F7F8"/>
                    </a:solidFill>
                  </a:tcPr>
                </a:tc>
              </a:tr>
              <a:tr h="678600">
                <a:tc>
                  <a:txBody>
                    <a:bodyPr anchor="t">
                      <a:no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600" b="0" u="none" strike="noStrike">
                          <a:solidFill>
                            <a:srgbClr val="23344F"/>
                          </a:solidFill>
                          <a:latin typeface="Arial"/>
                          <a:ea typeface="Arial"/>
                          <a:cs typeface="Arial"/>
                        </a:rPr>
                        <a:t>HRI CUES survey</a:t>
                      </a:r>
                      <a:endParaRPr sz="1600"/>
                    </a:p>
                  </a:txBody>
                  <a:tcPr marL="91440" marR="91440" marT="45720" marB="45720" anchor="t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600" b="0" u="none" strike="noStrike">
                          <a:solidFill>
                            <a:srgbClr val="23344F"/>
                          </a:solidFill>
                          <a:latin typeface="Arial"/>
                          <a:ea typeface="Arial"/>
                          <a:cs typeface="Arial"/>
                        </a:rPr>
                        <a:t>25</a:t>
                      </a:r>
                      <a:endParaRPr sz="1600"/>
                    </a:p>
                  </a:txBody>
                  <a:tcPr marL="91440" marR="91440" marT="45720" marB="45720" anchor="t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600" b="0" u="none" strike="noStrike">
                          <a:solidFill>
                            <a:srgbClr val="23344F"/>
                          </a:solidFill>
                          <a:latin typeface="Arial"/>
                          <a:ea typeface="Arial"/>
                          <a:cs typeface="Arial"/>
                        </a:rPr>
                        <a:t>One participant</a:t>
                      </a:r>
                      <a:endParaRPr sz="1600"/>
                    </a:p>
                  </a:txBody>
                  <a:tcPr marL="91440" marR="91440" marT="45720" marB="45720" anchor="t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8600">
                <a:tc>
                  <a:txBody>
                    <a:bodyPr anchor="t">
                      <a:no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600" b="0" u="none" strike="noStrike">
                          <a:solidFill>
                            <a:srgbClr val="23344F"/>
                          </a:solidFill>
                          <a:latin typeface="Arial"/>
                          <a:ea typeface="Arial"/>
                          <a:cs typeface="Arial"/>
                        </a:rPr>
                        <a:t>Nine supplementary CSVs</a:t>
                      </a:r>
                      <a:endParaRPr sz="1600"/>
                    </a:p>
                  </a:txBody>
                  <a:tcPr marL="91440" marR="91440" marT="45720" marB="45720" anchor="t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solidFill>
                      <a:srgbClr val="F0F7F8"/>
                    </a:solidFill>
                  </a:tcPr>
                </a:tc>
                <a:tc>
                  <a:txBody>
                    <a:bodyPr anchor="t">
                      <a:no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600" b="0" u="none" strike="noStrike">
                          <a:solidFill>
                            <a:srgbClr val="23344F"/>
                          </a:solidFill>
                          <a:latin typeface="Arial"/>
                          <a:ea typeface="Arial"/>
                          <a:cs typeface="Arial"/>
                        </a:rPr>
                        <a:t>61</a:t>
                      </a:r>
                      <a:endParaRPr sz="1600"/>
                    </a:p>
                  </a:txBody>
                  <a:tcPr marL="91440" marR="91440" marT="45720" marB="45720" anchor="t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solidFill>
                      <a:srgbClr val="F0F7F8"/>
                    </a:solidFill>
                  </a:tcPr>
                </a:tc>
                <a:tc>
                  <a:txBody>
                    <a:bodyPr anchor="t">
                      <a:no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600" b="0" u="none" strike="noStrike">
                          <a:solidFill>
                            <a:srgbClr val="23344F"/>
                          </a:solidFill>
                          <a:latin typeface="Arial"/>
                          <a:ea typeface="Arial"/>
                          <a:cs typeface="Arial"/>
                        </a:rPr>
                        <a:t>A published category or group-time point</a:t>
                      </a:r>
                      <a:endParaRPr sz="1600"/>
                    </a:p>
                  </a:txBody>
                  <a:tcPr marL="91440" marR="91440" marT="45720" marB="45720" anchor="t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solidFill>
                      <a:srgbClr val="F0F7F8"/>
                    </a:solidFill>
                  </a:tcPr>
                </a:tc>
              </a:tr>
            </a:tbl>
          </a:graphicData>
        </a:graphic>
      </p:graphicFrame>
      <p:sp>
        <p:nvSpPr>
          <p:cNvPr id="129" name="text-3">
            <a:extLst xmlns:a="http://schemas.openxmlformats.org/drawingml/2006/main">
              <a:ext uri="{FF2B5EF4-FFF2-40B4-BE49-F238E27FC236}">
                <a16:creationId xmlns:a16="http://schemas.microsoft.com/office/drawing/2014/main" id="{955CACA7-1BCF-4E97-AEFE-A41A0761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10200"/>
            <a:ext cx="1076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1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1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1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1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1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1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1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1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1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21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u="none" strike="noStrike">
                <a:solidFill>
                  <a:srgbClr val="276F8A"/>
                </a:solidFill>
                <a:latin typeface="Arial"/>
                <a:ea typeface="Arial"/>
                <a:cs typeface="Arial"/>
              </a:rPr>
              <a:t>590 turns come from 25 participants. Summaries must account for repeated observations.</a:t>
            </a:r>
            <a:endParaRPr sz="1800"/>
          </a:p>
        </p:txBody>
      </p:sp>
      <p:sp>
        <p:nvSpPr>
          <p:cNvPr id="130" name="Slide4_Object130">
            <a:extLst xmlns:a="http://schemas.openxmlformats.org/drawingml/2006/main">
              <a:ext uri="{FF2B5EF4-FFF2-40B4-BE49-F238E27FC236}">
                <a16:creationId xmlns:a16="http://schemas.microsoft.com/office/drawing/2014/main" id="{99789D8A-BE82-4812-B7B8-EFD968914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9775"/>
            <a:ext cx="11087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C34D22"/>
                </a:solidFill>
                <a:latin typeface="Arial"/>
                <a:ea typeface="Arial"/>
                <a:cs typeface="Arial"/>
              </a:rPr>
              <a:t>After defining each row, check and prepare the data.</a:t>
            </a:r>
            <a:endParaRPr sz="1800"/>
          </a:p>
        </p:txBody>
      </p:sp>
      <p:sp>
        <p:nvSpPr>
          <p:cNvPr id="131" name="Slide4_Object131">
            <a:extLst xmlns:a="http://schemas.openxmlformats.org/drawingml/2006/main">
              <a:ext uri="{FF2B5EF4-FFF2-40B4-BE49-F238E27FC236}">
                <a16:creationId xmlns:a16="http://schemas.microsoft.com/office/drawing/2014/main" id="{F48C2FFC-E37E-4A3F-842B-DACCCBFA4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10075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23344F"/>
                </a:solidFill>
                <a:latin typeface="Arial"/>
                <a:ea typeface="Arial"/>
                <a:cs typeface="Arial"/>
              </a:rPr>
              <a:t>HRI CUES in full</a:t>
            </a:r>
            <a:endParaRPr sz="1800"/>
          </a:p>
        </p:txBody>
      </p:sp>
      <p:sp>
        <p:nvSpPr>
          <p:cNvPr id="132" name="Slide4_Object132">
            <a:extLst xmlns:a="http://schemas.openxmlformats.org/drawingml/2006/main">
              <a:ext uri="{FF2B5EF4-FFF2-40B4-BE49-F238E27FC236}">
                <a16:creationId xmlns:a16="http://schemas.microsoft.com/office/drawing/2014/main" id="{92EAE8ED-B4C3-48CF-9ECE-448C2A5B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33925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rPr>
              <a:t>Human-Robot Interaction Conversational User Enjoyment Scale</a:t>
            </a:r>
          </a:p>
        </p:txBody>
      </p:sp>
      <p:sp>
        <p:nvSpPr>
          <p:cNvPr id="133" name="Slide4_Object133">
            <a:extLst xmlns:a="http://schemas.openxmlformats.org/drawingml/2006/main">
              <a:ext uri="{FF2B5EF4-FFF2-40B4-BE49-F238E27FC236}">
                <a16:creationId xmlns:a16="http://schemas.microsoft.com/office/drawing/2014/main" id="{54AED554-DF91-47C3-8B7E-0AED7D43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673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7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7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7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7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7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7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7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7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7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3344F"/>
                </a:solidFill>
                <a:latin typeface="Arial"/>
                <a:ea typeface="Arial"/>
                <a:cs typeface="Arial"/>
              </a:rPr>
              <a:t>Observer assessment of enjoyment during robot conversations</a:t>
            </a:r>
            <a:endParaRPr sz="1725"/>
          </a:p>
        </p:txBody>
      </p:sp>
      <p:sp>
        <p:nvSpPr>
          <p:cNvPr id="134" name="Slide4_Object134">
            <a:extLst xmlns:a="http://schemas.openxmlformats.org/drawingml/2006/main">
              <a:ext uri="{FF2B5EF4-FFF2-40B4-BE49-F238E27FC236}">
                <a16:creationId xmlns:a16="http://schemas.microsoft.com/office/drawing/2014/main" id="{71C44E15-E59B-431B-8C6E-783D753C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781050"/>
            <a:ext cx="1762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2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2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2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2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2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2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2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2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2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2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2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76F8A"/>
                </a:solidFill>
                <a:latin typeface="Arial"/>
                <a:ea typeface="Arial"/>
                <a:cs typeface="Arial"/>
              </a:rPr>
              <a:t>HRI CUES main dataset</a:t>
            </a:r>
            <a:endParaRPr sz="1125"/>
          </a:p>
        </p:txBody>
      </p:sp>
    </p:spTree>
    <p:extLst>
      <p:ext uri="{BB962C8B-B14F-4D97-AF65-F5344CB8AC3E}">
        <p14:creationId xmlns:p14="http://schemas.microsoft.com/office/powerpoint/2010/main" val="1482320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0" name="text-0">
            <a:extLst xmlns:a="http://schemas.openxmlformats.org/drawingml/2006/main">
              <a:ext uri="{FF2B5EF4-FFF2-40B4-BE49-F238E27FC236}">
                <a16:creationId xmlns:a16="http://schemas.microsoft.com/office/drawing/2014/main" id="{1ADA8E2C-FCD0-43C6-9315-32261DE62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600" y="361800"/>
            <a:ext cx="11048760" cy="71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3150" b="1" u="none" strike="noStrike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rPr>
              <a:t/>
            </a:r>
            <a:endParaRPr sz="31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text-1">
            <a:extLst xmlns:a="http://schemas.openxmlformats.org/drawingml/2006/main">
              <a:ext uri="{FF2B5EF4-FFF2-40B4-BE49-F238E27FC236}">
                <a16:creationId xmlns:a16="http://schemas.microsoft.com/office/drawing/2014/main" id="{B59267BE-7E46-40D7-8A89-D6905CA16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43675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2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 u="none" strike="noStrike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/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text-2">
            <a:extLst xmlns:a="http://schemas.openxmlformats.org/drawingml/2006/main">
              <a:ext uri="{FF2B5EF4-FFF2-40B4-BE49-F238E27FC236}">
                <a16:creationId xmlns:a16="http://schemas.microsoft.com/office/drawing/2014/main" id="{5557DD25-17D0-4633-80AF-8C892F258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600" y="6553080"/>
            <a:ext cx="571464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0" u="none" strike="noStrike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/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text-3">
            <a:extLst xmlns:a="http://schemas.openxmlformats.org/drawingml/2006/main">
              <a:ext uri="{FF2B5EF4-FFF2-40B4-BE49-F238E27FC236}">
                <a16:creationId xmlns:a16="http://schemas.microsoft.com/office/drawing/2014/main" id="{F5ABA4EE-210F-4174-A84C-292125011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200" y="1619280"/>
            <a:ext cx="3142800" cy="57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250" b="1" u="none" strike="noStrike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rPr>
              <a:t/>
            </a:r>
            <a:endParaRPr sz="22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text-4">
            <a:extLst xmlns:a="http://schemas.openxmlformats.org/drawingml/2006/main">
              <a:ext uri="{FF2B5EF4-FFF2-40B4-BE49-F238E27FC236}">
                <a16:creationId xmlns:a16="http://schemas.microsoft.com/office/drawing/2014/main" id="{E4C2AE8E-15C8-435B-A185-57647264F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200" y="2333520"/>
            <a:ext cx="10667520" cy="1142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170" b="0" u="none" strike="noStrike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rPr>
              <a:t/>
            </a:r>
            <a:endParaRPr sz="217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text-5">
            <a:extLst xmlns:a="http://schemas.openxmlformats.org/drawingml/2006/main">
              <a:ext uri="{FF2B5EF4-FFF2-40B4-BE49-F238E27FC236}">
                <a16:creationId xmlns:a16="http://schemas.microsoft.com/office/drawing/2014/main" id="{CD85437F-39B9-4C0F-B260-1D5D4DAF4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200" y="3714840"/>
            <a:ext cx="3142800" cy="57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250" b="1" u="none" strike="noStrike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rPr>
              <a:t/>
            </a:r>
            <a:endParaRPr sz="22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text-6">
            <a:extLst xmlns:a="http://schemas.openxmlformats.org/drawingml/2006/main">
              <a:ext uri="{FF2B5EF4-FFF2-40B4-BE49-F238E27FC236}">
                <a16:creationId xmlns:a16="http://schemas.microsoft.com/office/drawing/2014/main" id="{ABEF19AD-9FF5-469F-ACB2-7320B2C36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200" y="4429080"/>
            <a:ext cx="10667520" cy="1333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170" b="0" u="none" strike="noStrike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rPr>
              <a:t/>
            </a:r>
            <a:endParaRPr sz="217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Slide5_Object137">
            <a:extLst xmlns:a="http://schemas.openxmlformats.org/drawingml/2006/main">
              <a:ext uri="{FF2B5EF4-FFF2-40B4-BE49-F238E27FC236}">
                <a16:creationId xmlns:a16="http://schemas.microsoft.com/office/drawing/2014/main" id="{DC69D8FB-771E-494F-B1C7-CE7CBEE42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5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</p:txBody>
      </p:sp>
      <p:sp>
        <p:nvSpPr>
          <p:cNvPr id="138" name="Slide5_Object138">
            <a:extLst xmlns:a="http://schemas.openxmlformats.org/drawingml/2006/main">
              <a:ext uri="{FF2B5EF4-FFF2-40B4-BE49-F238E27FC236}">
                <a16:creationId xmlns:a16="http://schemas.microsoft.com/office/drawing/2014/main" id="{CC588628-858D-42D2-905A-BCD43251F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"/>
            <a:ext cx="11087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5365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15365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5365C"/>
                </a:solidFill>
                <a:latin typeface="Arial"/>
                <a:ea typeface="Arial"/>
                <a:cs typeface="Arial"/>
              </a:rPr>
              <a:t>Preparing the data for analysis</a:t>
            </a:r>
            <a:endParaRPr sz="3000"/>
          </a:p>
        </p:txBody>
      </p:sp>
      <p:sp>
        <p:nvSpPr>
          <p:cNvPr id="139" name="Slide5_Object139">
            <a:extLst xmlns:a="http://schemas.openxmlformats.org/drawingml/2006/main">
              <a:ext uri="{FF2B5EF4-FFF2-40B4-BE49-F238E27FC236}">
                <a16:creationId xmlns:a16="http://schemas.microsoft.com/office/drawing/2014/main" id="{E6D34463-6B98-4BE8-B00D-F5919032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24625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Report p. 4</a:t>
            </a:r>
            <a:endParaRPr sz="1050"/>
          </a:p>
        </p:txBody>
      </p:sp>
      <p:sp>
        <p:nvSpPr>
          <p:cNvPr id="140" name="Slide5_Object140">
            <a:extLst xmlns:a="http://schemas.openxmlformats.org/drawingml/2006/main">
              <a:ext uri="{FF2B5EF4-FFF2-40B4-BE49-F238E27FC236}">
                <a16:creationId xmlns:a16="http://schemas.microsoft.com/office/drawing/2014/main" id="{AD08E368-EA4E-49F2-9512-AE21EDC05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246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141" name="Slide5_Object141">
            <a:extLst xmlns:a="http://schemas.openxmlformats.org/drawingml/2006/main">
              <a:ext uri="{FF2B5EF4-FFF2-40B4-BE49-F238E27FC236}">
                <a16:creationId xmlns:a16="http://schemas.microsoft.com/office/drawing/2014/main" id="{D7F7B597-E97C-4D0A-BEA9-2507AA8C9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3371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F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Slide5_Object142">
            <a:extLst xmlns:a="http://schemas.openxmlformats.org/drawingml/2006/main">
              <a:ext uri="{FF2B5EF4-FFF2-40B4-BE49-F238E27FC236}">
                <a16:creationId xmlns:a16="http://schemas.microsoft.com/office/drawing/2014/main" id="{22957230-FA02-4EB4-891C-0E15DC250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190625"/>
            <a:ext cx="30861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Read and check</a:t>
            </a:r>
            <a:endParaRPr sz="2100"/>
          </a:p>
        </p:txBody>
      </p:sp>
      <p:sp>
        <p:nvSpPr>
          <p:cNvPr id="143" name="Slide5_Object143">
            <a:extLst xmlns:a="http://schemas.openxmlformats.org/drawingml/2006/main">
              <a:ext uri="{FF2B5EF4-FFF2-40B4-BE49-F238E27FC236}">
                <a16:creationId xmlns:a16="http://schemas.microsoft.com/office/drawing/2014/main" id="{A16CEAEB-C70F-44EF-9219-A69908A3C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123950"/>
            <a:ext cx="3371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F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Slide5_Object144">
            <a:extLst xmlns:a="http://schemas.openxmlformats.org/drawingml/2006/main">
              <a:ext uri="{FF2B5EF4-FFF2-40B4-BE49-F238E27FC236}">
                <a16:creationId xmlns:a16="http://schemas.microsoft.com/office/drawing/2014/main" id="{FE0CE122-EEDF-42DE-993A-530F20812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190625"/>
            <a:ext cx="30861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 Prepare and calculate</a:t>
            </a:r>
            <a:endParaRPr sz="2050"/>
          </a:p>
        </p:txBody>
      </p:sp>
      <p:sp>
        <p:nvSpPr>
          <p:cNvPr id="145" name="Slide5_Object145">
            <a:extLst xmlns:a="http://schemas.openxmlformats.org/drawingml/2006/main">
              <a:ext uri="{FF2B5EF4-FFF2-40B4-BE49-F238E27FC236}">
                <a16:creationId xmlns:a16="http://schemas.microsoft.com/office/drawing/2014/main" id="{38311F8D-E96A-4E63-892C-E124DBED8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123950"/>
            <a:ext cx="3371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F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Slide5_Object146">
            <a:extLst xmlns:a="http://schemas.openxmlformats.org/drawingml/2006/main">
              <a:ext uri="{FF2B5EF4-FFF2-40B4-BE49-F238E27FC236}">
                <a16:creationId xmlns:a16="http://schemas.microsoft.com/office/drawing/2014/main" id="{BC5EF1DF-9F0D-4791-B692-122102765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190625"/>
            <a:ext cx="30861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 Answer with charts</a:t>
            </a:r>
            <a:endParaRPr sz="2100"/>
          </a:p>
        </p:txBody>
      </p:sp>
      <p:sp>
        <p:nvSpPr>
          <p:cNvPr id="147" name="Slide5_Object147">
            <a:extLst xmlns:a="http://schemas.openxmlformats.org/drawingml/2006/main">
              <a:ext uri="{FF2B5EF4-FFF2-40B4-BE49-F238E27FC236}">
                <a16:creationId xmlns:a16="http://schemas.microsoft.com/office/drawing/2014/main" id="{F1611CFF-F43A-4404-A114-2FC1BBCCC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3371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Slide5_Object148">
            <a:extLst xmlns:a="http://schemas.openxmlformats.org/drawingml/2006/main">
              <a:ext uri="{FF2B5EF4-FFF2-40B4-BE49-F238E27FC236}">
                <a16:creationId xmlns:a16="http://schemas.microsoft.com/office/drawing/2014/main" id="{39434C0D-64AD-49C1-BDFC-59BB170C9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43100"/>
            <a:ext cx="14573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23344F"/>
                </a:solidFill>
                <a:latin typeface="Arial"/>
                <a:ea typeface="Arial"/>
                <a:cs typeface="Arial"/>
              </a:rPr>
              <a:t>Dataset</a:t>
            </a:r>
            <a:endParaRPr sz="1800"/>
          </a:p>
        </p:txBody>
      </p:sp>
      <p:sp>
        <p:nvSpPr>
          <p:cNvPr id="149" name="Slide5_Object149">
            <a:extLst xmlns:a="http://schemas.openxmlformats.org/drawingml/2006/main">
              <a:ext uri="{FF2B5EF4-FFF2-40B4-BE49-F238E27FC236}">
                <a16:creationId xmlns:a16="http://schemas.microsoft.com/office/drawing/2014/main" id="{2EB4E40F-CD80-4509-A940-B2A30172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94310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23344F"/>
                </a:solidFill>
                <a:latin typeface="Arial"/>
                <a:ea typeface="Arial"/>
                <a:cs typeface="Arial"/>
              </a:rPr>
              <a:t>Turns</a:t>
            </a:r>
            <a:endParaRPr sz="1800"/>
          </a:p>
        </p:txBody>
      </p:sp>
      <p:sp>
        <p:nvSpPr>
          <p:cNvPr id="150" name="Slide5_Object150">
            <a:extLst xmlns:a="http://schemas.openxmlformats.org/drawingml/2006/main">
              <a:ext uri="{FF2B5EF4-FFF2-40B4-BE49-F238E27FC236}">
                <a16:creationId xmlns:a16="http://schemas.microsoft.com/office/drawing/2014/main" id="{E403A281-62A5-4EC1-B3E2-E28B3F29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94310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50" b="0">
                <a:solidFill>
                  <a:srgbClr val="23344F"/>
                </a:solidFill>
                <a:latin typeface="Arial"/>
                <a:ea typeface="Arial"/>
                <a:cs typeface="Arial"/>
              </a:rPr>
              <a:t>Survey</a:t>
            </a:r>
            <a:endParaRPr sz="1750"/>
          </a:p>
        </p:txBody>
      </p:sp>
      <p:sp>
        <p:nvSpPr>
          <p:cNvPr id="151" name="Slide5_Object151">
            <a:extLst xmlns:a="http://schemas.openxmlformats.org/drawingml/2006/main">
              <a:ext uri="{FF2B5EF4-FFF2-40B4-BE49-F238E27FC236}">
                <a16:creationId xmlns:a16="http://schemas.microsoft.com/office/drawing/2014/main" id="{E36338E2-AA62-475F-8366-1097FC724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09825"/>
            <a:ext cx="3371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Slide5_Object152">
            <a:extLst xmlns:a="http://schemas.openxmlformats.org/drawingml/2006/main">
              <a:ext uri="{FF2B5EF4-FFF2-40B4-BE49-F238E27FC236}">
                <a16:creationId xmlns:a16="http://schemas.microsoft.com/office/drawing/2014/main" id="{9774780B-6324-4CB0-8157-257E7581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4573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23344F"/>
                </a:solidFill>
                <a:latin typeface="Arial"/>
                <a:ea typeface="Arial"/>
                <a:cs typeface="Arial"/>
              </a:rPr>
              <a:t>Rows</a:t>
            </a:r>
            <a:endParaRPr sz="1800"/>
          </a:p>
        </p:txBody>
      </p:sp>
      <p:sp>
        <p:nvSpPr>
          <p:cNvPr id="153" name="Slide5_Object153">
            <a:extLst xmlns:a="http://schemas.openxmlformats.org/drawingml/2006/main">
              <a:ext uri="{FF2B5EF4-FFF2-40B4-BE49-F238E27FC236}">
                <a16:creationId xmlns:a16="http://schemas.microsoft.com/office/drawing/2014/main" id="{D885BA08-D883-47B9-B126-9EA422243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486025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950" b="1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rPr>
              <a:t>590</a:t>
            </a:r>
          </a:p>
        </p:txBody>
      </p:sp>
      <p:sp>
        <p:nvSpPr>
          <p:cNvPr id="154" name="Slide5_Object154">
            <a:extLst xmlns:a="http://schemas.openxmlformats.org/drawingml/2006/main">
              <a:ext uri="{FF2B5EF4-FFF2-40B4-BE49-F238E27FC236}">
                <a16:creationId xmlns:a16="http://schemas.microsoft.com/office/drawing/2014/main" id="{279B6A3B-16BD-40DB-BA16-BE8A1CAE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486025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950" b="1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rPr>
              <a:t>25</a:t>
            </a:r>
          </a:p>
        </p:txBody>
      </p:sp>
      <p:sp>
        <p:nvSpPr>
          <p:cNvPr id="155" name="Slide5_Object155">
            <a:extLst xmlns:a="http://schemas.openxmlformats.org/drawingml/2006/main">
              <a:ext uri="{FF2B5EF4-FFF2-40B4-BE49-F238E27FC236}">
                <a16:creationId xmlns:a16="http://schemas.microsoft.com/office/drawing/2014/main" id="{718EC7B5-4216-468D-B17F-136062F64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0"/>
            <a:ext cx="3371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" name="Slide5_Object156">
            <a:extLst xmlns:a="http://schemas.openxmlformats.org/drawingml/2006/main">
              <a:ext uri="{FF2B5EF4-FFF2-40B4-BE49-F238E27FC236}">
                <a16:creationId xmlns:a16="http://schemas.microsoft.com/office/drawing/2014/main" id="{2DBBF122-106C-4E52-A7DB-F728F8D98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14573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23344F"/>
                </a:solidFill>
                <a:latin typeface="Arial"/>
                <a:ea typeface="Arial"/>
                <a:cs typeface="Arial"/>
              </a:rPr>
              <a:t>Missing cells</a:t>
            </a:r>
            <a:endParaRPr sz="1800"/>
          </a:p>
        </p:txBody>
      </p:sp>
      <p:sp>
        <p:nvSpPr>
          <p:cNvPr id="157" name="Slide5_Object157">
            <a:extLst xmlns:a="http://schemas.openxmlformats.org/drawingml/2006/main">
              <a:ext uri="{FF2B5EF4-FFF2-40B4-BE49-F238E27FC236}">
                <a16:creationId xmlns:a16="http://schemas.microsoft.com/office/drawing/2014/main" id="{480473B7-1F37-4E6E-B226-1FE68C198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02895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rPr>
              <a:t>0</a:t>
            </a:r>
          </a:p>
        </p:txBody>
      </p:sp>
      <p:sp>
        <p:nvSpPr>
          <p:cNvPr id="158" name="Slide5_Object158">
            <a:extLst xmlns:a="http://schemas.openxmlformats.org/drawingml/2006/main">
              <a:ext uri="{FF2B5EF4-FFF2-40B4-BE49-F238E27FC236}">
                <a16:creationId xmlns:a16="http://schemas.microsoft.com/office/drawing/2014/main" id="{B6767B29-EAF5-42DA-B333-FFD1FFE44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02895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59" name="Slide5_Object159">
            <a:extLst xmlns:a="http://schemas.openxmlformats.org/drawingml/2006/main">
              <a:ext uri="{FF2B5EF4-FFF2-40B4-BE49-F238E27FC236}">
                <a16:creationId xmlns:a16="http://schemas.microsoft.com/office/drawing/2014/main" id="{A036408D-D2E0-4B50-B4B5-2D193ABC3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67125"/>
            <a:ext cx="3371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50" b="0">
                <a:solidFill>
                  <a:srgbClr val="23344F"/>
                </a:solidFill>
                <a:latin typeface="Arial"/>
                <a:ea typeface="Arial"/>
                <a:cs typeface="Arial"/>
              </a:rPr>
              <a:t>Keep P21 satisfaction missing</a:t>
            </a:r>
            <a:endParaRPr sz="1750"/>
          </a:p>
        </p:txBody>
      </p:sp>
      <p:sp>
        <p:nvSpPr>
          <p:cNvPr id="160" name="Slide5_Object160">
            <a:extLst xmlns:a="http://schemas.openxmlformats.org/drawingml/2006/main">
              <a:ext uri="{FF2B5EF4-FFF2-40B4-BE49-F238E27FC236}">
                <a16:creationId xmlns:a16="http://schemas.microsoft.com/office/drawing/2014/main" id="{4BE62585-1BF6-4643-9670-D5B59A4CC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57650"/>
            <a:ext cx="3371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23344F"/>
                </a:solidFill>
                <a:latin typeface="Arial"/>
                <a:ea typeface="Arial"/>
                <a:cs typeface="Arial"/>
              </a:rPr>
              <a:t>24 complete pairs for comparison</a:t>
            </a:r>
            <a:endParaRPr sz="1500"/>
          </a:p>
        </p:txBody>
      </p:sp>
      <p:sp>
        <p:nvSpPr>
          <p:cNvPr id="161" name="Slide5_Object161">
            <a:extLst xmlns:a="http://schemas.openxmlformats.org/drawingml/2006/main">
              <a:ext uri="{FF2B5EF4-FFF2-40B4-BE49-F238E27FC236}">
                <a16:creationId xmlns:a16="http://schemas.microsoft.com/office/drawing/2014/main" id="{49057859-564B-4A30-9ACF-21CB1431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10125"/>
            <a:ext cx="33718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rPr>
              <a:t>read_csv, head, shape</a:t>
            </a:r>
          </a:p>
          <a:p xmlns:a="http://schemas.openxmlformats.org/drawingml/2006/main">
            <a: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rPr>
              <a:t>info, describe</a:t>
            </a:r>
          </a:p>
          <a:p xmlns:a="http://schemas.openxmlformats.org/drawingml/2006/main">
            <a: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rPr>
              <a:t>isna().sum().sum()</a:t>
            </a:r>
          </a:p>
        </p:txBody>
      </p:sp>
      <p:sp>
        <p:nvSpPr>
          <p:cNvPr id="162" name="Slide5_Object162">
            <a:extLst xmlns:a="http://schemas.openxmlformats.org/drawingml/2006/main">
              <a:ext uri="{FF2B5EF4-FFF2-40B4-BE49-F238E27FC236}">
                <a16:creationId xmlns:a16="http://schemas.microsoft.com/office/drawing/2014/main" id="{BC36C4EE-DC7F-4367-B20E-7B4994CF2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067050"/>
            <a:ext cx="2857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6F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Slide5_Object163">
            <a:extLst xmlns:a="http://schemas.openxmlformats.org/drawingml/2006/main">
              <a:ext uri="{FF2B5EF4-FFF2-40B4-BE49-F238E27FC236}">
                <a16:creationId xmlns:a16="http://schemas.microsoft.com/office/drawing/2014/main" id="{D1E29BC0-C59F-4EE1-B536-FC663D4A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76425"/>
            <a:ext cx="3086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7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7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7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7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7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7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7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7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7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7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3344F"/>
                </a:solidFill>
                <a:latin typeface="Arial"/>
                <a:ea typeface="Arial"/>
                <a:cs typeface="Arial"/>
              </a:rPr>
              <a:t>Example: first dialogue turn</a:t>
            </a:r>
            <a:endParaRPr sz="1725"/>
          </a:p>
        </p:txBody>
      </p:sp>
      <p:sp>
        <p:nvSpPr>
          <p:cNvPr id="164" name="Slide5_Object164">
            <a:extLst xmlns:a="http://schemas.openxmlformats.org/drawingml/2006/main">
              <a:ext uri="{FF2B5EF4-FFF2-40B4-BE49-F238E27FC236}">
                <a16:creationId xmlns:a16="http://schemas.microsoft.com/office/drawing/2014/main" id="{1BCD55F4-ABFE-46E1-9480-1E893235E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52675"/>
            <a:ext cx="3086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23344F"/>
                </a:solidFill>
                <a:latin typeface="Arial"/>
                <a:ea typeface="Arial"/>
                <a:cs typeface="Arial"/>
              </a:rPr>
              <a:t>End 00:00:09,270</a:t>
            </a:r>
            <a:endParaRPr sz="1800"/>
          </a:p>
          <a:p xmlns:a="http://schemas.openxmlformats.org/drawingml/2006/main">
            <a: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23344F"/>
                </a:solidFill>
                <a:latin typeface="Arial"/>
                <a:ea typeface="Arial"/>
                <a:cs typeface="Arial"/>
              </a:rPr>
              <a:t>Start 00:00:00,000</a:t>
            </a:r>
            <a:endParaRPr sz="1800"/>
          </a:p>
        </p:txBody>
      </p:sp>
      <p:sp>
        <p:nvSpPr>
          <p:cNvPr id="165" name="Slide5_Object165">
            <a:extLst xmlns:a="http://schemas.openxmlformats.org/drawingml/2006/main">
              <a:ext uri="{FF2B5EF4-FFF2-40B4-BE49-F238E27FC236}">
                <a16:creationId xmlns:a16="http://schemas.microsoft.com/office/drawing/2014/main" id="{3AC18CB2-E08D-471A-87BA-FBEA011D7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09925"/>
            <a:ext cx="30861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Slide5_Object166">
            <a:extLst xmlns:a="http://schemas.openxmlformats.org/drawingml/2006/main">
              <a:ext uri="{FF2B5EF4-FFF2-40B4-BE49-F238E27FC236}">
                <a16:creationId xmlns:a16="http://schemas.microsoft.com/office/drawing/2014/main" id="{2640925D-3E09-4EFC-A243-DA649D01C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286125"/>
            <a:ext cx="2905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0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0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0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0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0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0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0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0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0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0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25" b="0">
                <a:solidFill>
                  <a:srgbClr val="23344F"/>
                </a:solidFill>
                <a:latin typeface="Arial"/>
                <a:ea typeface="Arial"/>
                <a:cs typeface="Arial"/>
              </a:rPr>
              <a:t>Turn duration = 9.27 seconds</a:t>
            </a:r>
            <a:endParaRPr sz="1525"/>
          </a:p>
        </p:txBody>
      </p:sp>
      <p:sp>
        <p:nvSpPr>
          <p:cNvPr id="167" name="Slide5_Object167">
            <a:extLst xmlns:a="http://schemas.openxmlformats.org/drawingml/2006/main">
              <a:ext uri="{FF2B5EF4-FFF2-40B4-BE49-F238E27FC236}">
                <a16:creationId xmlns:a16="http://schemas.microsoft.com/office/drawing/2014/main" id="{37CC2988-5C6E-418E-94BE-3F2F82123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952875"/>
            <a:ext cx="308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7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7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7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7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7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7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7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7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7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7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23344F"/>
                </a:solidFill>
                <a:latin typeface="Arial"/>
                <a:ea typeface="Arial"/>
                <a:cs typeface="Arial"/>
              </a:rPr>
              <a:t>Group by participant and average</a:t>
            </a:r>
            <a:endParaRPr sz="1425"/>
          </a:p>
        </p:txBody>
      </p:sp>
      <p:sp>
        <p:nvSpPr>
          <p:cNvPr id="168" name="Slide5_Object168">
            <a:extLst xmlns:a="http://schemas.openxmlformats.org/drawingml/2006/main">
              <a:ext uri="{FF2B5EF4-FFF2-40B4-BE49-F238E27FC236}">
                <a16:creationId xmlns:a16="http://schemas.microsoft.com/office/drawing/2014/main" id="{5DCAF47D-3C5B-4534-B54F-5DA38E3D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391025"/>
            <a:ext cx="308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7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7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7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7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7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7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7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7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7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7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75" b="0">
                <a:solidFill>
                  <a:srgbClr val="23344F"/>
                </a:solidFill>
                <a:latin typeface="Arial"/>
                <a:ea typeface="Arial"/>
                <a:cs typeface="Arial"/>
              </a:rPr>
              <a:t>Mean: 23.6 turns per person</a:t>
            </a:r>
            <a:endParaRPr sz="1675"/>
          </a:p>
          <a:p xmlns:a="http://schemas.openxmlformats.org/drawingml/2006/main">
            <a:pPr>
              <a:buNone/>
              <a:defRPr sz="187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75" b="0">
                <a:solidFill>
                  <a:srgbClr val="23344F"/>
                </a:solidFill>
                <a:latin typeface="Arial"/>
                <a:ea typeface="Arial"/>
                <a:cs typeface="Arial"/>
              </a:rPr>
              <a:t>Mean: 17.73 seconds per turn</a:t>
            </a:r>
            <a:endParaRPr sz="1675"/>
          </a:p>
        </p:txBody>
      </p:sp>
      <p:sp>
        <p:nvSpPr>
          <p:cNvPr id="169" name="Slide5_Object169">
            <a:extLst xmlns:a="http://schemas.openxmlformats.org/drawingml/2006/main">
              <a:ext uri="{FF2B5EF4-FFF2-40B4-BE49-F238E27FC236}">
                <a16:creationId xmlns:a16="http://schemas.microsoft.com/office/drawing/2014/main" id="{6C5378EE-FA0A-422E-A986-0F37C8234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305425"/>
            <a:ext cx="3086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7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57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57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57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57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57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57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57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57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57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23344F"/>
                </a:solidFill>
                <a:latin typeface="Arial"/>
                <a:ea typeface="Arial"/>
                <a:cs typeface="Arial"/>
              </a:rPr>
              <a:t>Time conversion, groupby, mean</a:t>
            </a:r>
            <a:endParaRPr sz="1425"/>
          </a:p>
          <a:p xmlns:a="http://schemas.openxmlformats.org/drawingml/2006/main">
            <a:pPr>
              <a:buNone/>
              <a:defRPr sz="157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23344F"/>
                </a:solidFill>
                <a:latin typeface="Arial"/>
                <a:ea typeface="Arial"/>
                <a:cs typeface="Arial"/>
              </a:rPr>
              <a:t>merge, pivot</a:t>
            </a:r>
            <a:endParaRPr sz="1425"/>
          </a:p>
        </p:txBody>
      </p:sp>
      <p:sp>
        <p:nvSpPr>
          <p:cNvPr id="170" name="Slide5_Object170">
            <a:extLst xmlns:a="http://schemas.openxmlformats.org/drawingml/2006/main">
              <a:ext uri="{FF2B5EF4-FFF2-40B4-BE49-F238E27FC236}">
                <a16:creationId xmlns:a16="http://schemas.microsoft.com/office/drawing/2014/main" id="{3556C414-1D6D-4ED4-BF82-44D7D59A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067050"/>
            <a:ext cx="2857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6F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Slide5_Object171">
            <a:extLst xmlns:a="http://schemas.openxmlformats.org/drawingml/2006/main">
              <a:ext uri="{FF2B5EF4-FFF2-40B4-BE49-F238E27FC236}">
                <a16:creationId xmlns:a16="http://schemas.microsoft.com/office/drawing/2014/main" id="{C181442B-2F30-4E04-8003-ADC712BF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38325"/>
            <a:ext cx="3181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23344F"/>
                </a:solidFill>
                <a:latin typeface="Arial"/>
                <a:ea typeface="Arial"/>
                <a:cs typeface="Arial"/>
              </a:rPr>
              <a:t>Experience varies: boxplot</a:t>
            </a:r>
            <a:endParaRPr sz="1800"/>
          </a:p>
        </p:txBody>
      </p:sp>
      <p:pic>
        <p:nvPicPr>
          <p:cNvPr id="172" name="Slide5_Object172">
            <a:extLst xmlns:a="http://schemas.openxmlformats.org/drawingml/2006/main">
              <a:ext uri="{FF2B5EF4-FFF2-40B4-BE49-F238E27FC236}">
                <a16:creationId xmlns:a16="http://schemas.microsoft.com/office/drawing/2014/main" id="{EB73A24F-D8CA-4905-9C98-F79ED330AF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94e3e92aa74ec7"/>
          <a:stretch xmlns:a="http://schemas.openxmlformats.org/drawingml/2006/main"/>
        </p:blipFill>
        <p:spPr>
          <a:xfrm xmlns:a="http://schemas.openxmlformats.org/drawingml/2006/main">
            <a:off x="8362950" y="2304750"/>
            <a:ext cx="3181350" cy="1219800"/>
          </a:xfrm>
          <a:prstGeom xmlns:a="http://schemas.openxmlformats.org/drawingml/2006/main" prst="rect">
            <a:avLst/>
          </a:prstGeom>
        </p:spPr>
      </p:pic>
      <p:sp>
        <p:nvSpPr>
          <p:cNvPr id="173" name="Slide5_Object173">
            <a:extLst xmlns:a="http://schemas.openxmlformats.org/drawingml/2006/main">
              <a:ext uri="{FF2B5EF4-FFF2-40B4-BE49-F238E27FC236}">
                <a16:creationId xmlns:a16="http://schemas.microsoft.com/office/drawing/2014/main" id="{9BC49DC5-D0A1-416B-914D-70237DCCF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743325"/>
            <a:ext cx="3181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23344F"/>
                </a:solidFill>
                <a:latin typeface="Arial"/>
                <a:ea typeface="Arial"/>
                <a:cs typeface="Arial"/>
              </a:rPr>
              <a:t>Ratings relate: scatterplot</a:t>
            </a:r>
            <a:endParaRPr sz="1800"/>
          </a:p>
        </p:txBody>
      </p:sp>
      <p:pic>
        <p:nvPicPr>
          <p:cNvPr id="174" name="Slide5_Object174">
            <a:extLst xmlns:a="http://schemas.openxmlformats.org/drawingml/2006/main">
              <a:ext uri="{FF2B5EF4-FFF2-40B4-BE49-F238E27FC236}">
                <a16:creationId xmlns:a16="http://schemas.microsoft.com/office/drawing/2014/main" id="{ADFFD2AF-74B3-4DBF-BC4D-4DFB2A38E0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ef887db58d4229"/>
          <a:stretch xmlns:a="http://schemas.openxmlformats.org/drawingml/2006/main"/>
        </p:blipFill>
        <p:spPr>
          <a:xfrm xmlns:a="http://schemas.openxmlformats.org/drawingml/2006/main">
            <a:off x="8362950" y="4197987"/>
            <a:ext cx="3181350" cy="1243325"/>
          </a:xfrm>
          <a:prstGeom xmlns:a="http://schemas.openxmlformats.org/drawingml/2006/main" prst="rect">
            <a:avLst/>
          </a:prstGeom>
        </p:spPr>
      </p:pic>
      <p:sp>
        <p:nvSpPr>
          <p:cNvPr id="175" name="Slide5_Object175">
            <a:extLst xmlns:a="http://schemas.openxmlformats.org/drawingml/2006/main">
              <a:ext uri="{FF2B5EF4-FFF2-40B4-BE49-F238E27FC236}">
                <a16:creationId xmlns:a16="http://schemas.microsoft.com/office/drawing/2014/main" id="{FA572007-3861-42B9-9BE5-4581745B7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610225"/>
            <a:ext cx="3181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7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57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57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57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57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57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57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57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57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57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rPr>
              <a:t>Matplotlib, Seaborn, Plotly</a:t>
            </a:r>
          </a:p>
        </p:txBody>
      </p:sp>
      <p:sp>
        <p:nvSpPr>
          <p:cNvPr id="176" name="Slide5_Object176">
            <a:extLst xmlns:a="http://schemas.openxmlformats.org/drawingml/2006/main">
              <a:ext uri="{FF2B5EF4-FFF2-40B4-BE49-F238E27FC236}">
                <a16:creationId xmlns:a16="http://schemas.microsoft.com/office/drawing/2014/main" id="{C5BE819A-F597-4671-8F14-13573F45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0"/>
            <a:ext cx="1108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C34D22"/>
                </a:solidFill>
                <a:latin typeface="Arial"/>
                <a:ea typeface="Arial"/>
                <a:cs typeface="Arial"/>
              </a:rPr>
              <a:t>First, check the number of turns recorded for each person.</a:t>
            </a:r>
            <a:endParaRPr sz="1800"/>
          </a:p>
        </p:txBody>
      </p:sp>
      <p:sp>
        <p:nvSpPr>
          <p:cNvPr id="177" name="Slide5_Object177">
            <a:extLst xmlns:a="http://schemas.openxmlformats.org/drawingml/2006/main">
              <a:ext uri="{FF2B5EF4-FFF2-40B4-BE49-F238E27FC236}">
                <a16:creationId xmlns:a16="http://schemas.microsoft.com/office/drawing/2014/main" id="{2608798A-9847-424C-B72A-9688E3A3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781050"/>
            <a:ext cx="1762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2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2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2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2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2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2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2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2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2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2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2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76F8A"/>
                </a:solidFill>
                <a:latin typeface="Arial"/>
                <a:ea typeface="Arial"/>
                <a:cs typeface="Arial"/>
              </a:rPr>
              <a:t>HRI CUES main dataset</a:t>
            </a:r>
            <a:endParaRPr sz="1125"/>
          </a:p>
        </p:txBody>
      </p:sp>
    </p:spTree>
    <p:extLst>
      <p:ext uri="{BB962C8B-B14F-4D97-AF65-F5344CB8AC3E}">
        <p14:creationId xmlns:p14="http://schemas.microsoft.com/office/powerpoint/2010/main" val="19198055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7" name="text-0">
            <a:extLst xmlns:a="http://schemas.openxmlformats.org/drawingml/2006/main">
              <a:ext uri="{FF2B5EF4-FFF2-40B4-BE49-F238E27FC236}">
                <a16:creationId xmlns:a16="http://schemas.microsoft.com/office/drawing/2014/main" id="{3A0A91E5-5C30-4A6B-B393-CB61F4122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"/>
            <a:ext cx="11087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5365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3000" b="1">
                <a:solidFill>
                  <a:srgbClr val="15365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 u="none" strike="noStrike">
                <a:solidFill>
                  <a:srgbClr val="15365C"/>
                </a:solidFill>
                <a:latin typeface="Arial"/>
                <a:ea typeface="Arial"/>
                <a:cs typeface="Arial"/>
              </a:rPr>
              <a:t>Dialogue turns per participant</a:t>
            </a:r>
            <a:endParaRPr sz="3000"/>
          </a:p>
        </p:txBody>
      </p:sp>
      <p:sp>
        <p:nvSpPr>
          <p:cNvPr id="138" name="text-1">
            <a:extLst xmlns:a="http://schemas.openxmlformats.org/drawingml/2006/main">
              <a:ext uri="{FF2B5EF4-FFF2-40B4-BE49-F238E27FC236}">
                <a16:creationId xmlns:a16="http://schemas.microsoft.com/office/drawing/2014/main" id="{4838ACF0-8B76-4F7F-A4A7-5BCA79307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43675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 u="none" strike="noStrike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text-2">
            <a:extLst xmlns:a="http://schemas.openxmlformats.org/drawingml/2006/main">
              <a:ext uri="{FF2B5EF4-FFF2-40B4-BE49-F238E27FC236}">
                <a16:creationId xmlns:a16="http://schemas.microsoft.com/office/drawing/2014/main" id="{55C2F726-9845-44A5-BB6B-661E09CB5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 u="none" strike="noStrike">
                <a:solidFill>
                  <a:srgbClr val="64748B"/>
                </a:solidFill>
                <a:latin typeface="Arial"/>
                <a:ea typeface="Arial"/>
                <a:cs typeface="Arial"/>
              </a:rPr>
              <a:t>Figure 1   Report p. 5</a:t>
            </a:r>
            <a:endParaRPr sz="1050"/>
          </a:p>
        </p:txBody>
      </p:sp>
      <p:graphicFrame>
        <p:nvGraphicFramePr>
          <p:cNvPr id="140" name="Chart">
            <a:extLst xmlns:a="http://schemas.openxmlformats.org/drawingml/2006/main">
              <a:ext uri="{FF2B5EF4-FFF2-40B4-BE49-F238E27FC236}">
                <a16:creationId xmlns:a16="http://schemas.microsoft.com/office/drawing/2014/main" id="{51DB3546-8434-4AD6-A18D-DF0F609910F1}"/>
              </a:ext>
            </a:extLst>
          </p:cNvPr>
          <p:cNvGraphicFramePr/>
          <p:nvPr/>
        </p:nvGraphicFramePr>
        <p:xfrm>
          <a:off xmlns:a="http://schemas.openxmlformats.org/drawingml/2006/main" x="523875" y="1762125"/>
          <a:ext xmlns:a="http://schemas.openxmlformats.org/drawingml/2006/main" cx="11096625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4b1c0f2f04c43fc"/>
          </a:graphicData>
        </a:graphic>
      </p:graphicFrame>
      <p:sp>
        <p:nvSpPr>
          <p:cNvPr id="141" name="text-3">
            <a:extLst xmlns:a="http://schemas.openxmlformats.org/drawingml/2006/main">
              <a:ext uri="{FF2B5EF4-FFF2-40B4-BE49-F238E27FC236}">
                <a16:creationId xmlns:a16="http://schemas.microsoft.com/office/drawing/2014/main" id="{F07F44C7-FD8C-4B4E-A960-8E9D45BAE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8107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8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u="none" strike="noStrike">
                <a:solidFill>
                  <a:srgbClr val="276F8A"/>
                </a:solidFill>
                <a:latin typeface="Arial"/>
                <a:ea typeface="Arial"/>
                <a:cs typeface="Arial"/>
              </a:rPr>
              <a:t>Purpose: Check how interaction records are distributed across 25 participants.</a:t>
            </a:r>
            <a:endParaRPr sz="1800"/>
          </a:p>
        </p:txBody>
      </p:sp>
      <p:sp>
        <p:nvSpPr>
          <p:cNvPr id="142" name="text-4">
            <a:extLst xmlns:a="http://schemas.openxmlformats.org/drawingml/2006/main">
              <a:ext uri="{FF2B5EF4-FFF2-40B4-BE49-F238E27FC236}">
                <a16:creationId xmlns:a16="http://schemas.microsoft.com/office/drawing/2014/main" id="{79128BD3-7E3E-4BD8-86C6-E48A3EF1F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57800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1">
                <a:latin typeface="Arial"/>
                <a:ea typeface="Arial"/>
                <a:cs typeface="Arial"/>
              </a:rPr>
              <a:t>Finding: 590 turns from 25 people. More turns do not establish preference or continued use.</a:t>
            </a:r>
            <a:endParaRPr sz="1600"/>
          </a:p>
        </p:txBody>
      </p:sp>
      <p:sp>
        <p:nvSpPr>
          <p:cNvPr id="144" name="text-6">
            <a:extLst xmlns:a="http://schemas.openxmlformats.org/drawingml/2006/main">
              <a:ext uri="{FF2B5EF4-FFF2-40B4-BE49-F238E27FC236}">
                <a16:creationId xmlns:a16="http://schemas.microsoft.com/office/drawing/2014/main" id="{4134AA2E-2E30-4D4D-8628-9FE78D7C9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57925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 u="none" strike="noStrike">
                <a:solidFill>
                  <a:srgbClr val="64748B"/>
                </a:solidFill>
                <a:latin typeface="Arial"/>
                <a:ea typeface="Arial"/>
                <a:cs typeface="Arial"/>
              </a:rPr>
              <a:t>Source: Irfan et al. (2024), Exchanges.</a:t>
            </a:r>
            <a:endParaRPr sz="1050"/>
          </a:p>
        </p:txBody>
      </p:sp>
      <p:sp>
        <p:nvSpPr>
          <p:cNvPr id="145" name="Slide6_Object145">
            <a:extLst xmlns:a="http://schemas.openxmlformats.org/drawingml/2006/main">
              <a:ext uri="{FF2B5EF4-FFF2-40B4-BE49-F238E27FC236}">
                <a16:creationId xmlns:a16="http://schemas.microsoft.com/office/drawing/2014/main" id="{347E7939-576C-4CF0-9D8A-C5C007858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2397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23344F"/>
                </a:solidFill>
                <a:latin typeface="Arial"/>
                <a:ea typeface="Arial"/>
                <a:cs typeface="Arial"/>
              </a:rPr>
              <a:t>Method: Count dialogue turns by participant and compare using a bar chart.</a:t>
            </a:r>
            <a:endParaRPr sz="1800"/>
          </a:p>
        </p:txBody>
      </p:sp>
      <p:sp>
        <p:nvSpPr>
          <p:cNvPr id="146" name="Slide6_Object146">
            <a:extLst xmlns:a="http://schemas.openxmlformats.org/drawingml/2006/main">
              <a:ext uri="{FF2B5EF4-FFF2-40B4-BE49-F238E27FC236}">
                <a16:creationId xmlns:a16="http://schemas.microsoft.com/office/drawing/2014/main" id="{02801A37-81CF-4C66-8A69-4E32BF21E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9775"/>
            <a:ext cx="11087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C34D22"/>
                </a:solidFill>
                <a:latin typeface="Arial"/>
                <a:ea typeface="Arial"/>
                <a:cs typeface="Arial"/>
              </a:rPr>
              <a:t>Turn counts describe data volume. Duration describes the interaction process.</a:t>
            </a:r>
            <a:endParaRPr sz="1800"/>
          </a:p>
        </p:txBody>
      </p:sp>
      <p:sp>
        <p:nvSpPr>
          <p:cNvPr id="147" name="Slide6_Object147">
            <a:extLst xmlns:a="http://schemas.openxmlformats.org/drawingml/2006/main">
              <a:ext uri="{FF2B5EF4-FFF2-40B4-BE49-F238E27FC236}">
                <a16:creationId xmlns:a16="http://schemas.microsoft.com/office/drawing/2014/main" id="{522A7F74-070B-48FC-9F47-36E18096B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781050"/>
            <a:ext cx="1762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2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2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2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2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2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2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2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2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2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2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2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76F8A"/>
                </a:solidFill>
                <a:latin typeface="Arial"/>
                <a:ea typeface="Arial"/>
                <a:cs typeface="Arial"/>
              </a:rPr>
              <a:t>HRI CUES main dataset</a:t>
            </a:r>
            <a:endParaRPr sz="1125"/>
          </a:p>
        </p:txBody>
      </p:sp>
    </p:spTree>
    <p:extLst>
      <p:ext uri="{BB962C8B-B14F-4D97-AF65-F5344CB8AC3E}">
        <p14:creationId xmlns:p14="http://schemas.microsoft.com/office/powerpoint/2010/main" val="3486832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5" name="text-0">
            <a:extLst xmlns:a="http://schemas.openxmlformats.org/drawingml/2006/main">
              <a:ext uri="{FF2B5EF4-FFF2-40B4-BE49-F238E27FC236}">
                <a16:creationId xmlns:a16="http://schemas.microsoft.com/office/drawing/2014/main" id="{F660D52B-E478-4A18-9C2A-F064C5D3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"/>
            <a:ext cx="11087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5365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3000" b="1">
                <a:solidFill>
                  <a:srgbClr val="15365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 u="none" strike="noStrike">
                <a:solidFill>
                  <a:srgbClr val="15365C"/>
                </a:solidFill>
                <a:latin typeface="Arial"/>
                <a:ea typeface="Arial"/>
                <a:cs typeface="Arial"/>
              </a:rPr>
              <a:t>Dialogue turn duration</a:t>
            </a:r>
            <a:endParaRPr sz="3000"/>
          </a:p>
        </p:txBody>
      </p:sp>
      <p:sp>
        <p:nvSpPr>
          <p:cNvPr id="146" name="text-1">
            <a:extLst xmlns:a="http://schemas.openxmlformats.org/drawingml/2006/main">
              <a:ext uri="{FF2B5EF4-FFF2-40B4-BE49-F238E27FC236}">
                <a16:creationId xmlns:a16="http://schemas.microsoft.com/office/drawing/2014/main" id="{82B4E754-B742-488C-ACE7-721C991F9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43675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 u="none" strike="noStrike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text-2">
            <a:extLst xmlns:a="http://schemas.openxmlformats.org/drawingml/2006/main">
              <a:ext uri="{FF2B5EF4-FFF2-40B4-BE49-F238E27FC236}">
                <a16:creationId xmlns:a16="http://schemas.microsoft.com/office/drawing/2014/main" id="{8282F0AE-AE4F-41AA-B509-5C4621CF6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 u="none" strike="noStrike">
                <a:solidFill>
                  <a:srgbClr val="64748B"/>
                </a:solidFill>
                <a:latin typeface="Arial"/>
                <a:ea typeface="Arial"/>
                <a:cs typeface="Arial"/>
              </a:rPr>
              <a:t>Figure 2   Report p. 5</a:t>
            </a:r>
            <a:endParaRPr sz="1050"/>
          </a:p>
        </p:txBody>
      </p:sp>
      <p:pic>
        <p:nvPicPr>
          <p:cNvPr id="148" name="Slide7_Object148">
            <a:extLst xmlns:a="http://schemas.openxmlformats.org/drawingml/2006/main">
              <a:ext uri="{FF2B5EF4-FFF2-40B4-BE49-F238E27FC236}">
                <a16:creationId xmlns:a16="http://schemas.microsoft.com/office/drawing/2014/main" id="{A266E7E6-956E-499B-8304-2377CCACC8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da17e3d53544b3"/>
          <a:stretch xmlns:a="http://schemas.openxmlformats.org/drawingml/2006/main"/>
        </p:blipFill>
        <p:spPr>
          <a:xfrm xmlns:a="http://schemas.openxmlformats.org/drawingml/2006/main">
            <a:off x="666750" y="1762125"/>
            <a:ext cx="10858500" cy="34766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49" name="text-3">
            <a:extLst xmlns:a="http://schemas.openxmlformats.org/drawingml/2006/main">
              <a:ext uri="{FF2B5EF4-FFF2-40B4-BE49-F238E27FC236}">
                <a16:creationId xmlns:a16="http://schemas.microsoft.com/office/drawing/2014/main" id="{D67DB686-4DBF-401B-93AC-A4461BF30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8107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8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u="none" strike="noStrike">
                <a:solidFill>
                  <a:srgbClr val="276F8A"/>
                </a:solidFill>
                <a:latin typeface="Arial"/>
                <a:ea typeface="Arial"/>
                <a:cs typeface="Arial"/>
              </a:rPr>
              <a:t>Purpose: Describe the distribution of dialogue turn duration.</a:t>
            </a:r>
            <a:endParaRPr sz="1800"/>
          </a:p>
        </p:txBody>
      </p:sp>
      <p:sp>
        <p:nvSpPr>
          <p:cNvPr id="150" name="text-4">
            <a:extLst xmlns:a="http://schemas.openxmlformats.org/drawingml/2006/main">
              <a:ext uri="{FF2B5EF4-FFF2-40B4-BE49-F238E27FC236}">
                <a16:creationId xmlns:a16="http://schemas.microsoft.com/office/drawing/2014/main" id="{12CF2A79-8CBE-4193-A94B-F9C86810D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57800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1">
                <a:latin typeface="Arial"/>
                <a:ea typeface="Arial"/>
                <a:cs typeface="Arial"/>
              </a:rPr>
              <a:t>Finding: Mean duration is 17.73 seconds. Turns include both speakers and do not measure system latency.</a:t>
            </a:r>
            <a:endParaRPr sz="1600"/>
          </a:p>
        </p:txBody>
      </p:sp>
      <p:sp>
        <p:nvSpPr>
          <p:cNvPr id="152" name="text-6">
            <a:extLst xmlns:a="http://schemas.openxmlformats.org/drawingml/2006/main">
              <a:ext uri="{FF2B5EF4-FFF2-40B4-BE49-F238E27FC236}">
                <a16:creationId xmlns:a16="http://schemas.microsoft.com/office/drawing/2014/main" id="{8BE5CB55-0ECD-4C55-A3B2-D36481C1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57925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 u="none" strike="noStrike">
                <a:solidFill>
                  <a:srgbClr val="64748B"/>
                </a:solidFill>
                <a:latin typeface="Arial"/>
                <a:ea typeface="Arial"/>
                <a:cs typeface="Arial"/>
              </a:rPr>
              <a:t>Source: Irfan et al. (2024), Exchanges. Author calculations.</a:t>
            </a:r>
            <a:endParaRPr sz="1050"/>
          </a:p>
        </p:txBody>
      </p:sp>
      <p:sp>
        <p:nvSpPr>
          <p:cNvPr id="153" name="Slide7_Object153">
            <a:extLst xmlns:a="http://schemas.openxmlformats.org/drawingml/2006/main">
              <a:ext uri="{FF2B5EF4-FFF2-40B4-BE49-F238E27FC236}">
                <a16:creationId xmlns:a16="http://schemas.microsoft.com/office/drawing/2014/main" id="{A116844E-3AFB-4FCA-B2EE-B4A0CEF1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2397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23344F"/>
                </a:solidFill>
                <a:latin typeface="Arial"/>
                <a:ea typeface="Arial"/>
                <a:cs typeface="Arial"/>
              </a:rPr>
              <a:t>Method: Subtract start from end time. Use a histogram and KDE to describe the sample.</a:t>
            </a:r>
            <a:endParaRPr sz="1800"/>
          </a:p>
        </p:txBody>
      </p:sp>
      <p:sp>
        <p:nvSpPr>
          <p:cNvPr id="154" name="Slide7_Object154">
            <a:extLst xmlns:a="http://schemas.openxmlformats.org/drawingml/2006/main">
              <a:ext uri="{FF2B5EF4-FFF2-40B4-BE49-F238E27FC236}">
                <a16:creationId xmlns:a16="http://schemas.microsoft.com/office/drawing/2014/main" id="{5A9C20F3-9A83-432D-A511-935DBE271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9775"/>
            <a:ext cx="11087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C34D22"/>
                </a:solidFill>
                <a:latin typeface="Arial"/>
                <a:ea typeface="Arial"/>
                <a:cs typeface="Arial"/>
              </a:rPr>
              <a:t>Duration describes the process. Ratings provide a view of experience.</a:t>
            </a:r>
            <a:endParaRPr sz="1800"/>
          </a:p>
        </p:txBody>
      </p:sp>
      <p:sp>
        <p:nvSpPr>
          <p:cNvPr id="155" name="Slide7_Object155">
            <a:extLst xmlns:a="http://schemas.openxmlformats.org/drawingml/2006/main">
              <a:ext uri="{FF2B5EF4-FFF2-40B4-BE49-F238E27FC236}">
                <a16:creationId xmlns:a16="http://schemas.microsoft.com/office/drawing/2014/main" id="{41A19CA1-496D-4661-B086-BACC47CE0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781050"/>
            <a:ext cx="1762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2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2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2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2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2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2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2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2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2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2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2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76F8A"/>
                </a:solidFill>
                <a:latin typeface="Arial"/>
                <a:ea typeface="Arial"/>
                <a:cs typeface="Arial"/>
              </a:rPr>
              <a:t>HRI CUES main dataset</a:t>
            </a:r>
            <a:endParaRPr sz="1125"/>
          </a:p>
        </p:txBody>
      </p:sp>
    </p:spTree>
    <p:extLst>
      <p:ext uri="{BB962C8B-B14F-4D97-AF65-F5344CB8AC3E}">
        <p14:creationId xmlns:p14="http://schemas.microsoft.com/office/powerpoint/2010/main" val="16080428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3" name="text-0">
            <a:extLst xmlns:a="http://schemas.openxmlformats.org/drawingml/2006/main">
              <a:ext uri="{FF2B5EF4-FFF2-40B4-BE49-F238E27FC236}">
                <a16:creationId xmlns:a16="http://schemas.microsoft.com/office/drawing/2014/main" id="{C58E59B5-377D-4B9F-9B72-AECDCDC71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"/>
            <a:ext cx="11087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5365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3000" b="1">
                <a:solidFill>
                  <a:srgbClr val="15365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 u="none" strike="noStrike">
                <a:solidFill>
                  <a:srgbClr val="15365C"/>
                </a:solidFill>
                <a:latin typeface="Arial"/>
                <a:ea typeface="Arial"/>
                <a:cs typeface="Arial"/>
              </a:rPr>
              <a:t>Observed enjoyment varies across turns</a:t>
            </a:r>
            <a:endParaRPr sz="3000"/>
          </a:p>
        </p:txBody>
      </p:sp>
      <p:sp>
        <p:nvSpPr>
          <p:cNvPr id="154" name="text-1">
            <a:extLst xmlns:a="http://schemas.openxmlformats.org/drawingml/2006/main">
              <a:ext uri="{FF2B5EF4-FFF2-40B4-BE49-F238E27FC236}">
                <a16:creationId xmlns:a16="http://schemas.microsoft.com/office/drawing/2014/main" id="{63B925FA-3919-4D4D-939A-5C216F2E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43675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 u="none" strike="noStrike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text-2">
            <a:extLst xmlns:a="http://schemas.openxmlformats.org/drawingml/2006/main">
              <a:ext uri="{FF2B5EF4-FFF2-40B4-BE49-F238E27FC236}">
                <a16:creationId xmlns:a16="http://schemas.microsoft.com/office/drawing/2014/main" id="{20EDF061-9F80-4C44-B368-A58092FD4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 u="none" strike="noStrike">
                <a:solidFill>
                  <a:srgbClr val="64748B"/>
                </a:solidFill>
                <a:latin typeface="Arial"/>
                <a:ea typeface="Arial"/>
                <a:cs typeface="Arial"/>
              </a:rPr>
              <a:t>Figure 3   Report p. 6</a:t>
            </a:r>
            <a:endParaRPr sz="1050"/>
          </a:p>
        </p:txBody>
      </p:sp>
      <p:pic>
        <p:nvPicPr>
          <p:cNvPr id="156" name="Slide8_Object156">
            <a:extLst xmlns:a="http://schemas.openxmlformats.org/drawingml/2006/main">
              <a:ext uri="{FF2B5EF4-FFF2-40B4-BE49-F238E27FC236}">
                <a16:creationId xmlns:a16="http://schemas.microsoft.com/office/drawing/2014/main" id="{D9C63548-0F23-447F-B9D5-252F9B403B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fb5f2ea73a4e22"/>
          <a:stretch xmlns:a="http://schemas.openxmlformats.org/drawingml/2006/main"/>
        </p:blipFill>
        <p:spPr>
          <a:xfrm xmlns:a="http://schemas.openxmlformats.org/drawingml/2006/main">
            <a:off x="666750" y="1762125"/>
            <a:ext cx="10858500" cy="34766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57" name="text-3">
            <a:extLst xmlns:a="http://schemas.openxmlformats.org/drawingml/2006/main">
              <a:ext uri="{FF2B5EF4-FFF2-40B4-BE49-F238E27FC236}">
                <a16:creationId xmlns:a16="http://schemas.microsoft.com/office/drawing/2014/main" id="{0741A69E-7FF0-422C-B98E-8A8A74B3D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8107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8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u="none" strike="noStrike">
                <a:solidFill>
                  <a:srgbClr val="276F8A"/>
                </a:solidFill>
                <a:latin typeface="Arial"/>
                <a:ea typeface="Arial"/>
                <a:cs typeface="Arial"/>
              </a:rPr>
              <a:t>Purpose: Examine variation within and between participants.</a:t>
            </a:r>
            <a:endParaRPr sz="1800"/>
          </a:p>
        </p:txBody>
      </p:sp>
      <p:sp>
        <p:nvSpPr>
          <p:cNvPr id="158" name="text-4">
            <a:extLst xmlns:a="http://schemas.openxmlformats.org/drawingml/2006/main">
              <a:ext uri="{FF2B5EF4-FFF2-40B4-BE49-F238E27FC236}">
                <a16:creationId xmlns:a16="http://schemas.microsoft.com/office/drawing/2014/main" id="{C74DAF93-5A6B-442A-99E8-B0F16B753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57800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1">
                <a:latin typeface="Arial"/>
                <a:ea typeface="Arial"/>
                <a:cs typeface="Arial"/>
              </a:rPr>
              <a:t>Finding: Scores vary. Line: median. White diamond: mean. Box: middle 50% of turns.</a:t>
            </a:r>
            <a:endParaRPr sz="1600"/>
          </a:p>
        </p:txBody>
      </p:sp>
      <p:sp>
        <p:nvSpPr>
          <p:cNvPr id="160" name="text-6">
            <a:extLst xmlns:a="http://schemas.openxmlformats.org/drawingml/2006/main">
              <a:ext uri="{FF2B5EF4-FFF2-40B4-BE49-F238E27FC236}">
                <a16:creationId xmlns:a16="http://schemas.microsoft.com/office/drawing/2014/main" id="{0405ADF5-5643-41E6-B4CD-0491E65D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57925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 u="none" strike="noStrike">
                <a:solidFill>
                  <a:srgbClr val="64748B"/>
                </a:solidFill>
                <a:latin typeface="Arial"/>
                <a:ea typeface="Arial"/>
                <a:cs typeface="Arial"/>
              </a:rPr>
              <a:t>Source: Irfan et al. (2024), Exchanges. Author calculations.</a:t>
            </a:r>
            <a:endParaRPr sz="1050"/>
          </a:p>
        </p:txBody>
      </p:sp>
      <p:sp>
        <p:nvSpPr>
          <p:cNvPr id="161" name="Slide8_Object161">
            <a:extLst xmlns:a="http://schemas.openxmlformats.org/drawingml/2006/main">
              <a:ext uri="{FF2B5EF4-FFF2-40B4-BE49-F238E27FC236}">
                <a16:creationId xmlns:a16="http://schemas.microsoft.com/office/drawing/2014/main" id="{F7054862-1454-4794-8A56-5567672B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2397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23344F"/>
                </a:solidFill>
                <a:latin typeface="Arial"/>
                <a:ea typeface="Arial"/>
                <a:cs typeface="Arial"/>
              </a:rPr>
              <a:t>Method: Average the three observer scores for each turn, then plot by participant.</a:t>
            </a:r>
            <a:endParaRPr sz="1800"/>
          </a:p>
        </p:txBody>
      </p:sp>
      <p:sp>
        <p:nvSpPr>
          <p:cNvPr id="162" name="Slide8_Object162">
            <a:extLst xmlns:a="http://schemas.openxmlformats.org/drawingml/2006/main">
              <a:ext uri="{FF2B5EF4-FFF2-40B4-BE49-F238E27FC236}">
                <a16:creationId xmlns:a16="http://schemas.microsoft.com/office/drawing/2014/main" id="{BDACCC93-3095-4A29-AD0D-0CE3D5231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9775"/>
            <a:ext cx="11087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C34D22"/>
                </a:solidFill>
                <a:latin typeface="Arial"/>
                <a:ea typeface="Arial"/>
                <a:cs typeface="Arial"/>
              </a:rPr>
              <a:t>Do observers and users describe the same experience?</a:t>
            </a:r>
            <a:endParaRPr sz="1800"/>
          </a:p>
        </p:txBody>
      </p:sp>
      <p:sp>
        <p:nvSpPr>
          <p:cNvPr id="163" name="Slide8_Object163">
            <a:extLst xmlns:a="http://schemas.openxmlformats.org/drawingml/2006/main">
              <a:ext uri="{FF2B5EF4-FFF2-40B4-BE49-F238E27FC236}">
                <a16:creationId xmlns:a16="http://schemas.microsoft.com/office/drawing/2014/main" id="{2E2F3AEC-1F9D-46BE-8161-C3D96E274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781050"/>
            <a:ext cx="1762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2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2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2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2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2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2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2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2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2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2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2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76F8A"/>
                </a:solidFill>
                <a:latin typeface="Arial"/>
                <a:ea typeface="Arial"/>
                <a:cs typeface="Arial"/>
              </a:rPr>
              <a:t>HRI CUES main dataset</a:t>
            </a:r>
            <a:endParaRPr sz="1125"/>
          </a:p>
        </p:txBody>
      </p:sp>
    </p:spTree>
    <p:extLst>
      <p:ext uri="{BB962C8B-B14F-4D97-AF65-F5344CB8AC3E}">
        <p14:creationId xmlns:p14="http://schemas.microsoft.com/office/powerpoint/2010/main" val="18103383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1" name="text-0">
            <a:extLst xmlns:a="http://schemas.openxmlformats.org/drawingml/2006/main">
              <a:ext uri="{FF2B5EF4-FFF2-40B4-BE49-F238E27FC236}">
                <a16:creationId xmlns:a16="http://schemas.microsoft.com/office/drawing/2014/main" id="{AFFEEA37-45D6-4192-B7F1-174B5491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"/>
            <a:ext cx="11087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5365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3000" b="1">
                <a:solidFill>
                  <a:srgbClr val="15365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 u="none" strike="noStrike">
                <a:solidFill>
                  <a:srgbClr val="15365C"/>
                </a:solidFill>
                <a:latin typeface="Arial"/>
                <a:ea typeface="Arial"/>
                <a:cs typeface="Arial"/>
              </a:rPr>
              <a:t>How users rated the interaction</a:t>
            </a:r>
            <a:endParaRPr sz="3000"/>
          </a:p>
        </p:txBody>
      </p:sp>
      <p:sp>
        <p:nvSpPr>
          <p:cNvPr id="162" name="text-1">
            <a:extLst xmlns:a="http://schemas.openxmlformats.org/drawingml/2006/main">
              <a:ext uri="{FF2B5EF4-FFF2-40B4-BE49-F238E27FC236}">
                <a16:creationId xmlns:a16="http://schemas.microsoft.com/office/drawing/2014/main" id="{E091197F-4106-4DCC-85C2-8414B00D7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43675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 u="none" strike="noStrike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text-2">
            <a:extLst xmlns:a="http://schemas.openxmlformats.org/drawingml/2006/main">
              <a:ext uri="{FF2B5EF4-FFF2-40B4-BE49-F238E27FC236}">
                <a16:creationId xmlns:a16="http://schemas.microsoft.com/office/drawing/2014/main" id="{43CBA44F-2A54-4D2C-B548-05609C660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 u="none" strike="noStrike">
                <a:solidFill>
                  <a:srgbClr val="64748B"/>
                </a:solidFill>
                <a:latin typeface="Arial"/>
                <a:ea typeface="Arial"/>
                <a:cs typeface="Arial"/>
              </a:rPr>
              <a:t>Figure 4   Report p. 6</a:t>
            </a:r>
            <a:endParaRPr sz="1050"/>
          </a:p>
        </p:txBody>
      </p:sp>
      <p:graphicFrame>
        <p:nvGraphicFramePr>
          <p:cNvPr id="164" name="Chart">
            <a:extLst xmlns:a="http://schemas.openxmlformats.org/drawingml/2006/main">
              <a:ext uri="{FF2B5EF4-FFF2-40B4-BE49-F238E27FC236}">
                <a16:creationId xmlns:a16="http://schemas.microsoft.com/office/drawing/2014/main" id="{49F3D734-4C00-472B-89E6-ACD58FAA2E9C}"/>
              </a:ext>
            </a:extLst>
          </p:cNvPr>
          <p:cNvGraphicFramePr/>
          <p:nvPr/>
        </p:nvGraphicFramePr>
        <p:xfrm>
          <a:off xmlns:a="http://schemas.openxmlformats.org/drawingml/2006/main" x="523875" y="2095500"/>
          <a:ext xmlns:a="http://schemas.openxmlformats.org/drawingml/2006/main" cx="11096625" cy="3095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ec91766957b4041"/>
          </a:graphicData>
        </a:graphic>
      </p:graphicFrame>
      <p:sp>
        <p:nvSpPr>
          <p:cNvPr id="165" name="text-3">
            <a:extLst xmlns:a="http://schemas.openxmlformats.org/drawingml/2006/main">
              <a:ext uri="{FF2B5EF4-FFF2-40B4-BE49-F238E27FC236}">
                <a16:creationId xmlns:a16="http://schemas.microsoft.com/office/drawing/2014/main" id="{112CB7DD-8E01-4274-8C22-8A75C2F1B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8107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8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u="none" strike="noStrike">
                <a:solidFill>
                  <a:srgbClr val="276F8A"/>
                </a:solidFill>
                <a:latin typeface="Arial"/>
                <a:ea typeface="Arial"/>
                <a:cs typeface="Arial"/>
              </a:rPr>
              <a:t>Purpose: Summarise user feedback and show the overall observer rating separately.</a:t>
            </a:r>
            <a:endParaRPr sz="1800"/>
          </a:p>
        </p:txBody>
      </p:sp>
      <p:sp>
        <p:nvSpPr>
          <p:cNvPr id="166" name="text-4">
            <a:extLst xmlns:a="http://schemas.openxmlformats.org/drawingml/2006/main">
              <a:ext uri="{FF2B5EF4-FFF2-40B4-BE49-F238E27FC236}">
                <a16:creationId xmlns:a16="http://schemas.microsoft.com/office/drawing/2014/main" id="{914B809A-548F-4326-B9F2-7C6AF15C3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57800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1">
                <a:latin typeface="Arial"/>
                <a:ea typeface="Arial"/>
                <a:cs typeface="Arial"/>
              </a:rPr>
              <a:t>Finding: Fun averages 4.00. Higher strangeness means feeling more strange. The fifth measure is from observers.</a:t>
            </a:r>
            <a:endParaRPr sz="1600"/>
          </a:p>
        </p:txBody>
      </p:sp>
      <p:sp>
        <p:nvSpPr>
          <p:cNvPr id="168" name="text-6">
            <a:extLst xmlns:a="http://schemas.openxmlformats.org/drawingml/2006/main">
              <a:ext uri="{FF2B5EF4-FFF2-40B4-BE49-F238E27FC236}">
                <a16:creationId xmlns:a16="http://schemas.microsoft.com/office/drawing/2014/main" id="{527A2B66-55E1-417D-8E5F-1490701D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57925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 u="none" strike="noStrike">
                <a:solidFill>
                  <a:srgbClr val="64748B"/>
                </a:solidFill>
                <a:latin typeface="Arial"/>
                <a:ea typeface="Arial"/>
                <a:cs typeface="Arial"/>
              </a:rPr>
              <a:t>Source: Irfan et al. (2024), Overall. Author calculations.</a:t>
            </a:r>
            <a:endParaRPr sz="1050"/>
          </a:p>
        </p:txBody>
      </p:sp>
      <p:sp>
        <p:nvSpPr>
          <p:cNvPr id="169" name="Slide9_Object169">
            <a:extLst xmlns:a="http://schemas.openxmlformats.org/drawingml/2006/main">
              <a:ext uri="{FF2B5EF4-FFF2-40B4-BE49-F238E27FC236}">
                <a16:creationId xmlns:a16="http://schemas.microsoft.com/office/drawing/2014/main" id="{42CA6CAE-D352-4749-BEC5-AB08F7B5A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2397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23344F"/>
                </a:solidFill>
                <a:latin typeface="Arial"/>
                <a:ea typeface="Arial"/>
                <a:cs typeface="Arial"/>
              </a:rPr>
              <a:t>Method: Average four questionnaire items separately, plus the overall observer mean.</a:t>
            </a:r>
            <a:endParaRPr sz="1800"/>
          </a:p>
        </p:txBody>
      </p:sp>
      <p:sp>
        <p:nvSpPr>
          <p:cNvPr id="170" name="Slide9_Object170">
            <a:extLst xmlns:a="http://schemas.openxmlformats.org/drawingml/2006/main">
              <a:ext uri="{FF2B5EF4-FFF2-40B4-BE49-F238E27FC236}">
                <a16:creationId xmlns:a16="http://schemas.microsoft.com/office/drawing/2014/main" id="{2769443E-959F-4D94-B28A-AA9B83D5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9775"/>
            <a:ext cx="11087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C34D22"/>
                </a:solidFill>
                <a:latin typeface="Arial"/>
                <a:ea typeface="Arial"/>
                <a:cs typeface="Arial"/>
              </a:rPr>
              <a:t>The next comparison examines the relationship between these perspectives.</a:t>
            </a:r>
            <a:endParaRPr sz="1800"/>
          </a:p>
        </p:txBody>
      </p:sp>
      <p:sp>
        <p:nvSpPr>
          <p:cNvPr id="171" name="Slide9_Object171">
            <a:extLst xmlns:a="http://schemas.openxmlformats.org/drawingml/2006/main">
              <a:ext uri="{FF2B5EF4-FFF2-40B4-BE49-F238E27FC236}">
                <a16:creationId xmlns:a16="http://schemas.microsoft.com/office/drawing/2014/main" id="{7E37BC74-E16C-4914-A5DB-563730D08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724025"/>
            <a:ext cx="6191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7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3344F"/>
                </a:solidFill>
                <a:latin typeface="Arial"/>
                <a:ea typeface="Arial"/>
                <a:cs typeface="Arial"/>
              </a:rPr>
              <a:t>User reports: four survey items</a:t>
            </a:r>
            <a:endParaRPr sz="1875"/>
          </a:p>
        </p:txBody>
      </p:sp>
      <p:sp>
        <p:nvSpPr>
          <p:cNvPr id="172" name="Slide9_Object172">
            <a:extLst xmlns:a="http://schemas.openxmlformats.org/drawingml/2006/main">
              <a:ext uri="{FF2B5EF4-FFF2-40B4-BE49-F238E27FC236}">
                <a16:creationId xmlns:a16="http://schemas.microsoft.com/office/drawing/2014/main" id="{AF7BE6D8-87E8-46D3-B32E-6A50F1AFF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724025"/>
            <a:ext cx="2619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1">
                <a:solidFill>
                  <a:srgbClr val="9071E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1">
                <a:solidFill>
                  <a:srgbClr val="9071E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1">
                <a:solidFill>
                  <a:srgbClr val="9071E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1">
                <a:solidFill>
                  <a:srgbClr val="9071E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1">
                <a:solidFill>
                  <a:srgbClr val="9071E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1">
                <a:solidFill>
                  <a:srgbClr val="9071E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1">
                <a:solidFill>
                  <a:srgbClr val="9071E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1">
                <a:solidFill>
                  <a:srgbClr val="9071E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1">
                <a:solidFill>
                  <a:srgbClr val="9071E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23344F"/>
                </a:solidFill>
                <a:latin typeface="Arial"/>
                <a:ea typeface="Arial"/>
                <a:cs typeface="Arial"/>
              </a:rPr>
              <a:t>Observers: overall rating</a:t>
            </a:r>
            <a:endParaRPr sz="1650"/>
          </a:p>
        </p:txBody>
      </p:sp>
      <p:sp>
        <p:nvSpPr>
          <p:cNvPr id="173" name="Slide9_Object173">
            <a:extLst xmlns:a="http://schemas.openxmlformats.org/drawingml/2006/main">
              <a:ext uri="{FF2B5EF4-FFF2-40B4-BE49-F238E27FC236}">
                <a16:creationId xmlns:a16="http://schemas.microsoft.com/office/drawing/2014/main" id="{0729D180-E851-491D-81D5-A71F07803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781050"/>
            <a:ext cx="1762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2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2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2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2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2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2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2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2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2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2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2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76F8A"/>
                </a:solidFill>
                <a:latin typeface="Arial"/>
                <a:ea typeface="Arial"/>
                <a:cs typeface="Arial"/>
              </a:rPr>
              <a:t>HRI CUES main dataset</a:t>
            </a:r>
            <a:endParaRPr sz="1125"/>
          </a:p>
        </p:txBody>
      </p:sp>
    </p:spTree>
    <p:extLst>
      <p:ext uri="{BB962C8B-B14F-4D97-AF65-F5344CB8AC3E}">
        <p14:creationId xmlns:p14="http://schemas.microsoft.com/office/powerpoint/2010/main" val="12929809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9" name="text-0">
            <a:extLst xmlns:a="http://schemas.openxmlformats.org/drawingml/2006/main">
              <a:ext uri="{FF2B5EF4-FFF2-40B4-BE49-F238E27FC236}">
                <a16:creationId xmlns:a16="http://schemas.microsoft.com/office/drawing/2014/main" id="{3B34A3DF-0AA5-4384-A8C6-0BE6827D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"/>
            <a:ext cx="11087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5365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3000" b="1">
                <a:solidFill>
                  <a:srgbClr val="15365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 u="none" strike="noStrike">
                <a:solidFill>
                  <a:srgbClr val="15365C"/>
                </a:solidFill>
                <a:latin typeface="Arial"/>
                <a:ea typeface="Arial"/>
                <a:cs typeface="Arial"/>
              </a:rPr>
              <a:t>User and observer ratings</a:t>
            </a:r>
            <a:endParaRPr sz="3000"/>
          </a:p>
        </p:txBody>
      </p:sp>
      <p:sp>
        <p:nvSpPr>
          <p:cNvPr id="170" name="text-1">
            <a:extLst xmlns:a="http://schemas.openxmlformats.org/drawingml/2006/main">
              <a:ext uri="{FF2B5EF4-FFF2-40B4-BE49-F238E27FC236}">
                <a16:creationId xmlns:a16="http://schemas.microsoft.com/office/drawing/2014/main" id="{A45A2191-4B8E-43AC-AAF7-98A8F185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43675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 u="none" strike="noStrike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text-2">
            <a:extLst xmlns:a="http://schemas.openxmlformats.org/drawingml/2006/main">
              <a:ext uri="{FF2B5EF4-FFF2-40B4-BE49-F238E27FC236}">
                <a16:creationId xmlns:a16="http://schemas.microsoft.com/office/drawing/2014/main" id="{A09D7DAF-75C6-45F2-BDDB-188C63E3E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 u="none" strike="noStrike">
                <a:solidFill>
                  <a:srgbClr val="64748B"/>
                </a:solidFill>
                <a:latin typeface="Arial"/>
                <a:ea typeface="Arial"/>
                <a:cs typeface="Arial"/>
              </a:rPr>
              <a:t>Figure 5   Report p. 7</a:t>
            </a:r>
            <a:endParaRPr sz="1050"/>
          </a:p>
        </p:txBody>
      </p:sp>
      <p:graphicFrame>
        <p:nvGraphicFramePr>
          <p:cNvPr id="172" name="Chart">
            <a:extLst xmlns:a="http://schemas.openxmlformats.org/drawingml/2006/main">
              <a:ext uri="{FF2B5EF4-FFF2-40B4-BE49-F238E27FC236}">
                <a16:creationId xmlns:a16="http://schemas.microsoft.com/office/drawing/2014/main" id="{6FDE52C4-CE96-493D-AE48-753018D694D1}"/>
              </a:ext>
            </a:extLst>
          </p:cNvPr>
          <p:cNvGraphicFramePr/>
          <p:nvPr/>
        </p:nvGraphicFramePr>
        <p:xfrm>
          <a:off xmlns:a="http://schemas.openxmlformats.org/drawingml/2006/main" x="523875" y="2114550"/>
          <a:ext xmlns:a="http://schemas.openxmlformats.org/drawingml/2006/main" cx="11096625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6dba1f7fcf34d90"/>
          </a:graphicData>
        </a:graphic>
      </p:graphicFrame>
      <p:sp>
        <p:nvSpPr>
          <p:cNvPr id="173" name="text-3">
            <a:extLst xmlns:a="http://schemas.openxmlformats.org/drawingml/2006/main">
              <a:ext uri="{FF2B5EF4-FFF2-40B4-BE49-F238E27FC236}">
                <a16:creationId xmlns:a16="http://schemas.microsoft.com/office/drawing/2014/main" id="{17BB77F3-5663-48AC-BE9D-D3744704C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8107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8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u="none" strike="noStrike">
                <a:solidFill>
                  <a:srgbClr val="276F8A"/>
                </a:solidFill>
                <a:latin typeface="Arial"/>
                <a:ea typeface="Arial"/>
                <a:cs typeface="Arial"/>
              </a:rPr>
              <a:t>Purpose: Compare user reports with overall observer ratings.</a:t>
            </a:r>
            <a:endParaRPr sz="1800"/>
          </a:p>
        </p:txBody>
      </p:sp>
      <p:sp>
        <p:nvSpPr>
          <p:cNvPr id="174" name="text-4">
            <a:extLst xmlns:a="http://schemas.openxmlformats.org/drawingml/2006/main">
              <a:ext uri="{FF2B5EF4-FFF2-40B4-BE49-F238E27FC236}">
                <a16:creationId xmlns:a16="http://schemas.microsoft.com/office/drawing/2014/main" id="{58901417-3ED8-4EB1-AD61-778F7A9A4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57800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1">
                <a:latin typeface="Arial"/>
                <a:ea typeface="Arial"/>
                <a:cs typeface="Arial"/>
              </a:rPr>
              <a:t>Finding: Spearman is about -0.10, a weak association. The orange fit does not establish causation or prediction.</a:t>
            </a:r>
            <a:endParaRPr sz="1600"/>
          </a:p>
        </p:txBody>
      </p:sp>
      <p:sp>
        <p:nvSpPr>
          <p:cNvPr id="176" name="text-6">
            <a:extLst xmlns:a="http://schemas.openxmlformats.org/drawingml/2006/main">
              <a:ext uri="{FF2B5EF4-FFF2-40B4-BE49-F238E27FC236}">
                <a16:creationId xmlns:a16="http://schemas.microsoft.com/office/drawing/2014/main" id="{1D6B4964-E7E2-4D81-B28F-9ACEE2ABB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57925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 u="none" strike="noStrike">
                <a:solidFill>
                  <a:srgbClr val="64748B"/>
                </a:solidFill>
                <a:latin typeface="Arial"/>
                <a:ea typeface="Arial"/>
                <a:cs typeface="Arial"/>
              </a:rPr>
              <a:t>Source: Irfan et al. (2024), Overall. Author calculations.</a:t>
            </a:r>
            <a:endParaRPr sz="1050"/>
          </a:p>
        </p:txBody>
      </p:sp>
      <p:sp>
        <p:nvSpPr>
          <p:cNvPr id="177" name="Slide10_Object177">
            <a:extLst xmlns:a="http://schemas.openxmlformats.org/drawingml/2006/main">
              <a:ext uri="{FF2B5EF4-FFF2-40B4-BE49-F238E27FC236}">
                <a16:creationId xmlns:a16="http://schemas.microsoft.com/office/drawing/2014/main" id="{C2E6721E-1728-4F53-BED9-77D709EA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2397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23344F"/>
                </a:solidFill>
                <a:latin typeface="Arial"/>
                <a:ea typeface="Arial"/>
                <a:cs typeface="Arial"/>
              </a:rPr>
              <a:t>Method: Pair 24 complete three-positive-item averages with overall observer means.</a:t>
            </a:r>
            <a:endParaRPr sz="1800"/>
          </a:p>
        </p:txBody>
      </p:sp>
      <p:sp>
        <p:nvSpPr>
          <p:cNvPr id="178" name="Slide10_Object178">
            <a:extLst xmlns:a="http://schemas.openxmlformats.org/drawingml/2006/main">
              <a:ext uri="{FF2B5EF4-FFF2-40B4-BE49-F238E27FC236}">
                <a16:creationId xmlns:a16="http://schemas.microsoft.com/office/drawing/2014/main" id="{1EB132E1-AF30-441D-BB51-663F883EC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9775"/>
            <a:ext cx="11087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C34D22"/>
                </a:solidFill>
                <a:latin typeface="Arial"/>
                <a:ea typeface="Arial"/>
                <a:cs typeface="Arial"/>
              </a:rPr>
              <a:t>User and observer ratings differ. How much do observers differ from each other?</a:t>
            </a:r>
            <a:endParaRPr sz="1800"/>
          </a:p>
        </p:txBody>
      </p:sp>
      <p:sp>
        <p:nvSpPr>
          <p:cNvPr id="179" name="Slide10_Object179">
            <a:extLst xmlns:a="http://schemas.openxmlformats.org/drawingml/2006/main">
              <a:ext uri="{FF2B5EF4-FFF2-40B4-BE49-F238E27FC236}">
                <a16:creationId xmlns:a16="http://schemas.microsoft.com/office/drawing/2014/main" id="{3BF8AEFA-B770-4E70-877A-FB315775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743075"/>
            <a:ext cx="881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276F8A"/>
                </a:solidFill>
                <a:latin typeface="Arial"/>
                <a:ea typeface="Arial"/>
                <a:cs typeface="Arial"/>
              </a:rPr>
              <a:t>24 complete respondents   Spearman = -0.10</a:t>
            </a:r>
            <a:endParaRPr sz="1800"/>
          </a:p>
        </p:txBody>
      </p:sp>
      <p:sp>
        <p:nvSpPr>
          <p:cNvPr id="180" name="Slide10_Object180">
            <a:extLst xmlns:a="http://schemas.openxmlformats.org/drawingml/2006/main">
              <a:ext uri="{FF2B5EF4-FFF2-40B4-BE49-F238E27FC236}">
                <a16:creationId xmlns:a16="http://schemas.microsoft.com/office/drawing/2014/main" id="{C76B9598-E6D6-46D4-BC34-E9030EDAB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781050"/>
            <a:ext cx="1762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2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2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2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2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2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2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2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2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2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2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2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76F8A"/>
                </a:solidFill>
                <a:latin typeface="Arial"/>
                <a:ea typeface="Arial"/>
                <a:cs typeface="Arial"/>
              </a:rPr>
              <a:t>HRI CUES main dataset</a:t>
            </a:r>
            <a:endParaRPr sz="1125"/>
          </a:p>
        </p:txBody>
      </p:sp>
    </p:spTree>
    <p:extLst>
      <p:ext uri="{BB962C8B-B14F-4D97-AF65-F5344CB8AC3E}">
        <p14:creationId xmlns:p14="http://schemas.microsoft.com/office/powerpoint/2010/main" val="13045826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7" name="text-0">
            <a:extLst xmlns:a="http://schemas.openxmlformats.org/drawingml/2006/main">
              <a:ext uri="{FF2B5EF4-FFF2-40B4-BE49-F238E27FC236}">
                <a16:creationId xmlns:a16="http://schemas.microsoft.com/office/drawing/2014/main" id="{19FEC9F0-4C61-44E6-A7B7-73A0B3F80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"/>
            <a:ext cx="11087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5365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3000" b="1">
                <a:solidFill>
                  <a:srgbClr val="15365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 u="none" strike="noStrike">
                <a:solidFill>
                  <a:srgbClr val="15365C"/>
                </a:solidFill>
                <a:latin typeface="Arial"/>
                <a:ea typeface="Arial"/>
                <a:cs typeface="Arial"/>
              </a:rPr>
              <a:t>Score differences between observers</a:t>
            </a:r>
            <a:endParaRPr sz="3000"/>
          </a:p>
        </p:txBody>
      </p:sp>
      <p:sp>
        <p:nvSpPr>
          <p:cNvPr id="178" name="text-1">
            <a:extLst xmlns:a="http://schemas.openxmlformats.org/drawingml/2006/main">
              <a:ext uri="{FF2B5EF4-FFF2-40B4-BE49-F238E27FC236}">
                <a16:creationId xmlns:a16="http://schemas.microsoft.com/office/drawing/2014/main" id="{3EEC2778-F80B-45DB-BAEC-B1C1398BD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43675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 u="none" strike="noStrike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9" name="text-2">
            <a:extLst xmlns:a="http://schemas.openxmlformats.org/drawingml/2006/main">
              <a:ext uri="{FF2B5EF4-FFF2-40B4-BE49-F238E27FC236}">
                <a16:creationId xmlns:a16="http://schemas.microsoft.com/office/drawing/2014/main" id="{B8298E04-EA72-43C8-9A2A-7239FF12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 u="none" strike="noStrike">
                <a:solidFill>
                  <a:srgbClr val="64748B"/>
                </a:solidFill>
                <a:latin typeface="Arial"/>
                <a:ea typeface="Arial"/>
                <a:cs typeface="Arial"/>
              </a:rPr>
              <a:t>Figure 6   Report p. 7</a:t>
            </a:r>
            <a:endParaRPr sz="1050"/>
          </a:p>
        </p:txBody>
      </p:sp>
      <p:graphicFrame>
        <p:nvGraphicFramePr>
          <p:cNvPr id="180" name="Chart">
            <a:extLst xmlns:a="http://schemas.openxmlformats.org/drawingml/2006/main">
              <a:ext uri="{FF2B5EF4-FFF2-40B4-BE49-F238E27FC236}">
                <a16:creationId xmlns:a16="http://schemas.microsoft.com/office/drawing/2014/main" id="{275747D0-A229-492D-8207-90687FB4139C}"/>
              </a:ext>
            </a:extLst>
          </p:cNvPr>
          <p:cNvGraphicFramePr/>
          <p:nvPr/>
        </p:nvGraphicFramePr>
        <p:xfrm>
          <a:off xmlns:a="http://schemas.openxmlformats.org/drawingml/2006/main" x="523875" y="1762125"/>
          <a:ext xmlns:a="http://schemas.openxmlformats.org/drawingml/2006/main" cx="11096625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c879409b3764683"/>
          </a:graphicData>
        </a:graphic>
      </p:graphicFrame>
      <p:sp>
        <p:nvSpPr>
          <p:cNvPr id="181" name="text-3">
            <a:extLst xmlns:a="http://schemas.openxmlformats.org/drawingml/2006/main">
              <a:ext uri="{FF2B5EF4-FFF2-40B4-BE49-F238E27FC236}">
                <a16:creationId xmlns:a16="http://schemas.microsoft.com/office/drawing/2014/main" id="{EE5D0140-FED5-4F82-95E0-B8885CC44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8107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8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u="none" strike="noStrike">
                <a:solidFill>
                  <a:srgbClr val="276F8A"/>
                </a:solidFill>
                <a:latin typeface="Arial"/>
                <a:ea typeface="Arial"/>
                <a:cs typeface="Arial"/>
              </a:rPr>
              <a:t>Purpose: Describe differences between the three ratings of each turn.</a:t>
            </a:r>
            <a:endParaRPr sz="1800"/>
          </a:p>
        </p:txBody>
      </p:sp>
      <p:sp>
        <p:nvSpPr>
          <p:cNvPr id="182" name="text-4">
            <a:extLst xmlns:a="http://schemas.openxmlformats.org/drawingml/2006/main">
              <a:ext uri="{FF2B5EF4-FFF2-40B4-BE49-F238E27FC236}">
                <a16:creationId xmlns:a16="http://schemas.microsoft.com/office/drawing/2014/main" id="{C7007E25-DCB6-484C-9CA6-7B17E781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57800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6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6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6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6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6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6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6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6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6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1">
                <a:latin typeface="Arial"/>
                <a:ea typeface="Arial"/>
                <a:cs typeface="Arial"/>
              </a:rPr>
              <a:t>Finding: Blue: 478 turns (81.0%). Orange: 112 (19.0%). Score spread is descriptive only.</a:t>
            </a:r>
            <a:endParaRPr sz="1600"/>
          </a:p>
        </p:txBody>
      </p:sp>
      <p:sp>
        <p:nvSpPr>
          <p:cNvPr id="184" name="text-6">
            <a:extLst xmlns:a="http://schemas.openxmlformats.org/drawingml/2006/main">
              <a:ext uri="{FF2B5EF4-FFF2-40B4-BE49-F238E27FC236}">
                <a16:creationId xmlns:a16="http://schemas.microsoft.com/office/drawing/2014/main" id="{014113D8-AED7-4CA1-8940-101701C88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57925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 u="none" strike="noStrike">
                <a:solidFill>
                  <a:srgbClr val="64748B"/>
                </a:solidFill>
                <a:latin typeface="Arial"/>
                <a:ea typeface="Arial"/>
                <a:cs typeface="Arial"/>
              </a:rPr>
              <a:t>Source: Irfan et al. (2024), Exchanges. Author calculations.</a:t>
            </a:r>
            <a:endParaRPr sz="1050"/>
          </a:p>
        </p:txBody>
      </p:sp>
      <p:sp>
        <p:nvSpPr>
          <p:cNvPr id="185" name="Slide11_Object185">
            <a:extLst xmlns:a="http://schemas.openxmlformats.org/drawingml/2006/main">
              <a:ext uri="{FF2B5EF4-FFF2-40B4-BE49-F238E27FC236}">
                <a16:creationId xmlns:a16="http://schemas.microsoft.com/office/drawing/2014/main" id="{A5872C93-50E7-4D6B-B0F3-7BB31F1CC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2397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23344F"/>
                </a:solidFill>
                <a:latin typeface="Arial"/>
                <a:ea typeface="Arial"/>
                <a:cs typeface="Arial"/>
              </a:rPr>
              <a:t>Method: Subtract the lowest from the highest score per turn, then count each gap.</a:t>
            </a:r>
            <a:endParaRPr sz="1800"/>
          </a:p>
        </p:txBody>
      </p:sp>
      <p:sp>
        <p:nvSpPr>
          <p:cNvPr id="186" name="Slide11_Object186">
            <a:extLst xmlns:a="http://schemas.openxmlformats.org/drawingml/2006/main">
              <a:ext uri="{FF2B5EF4-FFF2-40B4-BE49-F238E27FC236}">
                <a16:creationId xmlns:a16="http://schemas.microsoft.com/office/drawing/2014/main" id="{9C7DABDD-4BB8-4C15-AB2D-93610EF4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9775"/>
            <a:ext cx="11087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C34D22"/>
                </a:solidFill>
                <a:latin typeface="Arial"/>
                <a:ea typeface="Arial"/>
                <a:cs typeface="Arial"/>
              </a:rPr>
              <a:t>The workshop does not measure continued use. Product studies provide further context.</a:t>
            </a:r>
            <a:endParaRPr sz="1800"/>
          </a:p>
        </p:txBody>
      </p:sp>
      <p:sp>
        <p:nvSpPr>
          <p:cNvPr id="187" name="Slide11_Object187">
            <a:extLst xmlns:a="http://schemas.openxmlformats.org/drawingml/2006/main">
              <a:ext uri="{FF2B5EF4-FFF2-40B4-BE49-F238E27FC236}">
                <a16:creationId xmlns:a16="http://schemas.microsoft.com/office/drawing/2014/main" id="{084C123B-8AA6-4A07-913C-73A030A4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781050"/>
            <a:ext cx="1762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2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2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2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2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2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2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2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2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2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2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2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76F8A"/>
                </a:solidFill>
                <a:latin typeface="Arial"/>
                <a:ea typeface="Arial"/>
                <a:cs typeface="Arial"/>
              </a:rPr>
              <a:t>HRI CUES main dataset</a:t>
            </a:r>
            <a:endParaRPr sz="1125"/>
          </a:p>
        </p:txBody>
      </p:sp>
    </p:spTree>
    <p:extLst>
      <p:ext uri="{BB962C8B-B14F-4D97-AF65-F5344CB8AC3E}">
        <p14:creationId xmlns:p14="http://schemas.microsoft.com/office/powerpoint/2010/main" val="23745692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1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text-0">
            <a:extLst xmlns:a="http://schemas.openxmlformats.org/drawingml/2006/main">
              <a:ext uri="{FF2B5EF4-FFF2-40B4-BE49-F238E27FC236}">
                <a16:creationId xmlns:a16="http://schemas.microsoft.com/office/drawing/2014/main" id="{DFAA63F9-5A15-417D-8E5E-A5B556AA4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"/>
            <a:ext cx="11087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5365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3000" b="1">
                <a:solidFill>
                  <a:srgbClr val="15365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 u="none" strike="noStrike">
                <a:solidFill>
                  <a:srgbClr val="15365C"/>
                </a:solidFill>
                <a:latin typeface="Arial"/>
                <a:ea typeface="Arial"/>
                <a:cs typeface="Arial"/>
              </a:rPr>
              <a:t>Continued use after a short interaction</a:t>
            </a:r>
            <a:endParaRPr sz="3000"/>
          </a:p>
        </p:txBody>
      </p:sp>
      <p:sp>
        <p:nvSpPr>
          <p:cNvPr id="51" name="text-1">
            <a:extLst xmlns:a="http://schemas.openxmlformats.org/drawingml/2006/main">
              <a:ext uri="{FF2B5EF4-FFF2-40B4-BE49-F238E27FC236}">
                <a16:creationId xmlns:a16="http://schemas.microsoft.com/office/drawing/2014/main" id="{F89A8EE3-24FB-4EB6-AA3A-8D3051F3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43675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 u="none" strike="noStrike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" name="text-2">
            <a:extLst xmlns:a="http://schemas.openxmlformats.org/drawingml/2006/main">
              <a:ext uri="{FF2B5EF4-FFF2-40B4-BE49-F238E27FC236}">
                <a16:creationId xmlns:a16="http://schemas.microsoft.com/office/drawing/2014/main" id="{3914C44A-EDCC-484F-B4AF-56A96D643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666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0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0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0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0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0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0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0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0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0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0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0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 u="none" strike="noStrike">
                <a:solidFill>
                  <a:srgbClr val="23344F"/>
                </a:solidFill>
                <a:latin typeface="Arial"/>
                <a:ea typeface="Arial"/>
                <a:cs typeface="Arial"/>
              </a:rPr>
              <a:t>Product appendix: Report pp. 19-21</a:t>
            </a:r>
            <a:endParaRPr sz="1050"/>
          </a:p>
        </p:txBody>
      </p:sp>
      <p:pic>
        <p:nvPicPr>
          <p:cNvPr id="53" name="Slide12_Object53">
            <a:extLst xmlns:a="http://schemas.openxmlformats.org/drawingml/2006/main">
              <a:ext uri="{FF2B5EF4-FFF2-40B4-BE49-F238E27FC236}">
                <a16:creationId xmlns:a16="http://schemas.microsoft.com/office/drawing/2014/main" id="{AD5451F5-E3FD-4C88-B8B9-F732D77DAB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1b663808a24ebe"/>
          <a:stretch xmlns:a="http://schemas.openxmlformats.org/drawingml/2006/main"/>
        </p:blipFill>
        <p:spPr>
          <a:xfrm xmlns:a="http://schemas.openxmlformats.org/drawingml/2006/main">
            <a:off x="571680" y="2143800"/>
            <a:ext cx="2047680" cy="11509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54" name="text-3">
            <a:extLst xmlns:a="http://schemas.openxmlformats.org/drawingml/2006/main">
              <a:ext uri="{FF2B5EF4-FFF2-40B4-BE49-F238E27FC236}">
                <a16:creationId xmlns:a16="http://schemas.microsoft.com/office/drawing/2014/main" id="{C39A63F4-8489-469E-AD7E-0298C49C1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691" y="3905250"/>
            <a:ext cx="2047685" cy="4568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1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1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1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1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1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1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1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1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1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21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0" b="0" u="none" strike="noStrike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rPr>
              <a:t>ElliQ</a:t>
            </a:r>
            <a:endParaRPr sz="217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" name="text-4">
            <a:extLst xmlns:a="http://schemas.openxmlformats.org/drawingml/2006/main">
              <a:ext uri="{FF2B5EF4-FFF2-40B4-BE49-F238E27FC236}">
                <a16:creationId xmlns:a16="http://schemas.microsoft.com/office/drawing/2014/main" id="{EDF3A681-0D9D-4C75-BD0E-5B7244E9F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691" y="4476560"/>
            <a:ext cx="2047685" cy="8567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8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0" b="0" u="none" strike="noStrike">
                <a:solidFill>
                  <a:srgbClr val="23344F"/>
                </a:solidFill>
                <a:latin typeface="Arial"/>
                <a:ea typeface="Arial"/>
                <a:cs typeface="Arial"/>
              </a:rPr>
              <a:t>Desktop conversation and activities</a:t>
            </a:r>
            <a:endParaRPr sz="1870"/>
          </a:p>
        </p:txBody>
      </p:sp>
      <p:pic>
        <p:nvPicPr>
          <p:cNvPr id="56" name="Slide12_Object56">
            <a:extLst xmlns:a="http://schemas.openxmlformats.org/drawingml/2006/main">
              <a:ext uri="{FF2B5EF4-FFF2-40B4-BE49-F238E27FC236}">
                <a16:creationId xmlns:a16="http://schemas.microsoft.com/office/drawing/2014/main" id="{271E1FD6-1BCB-40E1-990E-1138408D71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cde46112634914"/>
          <a:stretch xmlns:a="http://schemas.openxmlformats.org/drawingml/2006/main"/>
        </p:blipFill>
        <p:spPr>
          <a:xfrm xmlns:a="http://schemas.openxmlformats.org/drawingml/2006/main">
            <a:off x="2809800" y="2053800"/>
            <a:ext cx="2047680" cy="13309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57" name="text-5">
            <a:extLst xmlns:a="http://schemas.openxmlformats.org/drawingml/2006/main">
              <a:ext uri="{FF2B5EF4-FFF2-40B4-BE49-F238E27FC236}">
                <a16:creationId xmlns:a16="http://schemas.microsoft.com/office/drawing/2014/main" id="{2756BC8F-D241-477A-A863-07A7B96DC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780" y="3905250"/>
            <a:ext cx="2047685" cy="4568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1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1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1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1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1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1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1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1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1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21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0" b="0" u="none" strike="noStrike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rPr>
              <a:t>PIO</a:t>
            </a:r>
            <a:endParaRPr sz="217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text-6">
            <a:extLst xmlns:a="http://schemas.openxmlformats.org/drawingml/2006/main">
              <a:ext uri="{FF2B5EF4-FFF2-40B4-BE49-F238E27FC236}">
                <a16:creationId xmlns:a16="http://schemas.microsoft.com/office/drawing/2014/main" id="{3EBA96D5-3AA7-41C4-A054-E93BB156F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780" y="4476560"/>
            <a:ext cx="2047685" cy="8567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8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0" b="0" u="none" strike="noStrike">
                <a:solidFill>
                  <a:srgbClr val="23344F"/>
                </a:solidFill>
                <a:latin typeface="Arial"/>
                <a:ea typeface="Arial"/>
                <a:cs typeface="Arial"/>
              </a:rPr>
              <a:t>Parrot shaped activity robot</a:t>
            </a:r>
            <a:endParaRPr sz="1870"/>
          </a:p>
        </p:txBody>
      </p:sp>
      <p:pic>
        <p:nvPicPr>
          <p:cNvPr id="59" name="Slide12_Object59">
            <a:extLst xmlns:a="http://schemas.openxmlformats.org/drawingml/2006/main">
              <a:ext uri="{FF2B5EF4-FFF2-40B4-BE49-F238E27FC236}">
                <a16:creationId xmlns:a16="http://schemas.microsoft.com/office/drawing/2014/main" id="{BEF45307-72CA-4319-81E5-92EB2FB368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0416cbaf0b4bb5"/>
          <a:stretch xmlns:a="http://schemas.openxmlformats.org/drawingml/2006/main"/>
        </p:blipFill>
        <p:spPr>
          <a:xfrm xmlns:a="http://schemas.openxmlformats.org/drawingml/2006/main">
            <a:off x="5048280" y="1951560"/>
            <a:ext cx="2047680" cy="15354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60" name="text-7">
            <a:extLst xmlns:a="http://schemas.openxmlformats.org/drawingml/2006/main">
              <a:ext uri="{FF2B5EF4-FFF2-40B4-BE49-F238E27FC236}">
                <a16:creationId xmlns:a16="http://schemas.microsoft.com/office/drawing/2014/main" id="{00486A96-9920-4CA9-9F31-36EC65035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905250"/>
            <a:ext cx="2047685" cy="4568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1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1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1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1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1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1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1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1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1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21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0" b="0" u="none" strike="noStrike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rPr>
              <a:t>PARO</a:t>
            </a:r>
            <a:endParaRPr sz="217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" name="text-8">
            <a:extLst xmlns:a="http://schemas.openxmlformats.org/drawingml/2006/main">
              <a:ext uri="{FF2B5EF4-FFF2-40B4-BE49-F238E27FC236}">
                <a16:creationId xmlns:a16="http://schemas.microsoft.com/office/drawing/2014/main" id="{ACE197CE-CD59-43AE-B504-2F3672EB5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476560"/>
            <a:ext cx="2047685" cy="8567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8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0" b="0" u="none" strike="noStrike">
                <a:solidFill>
                  <a:srgbClr val="23344F"/>
                </a:solidFill>
                <a:latin typeface="Arial"/>
                <a:ea typeface="Arial"/>
                <a:cs typeface="Arial"/>
              </a:rPr>
              <a:t>Seal shaped interaction robot</a:t>
            </a:r>
            <a:endParaRPr sz="1870"/>
          </a:p>
        </p:txBody>
      </p:sp>
      <p:pic>
        <p:nvPicPr>
          <p:cNvPr id="62" name="Slide12_Object62">
            <a:extLst xmlns:a="http://schemas.openxmlformats.org/drawingml/2006/main">
              <a:ext uri="{FF2B5EF4-FFF2-40B4-BE49-F238E27FC236}">
                <a16:creationId xmlns:a16="http://schemas.microsoft.com/office/drawing/2014/main" id="{8323DB0D-FEA5-4322-875B-F5C3EF2BBF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d9bc6f3d3349f4"/>
          <a:stretch xmlns:a="http://schemas.openxmlformats.org/drawingml/2006/main"/>
        </p:blipFill>
        <p:spPr>
          <a:xfrm xmlns:a="http://schemas.openxmlformats.org/drawingml/2006/main">
            <a:off x="7286760" y="2072880"/>
            <a:ext cx="2047680" cy="12924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63" name="text-9">
            <a:extLst xmlns:a="http://schemas.openxmlformats.org/drawingml/2006/main">
              <a:ext uri="{FF2B5EF4-FFF2-40B4-BE49-F238E27FC236}">
                <a16:creationId xmlns:a16="http://schemas.microsoft.com/office/drawing/2014/main" id="{061BFEE3-49DD-4610-BD87-384559872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720" y="3905250"/>
            <a:ext cx="2047685" cy="4568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1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1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1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1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1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1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1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1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1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21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0" b="0" u="none" strike="noStrike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rPr>
              <a:t>Hyodol</a:t>
            </a:r>
            <a:endParaRPr sz="217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" name="text-10">
            <a:extLst xmlns:a="http://schemas.openxmlformats.org/drawingml/2006/main">
              <a:ext uri="{FF2B5EF4-FFF2-40B4-BE49-F238E27FC236}">
                <a16:creationId xmlns:a16="http://schemas.microsoft.com/office/drawing/2014/main" id="{2419BE84-4EC1-4C3A-AF24-3993AAF36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720" y="4476560"/>
            <a:ext cx="2047685" cy="8567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8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0" b="0" u="none" strike="noStrike">
                <a:solidFill>
                  <a:srgbClr val="23344F"/>
                </a:solidFill>
                <a:latin typeface="Arial"/>
                <a:ea typeface="Arial"/>
                <a:cs typeface="Arial"/>
              </a:rPr>
              <a:t>Doll retention and return</a:t>
            </a:r>
            <a:endParaRPr sz="1870"/>
          </a:p>
        </p:txBody>
      </p:sp>
      <p:pic>
        <p:nvPicPr>
          <p:cNvPr id="65" name="Slide12_Object65">
            <a:extLst xmlns:a="http://schemas.openxmlformats.org/drawingml/2006/main">
              <a:ext uri="{FF2B5EF4-FFF2-40B4-BE49-F238E27FC236}">
                <a16:creationId xmlns:a16="http://schemas.microsoft.com/office/drawing/2014/main" id="{F0EB32DE-5410-4C89-8433-CDFE52F6F0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73df4174284ba8"/>
          <a:stretch xmlns:a="http://schemas.openxmlformats.org/drawingml/2006/main"/>
        </p:blipFill>
        <p:spPr>
          <a:xfrm xmlns:a="http://schemas.openxmlformats.org/drawingml/2006/main">
            <a:off x="9524880" y="2037960"/>
            <a:ext cx="2047680" cy="13622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66" name="text-11">
            <a:extLst xmlns:a="http://schemas.openxmlformats.org/drawingml/2006/main">
              <a:ext uri="{FF2B5EF4-FFF2-40B4-BE49-F238E27FC236}">
                <a16:creationId xmlns:a16="http://schemas.microsoft.com/office/drawing/2014/main" id="{17C78514-2126-4F5C-9228-4CB42E604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4905" y="3905250"/>
            <a:ext cx="2047685" cy="4568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1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1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1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1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1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1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1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1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1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21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0" b="0" u="none" strike="noStrike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rPr>
              <a:t>Hobbit</a:t>
            </a:r>
            <a:endParaRPr sz="217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text-12">
            <a:extLst xmlns:a="http://schemas.openxmlformats.org/drawingml/2006/main">
              <a:ext uri="{FF2B5EF4-FFF2-40B4-BE49-F238E27FC236}">
                <a16:creationId xmlns:a16="http://schemas.microsoft.com/office/drawing/2014/main" id="{76B0169C-8F6B-40B1-AD33-34C1856C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4905" y="4476560"/>
            <a:ext cx="2047685" cy="8567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8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0" b="0" u="none" strike="noStrike">
                <a:solidFill>
                  <a:srgbClr val="23344F"/>
                </a:solidFill>
                <a:latin typeface="Arial"/>
                <a:ea typeface="Arial"/>
                <a:cs typeface="Arial"/>
              </a:rPr>
              <a:t>Mobile home support prototype</a:t>
            </a:r>
            <a:endParaRPr sz="1870"/>
          </a:p>
        </p:txBody>
      </p:sp>
      <p:sp>
        <p:nvSpPr>
          <p:cNvPr id="68" name="text-13">
            <a:extLst xmlns:a="http://schemas.openxmlformats.org/drawingml/2006/main">
              <a:ext uri="{FF2B5EF4-FFF2-40B4-BE49-F238E27FC236}">
                <a16:creationId xmlns:a16="http://schemas.microsoft.com/office/drawing/2014/main" id="{D6D17B72-29E0-4ABC-B0E0-00D95A2CA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76875"/>
            <a:ext cx="11087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6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6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6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6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6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6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6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6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6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 u="none" strike="noStrike">
                <a:solidFill>
                  <a:srgbClr val="23344F"/>
                </a:solidFill>
                <a:latin typeface="Arial"/>
                <a:ea typeface="Arial"/>
                <a:cs typeface="Arial"/>
              </a:rPr>
              <a:t>Different participants, periods and measures. These studies supplement the workshop evidence.</a:t>
            </a:r>
            <a:endParaRPr sz="1650"/>
          </a:p>
        </p:txBody>
      </p:sp>
      <p:sp>
        <p:nvSpPr>
          <p:cNvPr id="69" name="Slide12_Object69">
            <a:extLst xmlns:a="http://schemas.openxmlformats.org/drawingml/2006/main">
              <a:ext uri="{FF2B5EF4-FFF2-40B4-BE49-F238E27FC236}">
                <a16:creationId xmlns:a16="http://schemas.microsoft.com/office/drawing/2014/main" id="{858E7DB1-4C88-4D23-BA54-C99843D62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0"/>
            <a:ext cx="1108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C34D22"/>
                </a:solidFill>
                <a:latin typeface="Arial"/>
                <a:ea typeface="Arial"/>
                <a:cs typeface="Arial"/>
              </a:rPr>
              <a:t>First, examine ElliQ activity shares and user feedback.</a:t>
            </a: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124932046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text-0">
            <a:extLst xmlns:a="http://schemas.openxmlformats.org/drawingml/2006/main">
              <a:ext uri="{FF2B5EF4-FFF2-40B4-BE49-F238E27FC236}">
                <a16:creationId xmlns:a16="http://schemas.microsoft.com/office/drawing/2014/main" id="{45C4DC4E-F0E1-40F4-90E7-7BC098004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"/>
            <a:ext cx="9810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5365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3000" b="1">
                <a:solidFill>
                  <a:srgbClr val="15365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 u="none" strike="noStrike">
                <a:solidFill>
                  <a:srgbClr val="15365C"/>
                </a:solidFill>
                <a:latin typeface="Arial"/>
                <a:ea typeface="Arial"/>
                <a:cs typeface="Arial"/>
              </a:rPr>
              <a:t>ElliQ activity categories</a:t>
            </a:r>
            <a:endParaRPr sz="3000"/>
          </a:p>
        </p:txBody>
      </p:sp>
      <p:sp>
        <p:nvSpPr>
          <p:cNvPr id="70" name="text-1">
            <a:extLst xmlns:a="http://schemas.openxmlformats.org/drawingml/2006/main">
              <a:ext uri="{FF2B5EF4-FFF2-40B4-BE49-F238E27FC236}">
                <a16:creationId xmlns:a16="http://schemas.microsoft.com/office/drawing/2014/main" id="{60EF9185-14DC-4C10-8544-00DA77D4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43675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 u="none" strike="noStrike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text-2">
            <a:extLst xmlns:a="http://schemas.openxmlformats.org/drawingml/2006/main">
              <a:ext uri="{FF2B5EF4-FFF2-40B4-BE49-F238E27FC236}">
                <a16:creationId xmlns:a16="http://schemas.microsoft.com/office/drawing/2014/main" id="{507591A5-A594-4057-A4A8-9750BFD4C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 u="none" strike="noStrike">
                <a:solidFill>
                  <a:srgbClr val="64748B"/>
                </a:solidFill>
                <a:latin typeface="Arial"/>
                <a:ea typeface="Arial"/>
                <a:cs typeface="Arial"/>
              </a:rPr>
              <a:t>Figure 8   Report p. 8</a:t>
            </a:r>
            <a:endParaRPr sz="1050"/>
          </a:p>
        </p:txBody>
      </p:sp>
      <p:graphicFrame>
        <p:nvGraphicFramePr>
          <p:cNvPr id="72" name="Chart">
            <a:extLst xmlns:a="http://schemas.openxmlformats.org/drawingml/2006/main">
              <a:ext uri="{FF2B5EF4-FFF2-40B4-BE49-F238E27FC236}">
                <a16:creationId xmlns:a16="http://schemas.microsoft.com/office/drawing/2014/main" id="{B8603DA2-BB17-427C-B9D7-A5DDD2CA9F29}"/>
              </a:ext>
            </a:extLst>
          </p:cNvPr>
          <p:cNvGraphicFramePr/>
          <p:nvPr/>
        </p:nvGraphicFramePr>
        <p:xfrm>
          <a:off xmlns:a="http://schemas.openxmlformats.org/drawingml/2006/main" x="523875" y="1762125"/>
          <a:ext xmlns:a="http://schemas.openxmlformats.org/drawingml/2006/main" cx="11096625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f3ed22b58104119"/>
          </a:graphicData>
        </a:graphic>
      </p:graphicFrame>
      <p:sp>
        <p:nvSpPr>
          <p:cNvPr id="73" name="text-3">
            <a:extLst xmlns:a="http://schemas.openxmlformats.org/drawingml/2006/main">
              <a:ext uri="{FF2B5EF4-FFF2-40B4-BE49-F238E27FC236}">
                <a16:creationId xmlns:a16="http://schemas.microsoft.com/office/drawing/2014/main" id="{A2B3A2E5-E17C-4F96-83C9-9AAA9A1BD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81075"/>
            <a:ext cx="976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8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u="none" strike="noStrike">
                <a:solidFill>
                  <a:srgbClr val="276F8A"/>
                </a:solidFill>
                <a:latin typeface="Arial"/>
                <a:ea typeface="Arial"/>
                <a:cs typeface="Arial"/>
              </a:rPr>
              <a:t>Purpose: Understand the reported uses of a companion product.</a:t>
            </a:r>
            <a:endParaRPr sz="1800"/>
          </a:p>
        </p:txBody>
      </p:sp>
      <p:sp>
        <p:nvSpPr>
          <p:cNvPr id="74" name="text-4">
            <a:extLst xmlns:a="http://schemas.openxmlformats.org/drawingml/2006/main">
              <a:ext uri="{FF2B5EF4-FFF2-40B4-BE49-F238E27FC236}">
                <a16:creationId xmlns:a16="http://schemas.microsoft.com/office/drawing/2014/main" id="{6B3732BC-248F-4019-9DE1-133035047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57800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1">
                <a:latin typeface="Arial"/>
                <a:ea typeface="Arial"/>
                <a:cs typeface="Arial"/>
              </a:rPr>
              <a:t>Finding: Companionship accounts for 40.1% of activities. This is not a treatment effect or a share of users.</a:t>
            </a:r>
            <a:endParaRPr sz="1600"/>
          </a:p>
        </p:txBody>
      </p:sp>
      <p:sp>
        <p:nvSpPr>
          <p:cNvPr id="76" name="text-6">
            <a:extLst xmlns:a="http://schemas.openxmlformats.org/drawingml/2006/main">
              <a:ext uri="{FF2B5EF4-FFF2-40B4-BE49-F238E27FC236}">
                <a16:creationId xmlns:a16="http://schemas.microsoft.com/office/drawing/2014/main" id="{2805F305-9763-4985-A6C1-446906EB3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57925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 u="none" strike="noStrike">
                <a:solidFill>
                  <a:srgbClr val="64748B"/>
                </a:solidFill>
                <a:latin typeface="Arial"/>
                <a:ea typeface="Arial"/>
                <a:cs typeface="Arial"/>
              </a:rPr>
              <a:t>Source: Intuition Robotics (2026), p. 6.</a:t>
            </a:r>
            <a:endParaRPr sz="1050"/>
          </a:p>
        </p:txBody>
      </p:sp>
      <p:sp>
        <p:nvSpPr>
          <p:cNvPr id="77" name="Slide13_Object77">
            <a:extLst xmlns:a="http://schemas.openxmlformats.org/drawingml/2006/main">
              <a:ext uri="{FF2B5EF4-FFF2-40B4-BE49-F238E27FC236}">
                <a16:creationId xmlns:a16="http://schemas.microsoft.com/office/drawing/2014/main" id="{9BD1A872-56A9-46D4-A378-95BD47707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2397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23344F"/>
                </a:solidFill>
                <a:latin typeface="Arial"/>
                <a:ea typeface="Arial"/>
                <a:cs typeface="Arial"/>
              </a:rPr>
              <a:t>Method: Sort reported activity shares and compare them in a horizontal bar chart.</a:t>
            </a:r>
            <a:endParaRPr sz="1800"/>
          </a:p>
        </p:txBody>
      </p:sp>
      <p:sp>
        <p:nvSpPr>
          <p:cNvPr id="78" name="Slide13_Object78">
            <a:extLst xmlns:a="http://schemas.openxmlformats.org/drawingml/2006/main">
              <a:ext uri="{FF2B5EF4-FFF2-40B4-BE49-F238E27FC236}">
                <a16:creationId xmlns:a16="http://schemas.microsoft.com/office/drawing/2014/main" id="{6F40065B-2CA5-4F72-A155-D256CDC72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9775"/>
            <a:ext cx="11087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C34D22"/>
                </a:solidFill>
                <a:latin typeface="Arial"/>
                <a:ea typeface="Arial"/>
                <a:cs typeface="Arial"/>
              </a:rPr>
              <a:t>Activity shares describe use. User feedback describes reported experience.</a:t>
            </a:r>
            <a:endParaRPr sz="1800"/>
          </a:p>
        </p:txBody>
      </p:sp>
      <p:pic>
        <p:nvPicPr>
          <p:cNvPr id="79" name="Slide13_Object79">
            <a:extLst xmlns:a="http://schemas.openxmlformats.org/drawingml/2006/main">
              <a:ext uri="{FF2B5EF4-FFF2-40B4-BE49-F238E27FC236}">
                <a16:creationId xmlns:a16="http://schemas.microsoft.com/office/drawing/2014/main" id="{30EAB916-59CA-40D1-8926-DCBF35487D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740d98de424df9"/>
          <a:srcRect xmlns:a="http://schemas.openxmlformats.org/drawingml/2006/main" l="13000" t="1000" r="13000" b="1000"/>
          <a:stretch xmlns:a="http://schemas.openxmlformats.org/drawingml/2006/main"/>
        </p:blipFill>
        <p:spPr>
          <a:xfrm xmlns:a="http://schemas.openxmlformats.org/drawingml/2006/main">
            <a:off x="10675543" y="133350"/>
            <a:ext cx="985039" cy="733425"/>
          </a:xfrm>
          <a:prstGeom xmlns:a="http://schemas.openxmlformats.org/drawingml/2006/main" prst="rect">
            <a:avLst/>
          </a:prstGeom>
        </p:spPr>
      </p:pic>
      <p:sp>
        <p:nvSpPr>
          <p:cNvPr id="80" name="Slide13_Object80">
            <a:extLst xmlns:a="http://schemas.openxmlformats.org/drawingml/2006/main">
              <a:ext uri="{FF2B5EF4-FFF2-40B4-BE49-F238E27FC236}">
                <a16:creationId xmlns:a16="http://schemas.microsoft.com/office/drawing/2014/main" id="{69403155-8A08-44D5-9005-75E230FA2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847725"/>
            <a:ext cx="1333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rPr>
              <a:t>ElliQ</a:t>
            </a:r>
          </a:p>
        </p:txBody>
      </p:sp>
    </p:spTree>
    <p:extLst>
      <p:ext uri="{BB962C8B-B14F-4D97-AF65-F5344CB8AC3E}">
        <p14:creationId xmlns:p14="http://schemas.microsoft.com/office/powerpoint/2010/main" val="11908339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7" name="text-0">
            <a:extLst xmlns:a="http://schemas.openxmlformats.org/drawingml/2006/main">
              <a:ext uri="{FF2B5EF4-FFF2-40B4-BE49-F238E27FC236}">
                <a16:creationId xmlns:a16="http://schemas.microsoft.com/office/drawing/2014/main" id="{730E2652-4A4A-4156-AD19-4F851BFB5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"/>
            <a:ext cx="9810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5365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3000" b="1">
                <a:solidFill>
                  <a:srgbClr val="15365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 u="none" strike="noStrike">
                <a:solidFill>
                  <a:srgbClr val="15365C"/>
                </a:solidFill>
                <a:latin typeface="Arial"/>
                <a:ea typeface="Arial"/>
                <a:cs typeface="Arial"/>
              </a:rPr>
              <a:t>ElliQ self-reported feedback</a:t>
            </a:r>
            <a:endParaRPr sz="3000"/>
          </a:p>
        </p:txBody>
      </p:sp>
      <p:sp>
        <p:nvSpPr>
          <p:cNvPr id="78" name="text-1">
            <a:extLst xmlns:a="http://schemas.openxmlformats.org/drawingml/2006/main">
              <a:ext uri="{FF2B5EF4-FFF2-40B4-BE49-F238E27FC236}">
                <a16:creationId xmlns:a16="http://schemas.microsoft.com/office/drawing/2014/main" id="{EAEB5768-12E4-489C-9C4E-296D5ECFB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43675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 u="none" strike="noStrike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9" name="text-2">
            <a:extLst xmlns:a="http://schemas.openxmlformats.org/drawingml/2006/main">
              <a:ext uri="{FF2B5EF4-FFF2-40B4-BE49-F238E27FC236}">
                <a16:creationId xmlns:a16="http://schemas.microsoft.com/office/drawing/2014/main" id="{2FE48EF4-8B5B-4C7F-98C1-B6C7DBC0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 u="none" strike="noStrike">
                <a:solidFill>
                  <a:srgbClr val="64748B"/>
                </a:solidFill>
                <a:latin typeface="Arial"/>
                <a:ea typeface="Arial"/>
                <a:cs typeface="Arial"/>
              </a:rPr>
              <a:t>Figure 9   Report p. 8</a:t>
            </a:r>
            <a:endParaRPr sz="1050"/>
          </a:p>
        </p:txBody>
      </p:sp>
      <p:graphicFrame>
        <p:nvGraphicFramePr>
          <p:cNvPr id="80" name="Chart">
            <a:extLst xmlns:a="http://schemas.openxmlformats.org/drawingml/2006/main">
              <a:ext uri="{FF2B5EF4-FFF2-40B4-BE49-F238E27FC236}">
                <a16:creationId xmlns:a16="http://schemas.microsoft.com/office/drawing/2014/main" id="{698E75A1-CB11-45DA-B01E-7DFB6F80F464}"/>
              </a:ext>
            </a:extLst>
          </p:cNvPr>
          <p:cNvGraphicFramePr/>
          <p:nvPr/>
        </p:nvGraphicFramePr>
        <p:xfrm>
          <a:off xmlns:a="http://schemas.openxmlformats.org/drawingml/2006/main" x="523875" y="1762125"/>
          <a:ext xmlns:a="http://schemas.openxmlformats.org/drawingml/2006/main" cx="11096625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8f94e7e782d4722"/>
          </a:graphicData>
        </a:graphic>
      </p:graphicFrame>
      <p:sp>
        <p:nvSpPr>
          <p:cNvPr id="81" name="text-3">
            <a:extLst xmlns:a="http://schemas.openxmlformats.org/drawingml/2006/main">
              <a:ext uri="{FF2B5EF4-FFF2-40B4-BE49-F238E27FC236}">
                <a16:creationId xmlns:a16="http://schemas.microsoft.com/office/drawing/2014/main" id="{52CFD149-DB49-4CBB-B508-6D382E31E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81075"/>
            <a:ext cx="976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8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u="none" strike="noStrike">
                <a:solidFill>
                  <a:srgbClr val="276F8A"/>
                </a:solidFill>
                <a:latin typeface="Arial"/>
                <a:ea typeface="Arial"/>
                <a:cs typeface="Arial"/>
              </a:rPr>
              <a:t>Purpose: Examine users' reported experience with ElliQ.</a:t>
            </a:r>
            <a:endParaRPr sz="1800"/>
          </a:p>
        </p:txBody>
      </p:sp>
      <p:sp>
        <p:nvSpPr>
          <p:cNvPr id="82" name="text-4">
            <a:extLst xmlns:a="http://schemas.openxmlformats.org/drawingml/2006/main">
              <a:ext uri="{FF2B5EF4-FFF2-40B4-BE49-F238E27FC236}">
                <a16:creationId xmlns:a16="http://schemas.microsoft.com/office/drawing/2014/main" id="{DFA1E687-5AEF-48EB-8BFF-3DFCCA564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57800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1">
                <a:latin typeface="Arial"/>
                <a:ea typeface="Arial"/>
                <a:cs typeface="Arial"/>
              </a:rPr>
              <a:t>Finding: 94% reported feeling less lonely. Item sample sizes are unspecified. Scores did not fall by 94%.</a:t>
            </a:r>
            <a:endParaRPr sz="1600"/>
          </a:p>
        </p:txBody>
      </p:sp>
      <p:sp>
        <p:nvSpPr>
          <p:cNvPr id="84" name="text-6">
            <a:extLst xmlns:a="http://schemas.openxmlformats.org/drawingml/2006/main">
              <a:ext uri="{FF2B5EF4-FFF2-40B4-BE49-F238E27FC236}">
                <a16:creationId xmlns:a16="http://schemas.microsoft.com/office/drawing/2014/main" id="{A1363344-CB76-4160-A71E-072856FA7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57925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 u="none" strike="noStrike">
                <a:solidFill>
                  <a:srgbClr val="64748B"/>
                </a:solidFill>
                <a:latin typeface="Arial"/>
                <a:ea typeface="Arial"/>
                <a:cs typeface="Arial"/>
              </a:rPr>
              <a:t>Source: Intuition Robotics (2026), p. 3.</a:t>
            </a:r>
            <a:endParaRPr sz="1050"/>
          </a:p>
        </p:txBody>
      </p:sp>
      <p:sp>
        <p:nvSpPr>
          <p:cNvPr id="85" name="Slide14_Object85">
            <a:extLst xmlns:a="http://schemas.openxmlformats.org/drawingml/2006/main">
              <a:ext uri="{FF2B5EF4-FFF2-40B4-BE49-F238E27FC236}">
                <a16:creationId xmlns:a16="http://schemas.microsoft.com/office/drawing/2014/main" id="{C2426037-338F-491B-BE89-EC11F6107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2397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23344F"/>
                </a:solidFill>
                <a:latin typeface="Arial"/>
                <a:ea typeface="Arial"/>
                <a:cs typeface="Arial"/>
              </a:rPr>
              <a:t>Method: Compare four published positive-response percentages.</a:t>
            </a:r>
            <a:endParaRPr sz="1800"/>
          </a:p>
        </p:txBody>
      </p:sp>
      <p:sp>
        <p:nvSpPr>
          <p:cNvPr id="86" name="Slide14_Object86">
            <a:extLst xmlns:a="http://schemas.openxmlformats.org/drawingml/2006/main">
              <a:ext uri="{FF2B5EF4-FFF2-40B4-BE49-F238E27FC236}">
                <a16:creationId xmlns:a16="http://schemas.microsoft.com/office/drawing/2014/main" id="{A69FE249-6C29-4801-8889-7A06408AB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9775"/>
            <a:ext cx="11087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C34D22"/>
                </a:solidFill>
                <a:latin typeface="Arial"/>
                <a:ea typeface="Arial"/>
                <a:cs typeface="Arial"/>
              </a:rPr>
              <a:t>Self-reports offer a clue. PIO provides a separate before-and-after comparison.</a:t>
            </a:r>
            <a:endParaRPr sz="1800"/>
          </a:p>
        </p:txBody>
      </p:sp>
      <p:pic>
        <p:nvPicPr>
          <p:cNvPr id="87" name="Slide14_Object87">
            <a:extLst xmlns:a="http://schemas.openxmlformats.org/drawingml/2006/main">
              <a:ext uri="{FF2B5EF4-FFF2-40B4-BE49-F238E27FC236}">
                <a16:creationId xmlns:a16="http://schemas.microsoft.com/office/drawing/2014/main" id="{51AF0104-BDF1-404A-A9A3-4AF02A57A7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285616052a4d07"/>
          <a:srcRect xmlns:a="http://schemas.openxmlformats.org/drawingml/2006/main" l="13000" t="1000" r="13000" b="1000"/>
          <a:stretch xmlns:a="http://schemas.openxmlformats.org/drawingml/2006/main"/>
        </p:blipFill>
        <p:spPr>
          <a:xfrm xmlns:a="http://schemas.openxmlformats.org/drawingml/2006/main">
            <a:off x="10675543" y="133350"/>
            <a:ext cx="985039" cy="733425"/>
          </a:xfrm>
          <a:prstGeom xmlns:a="http://schemas.openxmlformats.org/drawingml/2006/main" prst="rect">
            <a:avLst/>
          </a:prstGeom>
        </p:spPr>
      </p:pic>
      <p:sp>
        <p:nvSpPr>
          <p:cNvPr id="88" name="Slide14_Object88">
            <a:extLst xmlns:a="http://schemas.openxmlformats.org/drawingml/2006/main">
              <a:ext uri="{FF2B5EF4-FFF2-40B4-BE49-F238E27FC236}">
                <a16:creationId xmlns:a16="http://schemas.microsoft.com/office/drawing/2014/main" id="{5AE1ABBC-4C40-4B31-BA79-01FB1B96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847725"/>
            <a:ext cx="1333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rPr>
              <a:t>ElliQ</a:t>
            </a:r>
          </a:p>
        </p:txBody>
      </p:sp>
    </p:spTree>
    <p:extLst>
      <p:ext uri="{BB962C8B-B14F-4D97-AF65-F5344CB8AC3E}">
        <p14:creationId xmlns:p14="http://schemas.microsoft.com/office/powerpoint/2010/main" val="170469179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5" name="text-0">
            <a:extLst xmlns:a="http://schemas.openxmlformats.org/drawingml/2006/main">
              <a:ext uri="{FF2B5EF4-FFF2-40B4-BE49-F238E27FC236}">
                <a16:creationId xmlns:a16="http://schemas.microsoft.com/office/drawing/2014/main" id="{8A7C6B45-3F81-46A7-803E-156D6EFA0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"/>
            <a:ext cx="9810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5365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3000" b="1">
                <a:solidFill>
                  <a:srgbClr val="15365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 u="none" strike="noStrike">
                <a:solidFill>
                  <a:srgbClr val="15365C"/>
                </a:solidFill>
                <a:latin typeface="Arial"/>
                <a:ea typeface="Arial"/>
                <a:cs typeface="Arial"/>
              </a:rPr>
              <a:t>PIO loneliness scores over six weeks</a:t>
            </a:r>
            <a:endParaRPr sz="3000"/>
          </a:p>
        </p:txBody>
      </p:sp>
      <p:sp>
        <p:nvSpPr>
          <p:cNvPr id="86" name="text-1">
            <a:extLst xmlns:a="http://schemas.openxmlformats.org/drawingml/2006/main">
              <a:ext uri="{FF2B5EF4-FFF2-40B4-BE49-F238E27FC236}">
                <a16:creationId xmlns:a16="http://schemas.microsoft.com/office/drawing/2014/main" id="{5EA76D29-FD2B-47FB-9C43-9754DD610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43675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 u="none" strike="noStrike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7" name="text-2">
            <a:extLst xmlns:a="http://schemas.openxmlformats.org/drawingml/2006/main">
              <a:ext uri="{FF2B5EF4-FFF2-40B4-BE49-F238E27FC236}">
                <a16:creationId xmlns:a16="http://schemas.microsoft.com/office/drawing/2014/main" id="{99D047F5-FEBC-48C6-8AC0-A5474CF03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 u="none" strike="noStrike">
                <a:solidFill>
                  <a:srgbClr val="64748B"/>
                </a:solidFill>
                <a:latin typeface="Arial"/>
                <a:ea typeface="Arial"/>
                <a:cs typeface="Arial"/>
              </a:rPr>
              <a:t>Figure 10   Report p. 9</a:t>
            </a:r>
            <a:endParaRPr sz="1050"/>
          </a:p>
        </p:txBody>
      </p:sp>
      <p:graphicFrame>
        <p:nvGraphicFramePr>
          <p:cNvPr id="88" name="Chart">
            <a:extLst xmlns:a="http://schemas.openxmlformats.org/drawingml/2006/main">
              <a:ext uri="{FF2B5EF4-FFF2-40B4-BE49-F238E27FC236}">
                <a16:creationId xmlns:a16="http://schemas.microsoft.com/office/drawing/2014/main" id="{23DFD6E8-F392-4C27-9750-12C2C5DDFCE4}"/>
              </a:ext>
            </a:extLst>
          </p:cNvPr>
          <p:cNvGraphicFramePr/>
          <p:nvPr/>
        </p:nvGraphicFramePr>
        <p:xfrm>
          <a:off xmlns:a="http://schemas.openxmlformats.org/drawingml/2006/main" x="523875" y="1762125"/>
          <a:ext xmlns:a="http://schemas.openxmlformats.org/drawingml/2006/main" cx="11096625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ecf50c5e0dc42d3"/>
          </a:graphicData>
        </a:graphic>
      </p:graphicFrame>
      <p:sp>
        <p:nvSpPr>
          <p:cNvPr id="89" name="text-3">
            <a:extLst xmlns:a="http://schemas.openxmlformats.org/drawingml/2006/main">
              <a:ext uri="{FF2B5EF4-FFF2-40B4-BE49-F238E27FC236}">
                <a16:creationId xmlns:a16="http://schemas.microsoft.com/office/drawing/2014/main" id="{A625A31A-D33A-40A0-845F-B186442B0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81075"/>
            <a:ext cx="976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8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u="none" strike="noStrike">
                <a:solidFill>
                  <a:srgbClr val="276F8A"/>
                </a:solidFill>
                <a:latin typeface="Arial"/>
                <a:ea typeface="Arial"/>
                <a:cs typeface="Arial"/>
              </a:rPr>
              <a:t>Purpose: Compare mean loneliness scores before and after six weeks.</a:t>
            </a:r>
            <a:endParaRPr sz="1800"/>
          </a:p>
        </p:txBody>
      </p:sp>
      <p:sp>
        <p:nvSpPr>
          <p:cNvPr id="90" name="text-4">
            <a:extLst xmlns:a="http://schemas.openxmlformats.org/drawingml/2006/main">
              <a:ext uri="{FF2B5EF4-FFF2-40B4-BE49-F238E27FC236}">
                <a16:creationId xmlns:a16="http://schemas.microsoft.com/office/drawing/2014/main" id="{9053165D-D03E-40A5-859C-E37DA8F6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57800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1">
                <a:latin typeface="Arial"/>
                <a:ea typeface="Arial"/>
                <a:cs typeface="Arial"/>
              </a:rPr>
              <a:t>Finding: PIO group: 42.45 to 31.19. Groups were not randomised and activities included staff. Lower is better.</a:t>
            </a:r>
            <a:endParaRPr sz="1600"/>
          </a:p>
        </p:txBody>
      </p:sp>
      <p:sp>
        <p:nvSpPr>
          <p:cNvPr id="92" name="text-6">
            <a:extLst xmlns:a="http://schemas.openxmlformats.org/drawingml/2006/main">
              <a:ext uri="{FF2B5EF4-FFF2-40B4-BE49-F238E27FC236}">
                <a16:creationId xmlns:a16="http://schemas.microsoft.com/office/drawing/2014/main" id="{96EF91A3-C8FF-417E-ADAC-A85A1B5B0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57925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 u="none" strike="noStrike">
                <a:solidFill>
                  <a:srgbClr val="64748B"/>
                </a:solidFill>
                <a:latin typeface="Arial"/>
                <a:ea typeface="Arial"/>
                <a:cs typeface="Arial"/>
              </a:rPr>
              <a:t>Source: Lim (2023), Table 4.</a:t>
            </a:r>
            <a:endParaRPr sz="1050"/>
          </a:p>
        </p:txBody>
      </p:sp>
      <p:sp>
        <p:nvSpPr>
          <p:cNvPr id="93" name="Slide15_Object93">
            <a:extLst xmlns:a="http://schemas.openxmlformats.org/drawingml/2006/main">
              <a:ext uri="{FF2B5EF4-FFF2-40B4-BE49-F238E27FC236}">
                <a16:creationId xmlns:a16="http://schemas.microsoft.com/office/drawing/2014/main" id="{1FB2E948-D839-4FB7-8F07-E10AFEB7E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2397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23344F"/>
                </a:solidFill>
                <a:latin typeface="Arial"/>
                <a:ea typeface="Arial"/>
                <a:cs typeface="Arial"/>
              </a:rPr>
              <a:t>Method: Compare baseline and Week 6 means for 31 activity-group and 33 control participants.</a:t>
            </a:r>
            <a:endParaRPr sz="1800"/>
          </a:p>
        </p:txBody>
      </p:sp>
      <p:sp>
        <p:nvSpPr>
          <p:cNvPr id="94" name="Slide15_Object94">
            <a:extLst xmlns:a="http://schemas.openxmlformats.org/drawingml/2006/main">
              <a:ext uri="{FF2B5EF4-FFF2-40B4-BE49-F238E27FC236}">
                <a16:creationId xmlns:a16="http://schemas.microsoft.com/office/drawing/2014/main" id="{AB68AB59-1A45-4A5B-88D2-268B973B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9775"/>
            <a:ext cx="11087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C34D22"/>
                </a:solidFill>
                <a:latin typeface="Arial"/>
                <a:ea typeface="Arial"/>
                <a:cs typeface="Arial"/>
              </a:rPr>
              <a:t>The next chart expresses these results as observed decreases.</a:t>
            </a:r>
            <a:endParaRPr sz="1800"/>
          </a:p>
        </p:txBody>
      </p:sp>
      <p:pic>
        <p:nvPicPr>
          <p:cNvPr id="95" name="Slide15_Object95">
            <a:extLst xmlns:a="http://schemas.openxmlformats.org/drawingml/2006/main">
              <a:ext uri="{FF2B5EF4-FFF2-40B4-BE49-F238E27FC236}">
                <a16:creationId xmlns:a16="http://schemas.microsoft.com/office/drawing/2014/main" id="{043F0978-60E2-4CB1-8D2C-13F11A332C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3d03e2a24a48cf"/>
          <a:srcRect xmlns:a="http://schemas.openxmlformats.org/drawingml/2006/main" l="35000" t="0" r="28000" b="0"/>
          <a:stretch xmlns:a="http://schemas.openxmlformats.org/drawingml/2006/main"/>
        </p:blipFill>
        <p:spPr>
          <a:xfrm xmlns:a="http://schemas.openxmlformats.org/drawingml/2006/main">
            <a:off x="10959355" y="133350"/>
            <a:ext cx="417416" cy="733425"/>
          </a:xfrm>
          <a:prstGeom xmlns:a="http://schemas.openxmlformats.org/drawingml/2006/main" prst="rect">
            <a:avLst/>
          </a:prstGeom>
        </p:spPr>
      </p:pic>
      <p:sp>
        <p:nvSpPr>
          <p:cNvPr id="96" name="Slide15_Object96">
            <a:extLst xmlns:a="http://schemas.openxmlformats.org/drawingml/2006/main">
              <a:ext uri="{FF2B5EF4-FFF2-40B4-BE49-F238E27FC236}">
                <a16:creationId xmlns:a16="http://schemas.microsoft.com/office/drawing/2014/main" id="{38C202DC-A275-405E-981D-E1840BB80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847725"/>
            <a:ext cx="1333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rPr>
              <a:t>PIO</a:t>
            </a:r>
          </a:p>
        </p:txBody>
      </p:sp>
    </p:spTree>
    <p:extLst>
      <p:ext uri="{BB962C8B-B14F-4D97-AF65-F5344CB8AC3E}">
        <p14:creationId xmlns:p14="http://schemas.microsoft.com/office/powerpoint/2010/main" val="69464693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3" name="text-0">
            <a:extLst xmlns:a="http://schemas.openxmlformats.org/drawingml/2006/main">
              <a:ext uri="{FF2B5EF4-FFF2-40B4-BE49-F238E27FC236}">
                <a16:creationId xmlns:a16="http://schemas.microsoft.com/office/drawing/2014/main" id="{AD285AD2-676E-438A-AB88-8DC57DEB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"/>
            <a:ext cx="9810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5365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3000" b="1">
                <a:solidFill>
                  <a:srgbClr val="15365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 u="none" strike="noStrike">
                <a:solidFill>
                  <a:srgbClr val="15365C"/>
                </a:solidFill>
                <a:latin typeface="Arial"/>
                <a:ea typeface="Arial"/>
                <a:cs typeface="Arial"/>
              </a:rPr>
              <a:t>PIO observed decrease by group</a:t>
            </a:r>
            <a:endParaRPr sz="3000"/>
          </a:p>
        </p:txBody>
      </p:sp>
      <p:sp>
        <p:nvSpPr>
          <p:cNvPr id="94" name="text-1">
            <a:extLst xmlns:a="http://schemas.openxmlformats.org/drawingml/2006/main">
              <a:ext uri="{FF2B5EF4-FFF2-40B4-BE49-F238E27FC236}">
                <a16:creationId xmlns:a16="http://schemas.microsoft.com/office/drawing/2014/main" id="{B7BC14EE-67D3-4D42-8B34-F34BBECC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43675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 u="none" strike="noStrike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5" name="text-2">
            <a:extLst xmlns:a="http://schemas.openxmlformats.org/drawingml/2006/main">
              <a:ext uri="{FF2B5EF4-FFF2-40B4-BE49-F238E27FC236}">
                <a16:creationId xmlns:a16="http://schemas.microsoft.com/office/drawing/2014/main" id="{9F8B610D-8933-4E70-B6C6-F35B232D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 u="none" strike="noStrike">
                <a:solidFill>
                  <a:srgbClr val="64748B"/>
                </a:solidFill>
                <a:latin typeface="Arial"/>
                <a:ea typeface="Arial"/>
                <a:cs typeface="Arial"/>
              </a:rPr>
              <a:t>Figure 11   Report p. 9</a:t>
            </a:r>
            <a:endParaRPr sz="1050"/>
          </a:p>
        </p:txBody>
      </p:sp>
      <p:graphicFrame>
        <p:nvGraphicFramePr>
          <p:cNvPr id="96" name="Chart">
            <a:extLst xmlns:a="http://schemas.openxmlformats.org/drawingml/2006/main">
              <a:ext uri="{FF2B5EF4-FFF2-40B4-BE49-F238E27FC236}">
                <a16:creationId xmlns:a16="http://schemas.microsoft.com/office/drawing/2014/main" id="{ACE9D50D-DEC3-4DE6-8287-73C482BAD3D8}"/>
              </a:ext>
            </a:extLst>
          </p:cNvPr>
          <p:cNvGraphicFramePr/>
          <p:nvPr/>
        </p:nvGraphicFramePr>
        <p:xfrm>
          <a:off xmlns:a="http://schemas.openxmlformats.org/drawingml/2006/main" x="523875" y="1762125"/>
          <a:ext xmlns:a="http://schemas.openxmlformats.org/drawingml/2006/main" cx="11096625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3d904e2255749db"/>
          </a:graphicData>
        </a:graphic>
      </p:graphicFrame>
      <p:sp>
        <p:nvSpPr>
          <p:cNvPr id="97" name="text-3">
            <a:extLst xmlns:a="http://schemas.openxmlformats.org/drawingml/2006/main">
              <a:ext uri="{FF2B5EF4-FFF2-40B4-BE49-F238E27FC236}">
                <a16:creationId xmlns:a16="http://schemas.microsoft.com/office/drawing/2014/main" id="{9C99ECD2-1743-41E1-BF06-89CC76461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81075"/>
            <a:ext cx="976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8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u="none" strike="noStrike">
                <a:solidFill>
                  <a:srgbClr val="276F8A"/>
                </a:solidFill>
                <a:latin typeface="Arial"/>
                <a:ea typeface="Arial"/>
                <a:cs typeface="Arial"/>
              </a:rPr>
              <a:t>Purpose: Express the before-and-after scores as decreases for comparison.</a:t>
            </a:r>
            <a:endParaRPr sz="1800"/>
          </a:p>
        </p:txBody>
      </p:sp>
      <p:sp>
        <p:nvSpPr>
          <p:cNvPr id="98" name="text-4">
            <a:extLst xmlns:a="http://schemas.openxmlformats.org/drawingml/2006/main">
              <a:ext uri="{FF2B5EF4-FFF2-40B4-BE49-F238E27FC236}">
                <a16:creationId xmlns:a16="http://schemas.microsoft.com/office/drawing/2014/main" id="{EB2F86B3-69E4-4142-BCDB-90EDFB178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57800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1">
                <a:latin typeface="Arial"/>
                <a:ea typeface="Arial"/>
                <a:cs typeface="Arial"/>
              </a:rPr>
              <a:t>Finding: The observed decrease differs by 10.71 points. Staff-led activities prevent isolating the robot's contribution.</a:t>
            </a:r>
            <a:endParaRPr sz="1600"/>
          </a:p>
        </p:txBody>
      </p:sp>
      <p:sp>
        <p:nvSpPr>
          <p:cNvPr id="100" name="text-6">
            <a:extLst xmlns:a="http://schemas.openxmlformats.org/drawingml/2006/main">
              <a:ext uri="{FF2B5EF4-FFF2-40B4-BE49-F238E27FC236}">
                <a16:creationId xmlns:a16="http://schemas.microsoft.com/office/drawing/2014/main" id="{68E114E9-A20C-481F-8EF9-A1F08F6F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57925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 u="none" strike="noStrike">
                <a:solidFill>
                  <a:srgbClr val="64748B"/>
                </a:solidFill>
                <a:latin typeface="Arial"/>
                <a:ea typeface="Arial"/>
                <a:cs typeface="Arial"/>
              </a:rPr>
              <a:t>Source: Lim (2023), Table 4. Author calculations.</a:t>
            </a:r>
            <a:endParaRPr sz="1050"/>
          </a:p>
        </p:txBody>
      </p:sp>
      <p:sp>
        <p:nvSpPr>
          <p:cNvPr id="101" name="Slide16_Object101">
            <a:extLst xmlns:a="http://schemas.openxmlformats.org/drawingml/2006/main">
              <a:ext uri="{FF2B5EF4-FFF2-40B4-BE49-F238E27FC236}">
                <a16:creationId xmlns:a16="http://schemas.microsoft.com/office/drawing/2014/main" id="{7E71F3C7-7370-495B-B7EA-46432F332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2397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23344F"/>
                </a:solidFill>
                <a:latin typeface="Arial"/>
                <a:ea typeface="Arial"/>
                <a:cs typeface="Arial"/>
              </a:rPr>
              <a:t>Method: Subtract Week 6 from baseline in each group, then compare decreases.</a:t>
            </a:r>
            <a:endParaRPr sz="1800"/>
          </a:p>
        </p:txBody>
      </p:sp>
      <p:sp>
        <p:nvSpPr>
          <p:cNvPr id="102" name="Slide16_Object102">
            <a:extLst xmlns:a="http://schemas.openxmlformats.org/drawingml/2006/main">
              <a:ext uri="{FF2B5EF4-FFF2-40B4-BE49-F238E27FC236}">
                <a16:creationId xmlns:a16="http://schemas.microsoft.com/office/drawing/2014/main" id="{A6FD686E-6CFE-4D8A-B11C-104EEAD03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9775"/>
            <a:ext cx="11087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C34D22"/>
                </a:solidFill>
                <a:latin typeface="Arial"/>
                <a:ea typeface="Arial"/>
                <a:cs typeface="Arial"/>
              </a:rPr>
              <a:t>Does improvement persist? PARO provides separate follow-up evidence.</a:t>
            </a:r>
            <a:endParaRPr sz="1800"/>
          </a:p>
        </p:txBody>
      </p:sp>
      <p:pic>
        <p:nvPicPr>
          <p:cNvPr id="103" name="Slide16_Object103">
            <a:extLst xmlns:a="http://schemas.openxmlformats.org/drawingml/2006/main">
              <a:ext uri="{FF2B5EF4-FFF2-40B4-BE49-F238E27FC236}">
                <a16:creationId xmlns:a16="http://schemas.microsoft.com/office/drawing/2014/main" id="{3F777EFC-1F59-4D26-A846-9E6072B3DE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d0bee057a14eff"/>
          <a:srcRect xmlns:a="http://schemas.openxmlformats.org/drawingml/2006/main" l="35000" t="0" r="28000" b="0"/>
          <a:stretch xmlns:a="http://schemas.openxmlformats.org/drawingml/2006/main"/>
        </p:blipFill>
        <p:spPr>
          <a:xfrm xmlns:a="http://schemas.openxmlformats.org/drawingml/2006/main">
            <a:off x="10959355" y="133350"/>
            <a:ext cx="417416" cy="733425"/>
          </a:xfrm>
          <a:prstGeom xmlns:a="http://schemas.openxmlformats.org/drawingml/2006/main" prst="rect">
            <a:avLst/>
          </a:prstGeom>
        </p:spPr>
      </p:pic>
      <p:sp>
        <p:nvSpPr>
          <p:cNvPr id="104" name="Slide16_Object104">
            <a:extLst xmlns:a="http://schemas.openxmlformats.org/drawingml/2006/main">
              <a:ext uri="{FF2B5EF4-FFF2-40B4-BE49-F238E27FC236}">
                <a16:creationId xmlns:a16="http://schemas.microsoft.com/office/drawing/2014/main" id="{F7F13105-B325-4759-97DB-6CA8349BA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847725"/>
            <a:ext cx="1333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rPr>
              <a:t>PIO</a:t>
            </a:r>
          </a:p>
        </p:txBody>
      </p:sp>
    </p:spTree>
    <p:extLst>
      <p:ext uri="{BB962C8B-B14F-4D97-AF65-F5344CB8AC3E}">
        <p14:creationId xmlns:p14="http://schemas.microsoft.com/office/powerpoint/2010/main" val="85716806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1" name="text-0">
            <a:extLst xmlns:a="http://schemas.openxmlformats.org/drawingml/2006/main">
              <a:ext uri="{FF2B5EF4-FFF2-40B4-BE49-F238E27FC236}">
                <a16:creationId xmlns:a16="http://schemas.microsoft.com/office/drawing/2014/main" id="{FB86FC17-065C-4D3C-B410-BAB9103DA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"/>
            <a:ext cx="9810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5365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3000" b="1">
                <a:solidFill>
                  <a:srgbClr val="15365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 u="none" strike="noStrike">
                <a:solidFill>
                  <a:srgbClr val="15365C"/>
                </a:solidFill>
                <a:latin typeface="Arial"/>
                <a:ea typeface="Arial"/>
                <a:cs typeface="Arial"/>
              </a:rPr>
              <a:t>PARO change at Weeks 6 and 10</a:t>
            </a:r>
            <a:endParaRPr sz="3000"/>
          </a:p>
        </p:txBody>
      </p:sp>
      <p:sp>
        <p:nvSpPr>
          <p:cNvPr id="102" name="text-1">
            <a:extLst xmlns:a="http://schemas.openxmlformats.org/drawingml/2006/main">
              <a:ext uri="{FF2B5EF4-FFF2-40B4-BE49-F238E27FC236}">
                <a16:creationId xmlns:a16="http://schemas.microsoft.com/office/drawing/2014/main" id="{7F950F5F-8B71-48AF-A1FE-7B973350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43675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 u="none" strike="noStrike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3" name="text-2">
            <a:extLst xmlns:a="http://schemas.openxmlformats.org/drawingml/2006/main">
              <a:ext uri="{FF2B5EF4-FFF2-40B4-BE49-F238E27FC236}">
                <a16:creationId xmlns:a16="http://schemas.microsoft.com/office/drawing/2014/main" id="{E9FF1B57-8CAE-408D-9CD4-7B2D6DA7E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 u="none" strike="noStrike">
                <a:solidFill>
                  <a:srgbClr val="64748B"/>
                </a:solidFill>
                <a:latin typeface="Arial"/>
                <a:ea typeface="Arial"/>
                <a:cs typeface="Arial"/>
              </a:rPr>
              <a:t>Figure 12   Report p. 10</a:t>
            </a:r>
            <a:endParaRPr sz="1050"/>
          </a:p>
        </p:txBody>
      </p:sp>
      <p:graphicFrame>
        <p:nvGraphicFramePr>
          <p:cNvPr id="104" name="Chart">
            <a:extLst xmlns:a="http://schemas.openxmlformats.org/drawingml/2006/main">
              <a:ext uri="{FF2B5EF4-FFF2-40B4-BE49-F238E27FC236}">
                <a16:creationId xmlns:a16="http://schemas.microsoft.com/office/drawing/2014/main" id="{37F20D5A-0C00-4A24-B562-95F33FD7CDA8}"/>
              </a:ext>
            </a:extLst>
          </p:cNvPr>
          <p:cNvGraphicFramePr/>
          <p:nvPr/>
        </p:nvGraphicFramePr>
        <p:xfrm>
          <a:off xmlns:a="http://schemas.openxmlformats.org/drawingml/2006/main" x="523875" y="1762125"/>
          <a:ext xmlns:a="http://schemas.openxmlformats.org/drawingml/2006/main" cx="11096625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3b98409af9f4a0b"/>
          </a:graphicData>
        </a:graphic>
      </p:graphicFrame>
      <p:sp>
        <p:nvSpPr>
          <p:cNvPr id="105" name="text-3">
            <a:extLst xmlns:a="http://schemas.openxmlformats.org/drawingml/2006/main">
              <a:ext uri="{FF2B5EF4-FFF2-40B4-BE49-F238E27FC236}">
                <a16:creationId xmlns:a16="http://schemas.microsoft.com/office/drawing/2014/main" id="{A60C0514-496D-45FE-9BE7-053488ACB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81075"/>
            <a:ext cx="976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8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u="none" strike="noStrike">
                <a:solidFill>
                  <a:srgbClr val="276F8A"/>
                </a:solidFill>
                <a:latin typeface="Arial"/>
                <a:ea typeface="Arial"/>
                <a:cs typeface="Arial"/>
              </a:rPr>
              <a:t>Purpose: Examine whether observed changes persist at follow-up.</a:t>
            </a:r>
            <a:endParaRPr sz="1800"/>
          </a:p>
        </p:txBody>
      </p:sp>
      <p:sp>
        <p:nvSpPr>
          <p:cNvPr id="106" name="text-4">
            <a:extLst xmlns:a="http://schemas.openxmlformats.org/drawingml/2006/main">
              <a:ext uri="{FF2B5EF4-FFF2-40B4-BE49-F238E27FC236}">
                <a16:creationId xmlns:a16="http://schemas.microsoft.com/office/drawing/2014/main" id="{A0A796A0-AF86-41FF-8104-1CBE5A7CE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57800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1">
                <a:latin typeface="Arial"/>
                <a:ea typeface="Arial"/>
                <a:cs typeface="Arial"/>
              </a:rPr>
              <a:t>Finding: PARO decreased 5.36 points at Week 6 and 1.52 at Week 10. Week 10 difference: p=.07, inconclusive.</a:t>
            </a:r>
            <a:endParaRPr sz="1600"/>
          </a:p>
        </p:txBody>
      </p:sp>
      <p:sp>
        <p:nvSpPr>
          <p:cNvPr id="108" name="text-6">
            <a:extLst xmlns:a="http://schemas.openxmlformats.org/drawingml/2006/main">
              <a:ext uri="{FF2B5EF4-FFF2-40B4-BE49-F238E27FC236}">
                <a16:creationId xmlns:a16="http://schemas.microsoft.com/office/drawing/2014/main" id="{E5C1C1C1-D540-4E05-B005-7E07497AD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57925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 u="none" strike="noStrike">
                <a:solidFill>
                  <a:srgbClr val="64748B"/>
                </a:solidFill>
                <a:latin typeface="Arial"/>
                <a:ea typeface="Arial"/>
                <a:cs typeface="Arial"/>
              </a:rPr>
              <a:t>Source: Chen et al. (2024), Table 4.</a:t>
            </a:r>
            <a:endParaRPr sz="1050"/>
          </a:p>
        </p:txBody>
      </p:sp>
      <p:sp>
        <p:nvSpPr>
          <p:cNvPr id="109" name="Slide17_Object109">
            <a:extLst xmlns:a="http://schemas.openxmlformats.org/drawingml/2006/main">
              <a:ext uri="{FF2B5EF4-FFF2-40B4-BE49-F238E27FC236}">
                <a16:creationId xmlns:a16="http://schemas.microsoft.com/office/drawing/2014/main" id="{FA875B47-AAC0-4DD0-B54C-EB99B3E3E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2397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23344F"/>
                </a:solidFill>
                <a:latin typeface="Arial"/>
                <a:ea typeface="Arial"/>
                <a:cs typeface="Arial"/>
              </a:rPr>
              <a:t>Method: Compare change from baseline in both groups at Weeks 6 and 10.</a:t>
            </a:r>
            <a:endParaRPr sz="1800"/>
          </a:p>
        </p:txBody>
      </p:sp>
      <p:sp>
        <p:nvSpPr>
          <p:cNvPr id="110" name="Slide17_Object110">
            <a:extLst xmlns:a="http://schemas.openxmlformats.org/drawingml/2006/main">
              <a:ext uri="{FF2B5EF4-FFF2-40B4-BE49-F238E27FC236}">
                <a16:creationId xmlns:a16="http://schemas.microsoft.com/office/drawing/2014/main" id="{CC1C4E4B-E54C-4DE9-8730-73CF0B22A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9775"/>
            <a:ext cx="11087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C34D22"/>
                </a:solidFill>
                <a:latin typeface="Arial"/>
                <a:ea typeface="Arial"/>
                <a:cs typeface="Arial"/>
              </a:rPr>
              <a:t>Beyond score changes, do users keep the product?</a:t>
            </a:r>
            <a:endParaRPr sz="1800"/>
          </a:p>
        </p:txBody>
      </p:sp>
      <p:pic>
        <p:nvPicPr>
          <p:cNvPr id="111" name="Slide17_Object111">
            <a:extLst xmlns:a="http://schemas.openxmlformats.org/drawingml/2006/main">
              <a:ext uri="{FF2B5EF4-FFF2-40B4-BE49-F238E27FC236}">
                <a16:creationId xmlns:a16="http://schemas.microsoft.com/office/drawing/2014/main" id="{0FB5A6FF-1895-42FB-A562-EF71DFEE73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9a9e1ea3494959"/>
          <a:srcRect xmlns:a="http://schemas.openxmlformats.org/drawingml/2006/main" l="15000" t="34000" r="10000" b="0"/>
          <a:stretch xmlns:a="http://schemas.openxmlformats.org/drawingml/2006/main"/>
        </p:blipFill>
        <p:spPr>
          <a:xfrm xmlns:a="http://schemas.openxmlformats.org/drawingml/2006/main">
            <a:off x="10668000" y="170021"/>
            <a:ext cx="1000125" cy="660082"/>
          </a:xfrm>
          <a:prstGeom xmlns:a="http://schemas.openxmlformats.org/drawingml/2006/main" prst="rect">
            <a:avLst/>
          </a:prstGeom>
        </p:spPr>
      </p:pic>
      <p:sp>
        <p:nvSpPr>
          <p:cNvPr id="112" name="Slide17_Object112">
            <a:extLst xmlns:a="http://schemas.openxmlformats.org/drawingml/2006/main">
              <a:ext uri="{FF2B5EF4-FFF2-40B4-BE49-F238E27FC236}">
                <a16:creationId xmlns:a16="http://schemas.microsoft.com/office/drawing/2014/main" id="{CBE440C5-96B0-452C-B84F-47F5BF098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847725"/>
            <a:ext cx="1333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rPr>
              <a:t>PARO</a:t>
            </a:r>
          </a:p>
        </p:txBody>
      </p:sp>
    </p:spTree>
    <p:extLst>
      <p:ext uri="{BB962C8B-B14F-4D97-AF65-F5344CB8AC3E}">
        <p14:creationId xmlns:p14="http://schemas.microsoft.com/office/powerpoint/2010/main" val="54299734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9" name="text-0">
            <a:extLst xmlns:a="http://schemas.openxmlformats.org/drawingml/2006/main">
              <a:ext uri="{FF2B5EF4-FFF2-40B4-BE49-F238E27FC236}">
                <a16:creationId xmlns:a16="http://schemas.microsoft.com/office/drawing/2014/main" id="{EB537B2E-C22B-4816-94BF-3D3FC3422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"/>
            <a:ext cx="9810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5365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3000" b="1">
                <a:solidFill>
                  <a:srgbClr val="15365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 u="none" strike="noStrike">
                <a:solidFill>
                  <a:srgbClr val="15365C"/>
                </a:solidFill>
                <a:latin typeface="Arial"/>
                <a:ea typeface="Arial"/>
                <a:cs typeface="Arial"/>
              </a:rPr>
              <a:t>Hyodol retention after four months</a:t>
            </a:r>
            <a:endParaRPr sz="3000"/>
          </a:p>
        </p:txBody>
      </p:sp>
      <p:sp>
        <p:nvSpPr>
          <p:cNvPr id="110" name="text-1">
            <a:extLst xmlns:a="http://schemas.openxmlformats.org/drawingml/2006/main">
              <a:ext uri="{FF2B5EF4-FFF2-40B4-BE49-F238E27FC236}">
                <a16:creationId xmlns:a16="http://schemas.microsoft.com/office/drawing/2014/main" id="{46BFF4E4-77B8-4984-B538-F23297D66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43675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 u="none" strike="noStrike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1" name="text-2">
            <a:extLst xmlns:a="http://schemas.openxmlformats.org/drawingml/2006/main">
              <a:ext uri="{FF2B5EF4-FFF2-40B4-BE49-F238E27FC236}">
                <a16:creationId xmlns:a16="http://schemas.microsoft.com/office/drawing/2014/main" id="{5431EF4F-AE42-458C-8D63-7F0381B59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 u="none" strike="noStrike">
                <a:solidFill>
                  <a:srgbClr val="64748B"/>
                </a:solidFill>
                <a:latin typeface="Arial"/>
                <a:ea typeface="Arial"/>
                <a:cs typeface="Arial"/>
              </a:rPr>
              <a:t>Figure 13   Report p. 10</a:t>
            </a:r>
            <a:endParaRPr sz="1050"/>
          </a:p>
        </p:txBody>
      </p:sp>
      <p:graphicFrame>
        <p:nvGraphicFramePr>
          <p:cNvPr id="112" name="Chart">
            <a:extLst xmlns:a="http://schemas.openxmlformats.org/drawingml/2006/main">
              <a:ext uri="{FF2B5EF4-FFF2-40B4-BE49-F238E27FC236}">
                <a16:creationId xmlns:a16="http://schemas.microsoft.com/office/drawing/2014/main" id="{F83A5FBC-B895-4F1A-A067-A18E74AC7807}"/>
              </a:ext>
            </a:extLst>
          </p:cNvPr>
          <p:cNvGraphicFramePr/>
          <p:nvPr/>
        </p:nvGraphicFramePr>
        <p:xfrm>
          <a:off xmlns:a="http://schemas.openxmlformats.org/drawingml/2006/main" x="1095375" y="1762125"/>
          <a:ext xmlns:a="http://schemas.openxmlformats.org/drawingml/2006/main" cx="102870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e8ec410a16a4f36"/>
          </a:graphicData>
        </a:graphic>
      </p:graphicFrame>
      <p:sp>
        <p:nvSpPr>
          <p:cNvPr id="113" name="text-3">
            <a:extLst xmlns:a="http://schemas.openxmlformats.org/drawingml/2006/main">
              <a:ext uri="{FF2B5EF4-FFF2-40B4-BE49-F238E27FC236}">
                <a16:creationId xmlns:a16="http://schemas.microsoft.com/office/drawing/2014/main" id="{0A12CF10-CB4A-4080-B3FD-DF319400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57800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1">
                <a:latin typeface="Arial"/>
                <a:ea typeface="Arial"/>
                <a:cs typeface="Arial"/>
              </a:rPr>
              <a:t>Finding: Kept 58.5%, returned at four months 26.8%, returned within one week 14.6%. Free use is not purchase.</a:t>
            </a:r>
            <a:endParaRPr sz="1600"/>
          </a:p>
        </p:txBody>
      </p:sp>
      <p:sp>
        <p:nvSpPr>
          <p:cNvPr id="115" name="text-5">
            <a:extLst xmlns:a="http://schemas.openxmlformats.org/drawingml/2006/main">
              <a:ext uri="{FF2B5EF4-FFF2-40B4-BE49-F238E27FC236}">
                <a16:creationId xmlns:a16="http://schemas.microsoft.com/office/drawing/2014/main" id="{8EEE8155-64C9-4496-B588-3DF25189D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57925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 u="none" strike="noStrike">
                <a:solidFill>
                  <a:srgbClr val="64748B"/>
                </a:solidFill>
                <a:latin typeface="Arial"/>
                <a:ea typeface="Arial"/>
                <a:cs typeface="Arial"/>
              </a:rPr>
              <a:t>Source: Lee et al. (2024), Methods 2.2 and Results 3.4.</a:t>
            </a:r>
            <a:endParaRPr sz="1050"/>
          </a:p>
        </p:txBody>
      </p:sp>
      <p:sp>
        <p:nvSpPr>
          <p:cNvPr id="116" name="Slide18_Object116">
            <a:extLst xmlns:a="http://schemas.openxmlformats.org/drawingml/2006/main">
              <a:ext uri="{FF2B5EF4-FFF2-40B4-BE49-F238E27FC236}">
                <a16:creationId xmlns:a16="http://schemas.microsoft.com/office/drawing/2014/main" id="{CF986749-4266-491B-AB19-0FBFFFB91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81075"/>
            <a:ext cx="976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8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u="none" strike="noStrike">
                <a:solidFill>
                  <a:srgbClr val="276F8A"/>
                </a:solidFill>
                <a:latin typeface="Arial"/>
                <a:ea typeface="Arial"/>
                <a:cs typeface="Arial"/>
              </a:rPr>
              <a:t>Purpose: Describe retention and return in the original cohort.</a:t>
            </a:r>
            <a:endParaRPr sz="1800"/>
          </a:p>
        </p:txBody>
      </p:sp>
      <p:sp>
        <p:nvSpPr>
          <p:cNvPr id="117" name="Slide18_Object117">
            <a:extLst xmlns:a="http://schemas.openxmlformats.org/drawingml/2006/main">
              <a:ext uri="{FF2B5EF4-FFF2-40B4-BE49-F238E27FC236}">
                <a16:creationId xmlns:a16="http://schemas.microsoft.com/office/drawing/2014/main" id="{E3D1F290-8465-4382-A64B-DEBA0631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2397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23344F"/>
                </a:solidFill>
                <a:latin typeface="Arial"/>
                <a:ea typeface="Arial"/>
                <a:cs typeface="Arial"/>
              </a:rPr>
              <a:t>Method: Use all 41 original participants as the denominator for each percentage.</a:t>
            </a:r>
            <a:endParaRPr sz="1800"/>
          </a:p>
        </p:txBody>
      </p:sp>
      <p:sp>
        <p:nvSpPr>
          <p:cNvPr id="118" name="Slide18_Object118">
            <a:extLst xmlns:a="http://schemas.openxmlformats.org/drawingml/2006/main">
              <a:ext uri="{FF2B5EF4-FFF2-40B4-BE49-F238E27FC236}">
                <a16:creationId xmlns:a16="http://schemas.microsoft.com/office/drawing/2014/main" id="{A0091128-C7E7-4476-9681-2DA319E4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9775"/>
            <a:ext cx="11087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C34D22"/>
                </a:solidFill>
                <a:latin typeface="Arial"/>
                <a:ea typeface="Arial"/>
                <a:cs typeface="Arial"/>
              </a:rPr>
              <a:t>Retention describes the outcome. Return reasons suggest possible improvements.</a:t>
            </a:r>
            <a:endParaRPr sz="1800"/>
          </a:p>
        </p:txBody>
      </p:sp>
      <p:pic>
        <p:nvPicPr>
          <p:cNvPr id="131" name="Slide18_Object131">
            <a:extLst xmlns:a="http://schemas.openxmlformats.org/drawingml/2006/main">
              <a:ext uri="{FF2B5EF4-FFF2-40B4-BE49-F238E27FC236}">
                <a16:creationId xmlns:a16="http://schemas.microsoft.com/office/drawing/2014/main" id="{D9BB0705-6D5A-4132-B6F3-B803405417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40e91687074dec"/>
          <a:srcRect xmlns:a="http://schemas.openxmlformats.org/drawingml/2006/main" l="26000" t="0" r="28000" b="0"/>
          <a:stretch xmlns:a="http://schemas.openxmlformats.org/drawingml/2006/main"/>
        </p:blipFill>
        <p:spPr>
          <a:xfrm xmlns:a="http://schemas.openxmlformats.org/drawingml/2006/main">
            <a:off x="10900843" y="133350"/>
            <a:ext cx="534439" cy="733425"/>
          </a:xfrm>
          <a:prstGeom xmlns:a="http://schemas.openxmlformats.org/drawingml/2006/main" prst="rect">
            <a:avLst/>
          </a:prstGeom>
        </p:spPr>
      </p:pic>
      <p:sp>
        <p:nvSpPr>
          <p:cNvPr id="132" name="Slide18_Object132">
            <a:extLst xmlns:a="http://schemas.openxmlformats.org/drawingml/2006/main">
              <a:ext uri="{FF2B5EF4-FFF2-40B4-BE49-F238E27FC236}">
                <a16:creationId xmlns:a16="http://schemas.microsoft.com/office/drawing/2014/main" id="{8F2CF5D4-6BED-482D-9697-B07920C5C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847725"/>
            <a:ext cx="1333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rPr>
              <a:t>Hyodol</a:t>
            </a:r>
          </a:p>
        </p:txBody>
      </p:sp>
    </p:spTree>
    <p:extLst>
      <p:ext uri="{BB962C8B-B14F-4D97-AF65-F5344CB8AC3E}">
        <p14:creationId xmlns:p14="http://schemas.microsoft.com/office/powerpoint/2010/main" val="151724430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7" name="text-0">
            <a:extLst xmlns:a="http://schemas.openxmlformats.org/drawingml/2006/main">
              <a:ext uri="{FF2B5EF4-FFF2-40B4-BE49-F238E27FC236}">
                <a16:creationId xmlns:a16="http://schemas.microsoft.com/office/drawing/2014/main" id="{BF7F9432-2620-4891-AE04-1C225733F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"/>
            <a:ext cx="9810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5365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3000" b="1">
                <a:solidFill>
                  <a:srgbClr val="15365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 u="none" strike="noStrike">
                <a:solidFill>
                  <a:srgbClr val="15365C"/>
                </a:solidFill>
                <a:latin typeface="Arial"/>
                <a:ea typeface="Arial"/>
                <a:cs typeface="Arial"/>
              </a:rPr>
              <a:t>Why users returned Hyodol</a:t>
            </a:r>
            <a:endParaRPr sz="3000"/>
          </a:p>
        </p:txBody>
      </p:sp>
      <p:sp>
        <p:nvSpPr>
          <p:cNvPr id="118" name="text-1">
            <a:extLst xmlns:a="http://schemas.openxmlformats.org/drawingml/2006/main">
              <a:ext uri="{FF2B5EF4-FFF2-40B4-BE49-F238E27FC236}">
                <a16:creationId xmlns:a16="http://schemas.microsoft.com/office/drawing/2014/main" id="{0214A342-56D1-4D03-ABD5-611F7B658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43675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 u="none" strike="noStrike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9" name="text-2">
            <a:extLst xmlns:a="http://schemas.openxmlformats.org/drawingml/2006/main">
              <a:ext uri="{FF2B5EF4-FFF2-40B4-BE49-F238E27FC236}">
                <a16:creationId xmlns:a16="http://schemas.microsoft.com/office/drawing/2014/main" id="{B99D2A28-4E70-4049-B76B-F6F74FF0F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 u="none" strike="noStrike">
                <a:solidFill>
                  <a:srgbClr val="64748B"/>
                </a:solidFill>
                <a:latin typeface="Arial"/>
                <a:ea typeface="Arial"/>
                <a:cs typeface="Arial"/>
              </a:rPr>
              <a:t>Figure 14   Report p. 11</a:t>
            </a:r>
            <a:endParaRPr sz="1050"/>
          </a:p>
        </p:txBody>
      </p:sp>
      <p:graphicFrame>
        <p:nvGraphicFramePr>
          <p:cNvPr id="120" name="Chart">
            <a:extLst xmlns:a="http://schemas.openxmlformats.org/drawingml/2006/main">
              <a:ext uri="{FF2B5EF4-FFF2-40B4-BE49-F238E27FC236}">
                <a16:creationId xmlns:a16="http://schemas.microsoft.com/office/drawing/2014/main" id="{74B80D18-D342-4A46-96E5-FA58FF9F4A46}"/>
              </a:ext>
            </a:extLst>
          </p:cNvPr>
          <p:cNvGraphicFramePr/>
          <p:nvPr/>
        </p:nvGraphicFramePr>
        <p:xfrm>
          <a:off xmlns:a="http://schemas.openxmlformats.org/drawingml/2006/main" x="523875" y="1762125"/>
          <a:ext xmlns:a="http://schemas.openxmlformats.org/drawingml/2006/main" cx="11096625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5a3a8e5cffa40ae"/>
          </a:graphicData>
        </a:graphic>
      </p:graphicFrame>
      <p:sp>
        <p:nvSpPr>
          <p:cNvPr id="121" name="text-3">
            <a:extLst xmlns:a="http://schemas.openxmlformats.org/drawingml/2006/main">
              <a:ext uri="{FF2B5EF4-FFF2-40B4-BE49-F238E27FC236}">
                <a16:creationId xmlns:a16="http://schemas.microsoft.com/office/drawing/2014/main" id="{A3D5AAB6-4EE4-4413-99A7-912EE2942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81075"/>
            <a:ext cx="976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8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u="none" strike="noStrike">
                <a:solidFill>
                  <a:srgbClr val="276F8A"/>
                </a:solidFill>
                <a:latin typeface="Arial"/>
                <a:ea typeface="Arial"/>
                <a:cs typeface="Arial"/>
              </a:rPr>
              <a:t>Purpose: Identify barriers that could inform design tests.</a:t>
            </a:r>
            <a:endParaRPr sz="1800"/>
          </a:p>
        </p:txBody>
      </p:sp>
      <p:sp>
        <p:nvSpPr>
          <p:cNvPr id="122" name="text-4">
            <a:extLst xmlns:a="http://schemas.openxmlformats.org/drawingml/2006/main">
              <a:ext uri="{FF2B5EF4-FFF2-40B4-BE49-F238E27FC236}">
                <a16:creationId xmlns:a16="http://schemas.microsoft.com/office/drawing/2014/main" id="{4ABF473B-EA58-4B4D-9B6E-F03FC13C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57800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1">
                <a:latin typeface="Arial"/>
                <a:ea typeface="Arial"/>
                <a:cs typeface="Arial"/>
              </a:rPr>
              <a:t>Finding: Sound disturbance: 5 people. Prerecorded content: 4. Test volume, quiet times and topic choices.</a:t>
            </a:r>
            <a:endParaRPr sz="1600"/>
          </a:p>
        </p:txBody>
      </p:sp>
      <p:sp>
        <p:nvSpPr>
          <p:cNvPr id="124" name="text-6">
            <a:extLst xmlns:a="http://schemas.openxmlformats.org/drawingml/2006/main">
              <a:ext uri="{FF2B5EF4-FFF2-40B4-BE49-F238E27FC236}">
                <a16:creationId xmlns:a16="http://schemas.microsoft.com/office/drawing/2014/main" id="{B6D2EBE7-CF27-4CE3-B4D7-05E64F54A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57925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 u="none" strike="noStrike">
                <a:solidFill>
                  <a:srgbClr val="64748B"/>
                </a:solidFill>
                <a:latin typeface="Arial"/>
                <a:ea typeface="Arial"/>
                <a:cs typeface="Arial"/>
              </a:rPr>
              <a:t>Source: Lee et al. (2024), Table 4.</a:t>
            </a:r>
            <a:endParaRPr sz="1050"/>
          </a:p>
        </p:txBody>
      </p:sp>
      <p:sp>
        <p:nvSpPr>
          <p:cNvPr id="125" name="Slide19_Object125">
            <a:extLst xmlns:a="http://schemas.openxmlformats.org/drawingml/2006/main">
              <a:ext uri="{FF2B5EF4-FFF2-40B4-BE49-F238E27FC236}">
                <a16:creationId xmlns:a16="http://schemas.microsoft.com/office/drawing/2014/main" id="{13C48CD9-F52E-4FCD-B2A7-EFCF7700E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2397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23344F"/>
                </a:solidFill>
                <a:latin typeface="Arial"/>
                <a:ea typeface="Arial"/>
                <a:cs typeface="Arial"/>
              </a:rPr>
              <a:t>Method: Count reasons from 11 four-month returners. Multiple responses are allowed.</a:t>
            </a:r>
            <a:endParaRPr sz="1800"/>
          </a:p>
        </p:txBody>
      </p:sp>
      <p:sp>
        <p:nvSpPr>
          <p:cNvPr id="126" name="Slide19_Object126">
            <a:extLst xmlns:a="http://schemas.openxmlformats.org/drawingml/2006/main">
              <a:ext uri="{FF2B5EF4-FFF2-40B4-BE49-F238E27FC236}">
                <a16:creationId xmlns:a16="http://schemas.microsoft.com/office/drawing/2014/main" id="{66EADC04-F004-42D6-8305-F7D21C331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9775"/>
            <a:ext cx="11087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C34D22"/>
                </a:solidFill>
                <a:latin typeface="Arial"/>
                <a:ea typeface="Arial"/>
                <a:cs typeface="Arial"/>
              </a:rPr>
              <a:t>Interaction settings suggest a starting point. Support functions need separate testing.</a:t>
            </a:r>
            <a:endParaRPr sz="1800"/>
          </a:p>
        </p:txBody>
      </p:sp>
      <p:pic>
        <p:nvPicPr>
          <p:cNvPr id="127" name="Slide19_Object127">
            <a:extLst xmlns:a="http://schemas.openxmlformats.org/drawingml/2006/main">
              <a:ext uri="{FF2B5EF4-FFF2-40B4-BE49-F238E27FC236}">
                <a16:creationId xmlns:a16="http://schemas.microsoft.com/office/drawing/2014/main" id="{90851755-9129-48BB-8ED3-DE705D1F0B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30b09f742942a7"/>
          <a:srcRect xmlns:a="http://schemas.openxmlformats.org/drawingml/2006/main" l="26000" t="0" r="28000" b="0"/>
          <a:stretch xmlns:a="http://schemas.openxmlformats.org/drawingml/2006/main"/>
        </p:blipFill>
        <p:spPr>
          <a:xfrm xmlns:a="http://schemas.openxmlformats.org/drawingml/2006/main">
            <a:off x="10900843" y="133350"/>
            <a:ext cx="534439" cy="733425"/>
          </a:xfrm>
          <a:prstGeom xmlns:a="http://schemas.openxmlformats.org/drawingml/2006/main" prst="rect">
            <a:avLst/>
          </a:prstGeom>
        </p:spPr>
      </p:pic>
      <p:sp>
        <p:nvSpPr>
          <p:cNvPr id="128" name="Slide19_Object128">
            <a:extLst xmlns:a="http://schemas.openxmlformats.org/drawingml/2006/main">
              <a:ext uri="{FF2B5EF4-FFF2-40B4-BE49-F238E27FC236}">
                <a16:creationId xmlns:a16="http://schemas.microsoft.com/office/drawing/2014/main" id="{625DF1A5-D944-4CE3-881F-FEB418003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847725"/>
            <a:ext cx="1333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rPr>
              <a:t>Hyodol</a:t>
            </a:r>
          </a:p>
        </p:txBody>
      </p:sp>
    </p:spTree>
    <p:extLst>
      <p:ext uri="{BB962C8B-B14F-4D97-AF65-F5344CB8AC3E}">
        <p14:creationId xmlns:p14="http://schemas.microsoft.com/office/powerpoint/2010/main" val="112648408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5" name="text-0">
            <a:extLst xmlns:a="http://schemas.openxmlformats.org/drawingml/2006/main">
              <a:ext uri="{FF2B5EF4-FFF2-40B4-BE49-F238E27FC236}">
                <a16:creationId xmlns:a16="http://schemas.microsoft.com/office/drawing/2014/main" id="{CC075FFA-D501-4448-B1A6-CEFF0B0F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"/>
            <a:ext cx="11087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5365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3000" b="1">
                <a:solidFill>
                  <a:srgbClr val="15365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 u="none" strike="noStrike">
                <a:solidFill>
                  <a:srgbClr val="15365C"/>
                </a:solidFill>
                <a:latin typeface="Arial"/>
                <a:ea typeface="Arial"/>
                <a:cs typeface="Arial"/>
              </a:rPr>
              <a:t>Fraud scenarios for Guardian testing</a:t>
            </a:r>
            <a:endParaRPr sz="3000"/>
          </a:p>
        </p:txBody>
      </p:sp>
      <p:sp>
        <p:nvSpPr>
          <p:cNvPr id="186" name="text-1">
            <a:extLst xmlns:a="http://schemas.openxmlformats.org/drawingml/2006/main">
              <a:ext uri="{FF2B5EF4-FFF2-40B4-BE49-F238E27FC236}">
                <a16:creationId xmlns:a16="http://schemas.microsoft.com/office/drawing/2014/main" id="{85B52BE6-2BDD-443F-BC32-BECC119DF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43675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 u="none" strike="noStrike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7" name="text-2">
            <a:extLst xmlns:a="http://schemas.openxmlformats.org/drawingml/2006/main">
              <a:ext uri="{FF2B5EF4-FFF2-40B4-BE49-F238E27FC236}">
                <a16:creationId xmlns:a16="http://schemas.microsoft.com/office/drawing/2014/main" id="{7AED0EE4-890C-41A8-BEC2-CD01720F5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 u="none" strike="noStrike">
                <a:solidFill>
                  <a:srgbClr val="64748B"/>
                </a:solidFill>
                <a:latin typeface="Arial"/>
                <a:ea typeface="Arial"/>
                <a:cs typeface="Arial"/>
              </a:rPr>
              <a:t>Figure 16   Report p. 12</a:t>
            </a:r>
            <a:endParaRPr sz="1050"/>
          </a:p>
        </p:txBody>
      </p:sp>
      <p:graphicFrame>
        <p:nvGraphicFramePr>
          <p:cNvPr id="188" name="Chart">
            <a:extLst xmlns:a="http://schemas.openxmlformats.org/drawingml/2006/main">
              <a:ext uri="{FF2B5EF4-FFF2-40B4-BE49-F238E27FC236}">
                <a16:creationId xmlns:a16="http://schemas.microsoft.com/office/drawing/2014/main" id="{C6C6FC78-91A9-45B5-9C50-2F1E042F85C2}"/>
              </a:ext>
            </a:extLst>
          </p:cNvPr>
          <p:cNvGraphicFramePr/>
          <p:nvPr/>
        </p:nvGraphicFramePr>
        <p:xfrm>
          <a:off xmlns:a="http://schemas.openxmlformats.org/drawingml/2006/main" x="523875" y="1762125"/>
          <a:ext xmlns:a="http://schemas.openxmlformats.org/drawingml/2006/main" cx="11096625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ffe30cd1c09431d"/>
          </a:graphicData>
        </a:graphic>
      </p:graphicFrame>
      <p:sp>
        <p:nvSpPr>
          <p:cNvPr id="189" name="text-3">
            <a:extLst xmlns:a="http://schemas.openxmlformats.org/drawingml/2006/main">
              <a:ext uri="{FF2B5EF4-FFF2-40B4-BE49-F238E27FC236}">
                <a16:creationId xmlns:a16="http://schemas.microsoft.com/office/drawing/2014/main" id="{C986095C-7306-4004-BC0D-CB97487A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8107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8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u="none" strike="noStrike">
                <a:solidFill>
                  <a:srgbClr val="276F8A"/>
                </a:solidFill>
                <a:latin typeface="Arial"/>
                <a:ea typeface="Arial"/>
                <a:cs typeface="Arial"/>
              </a:rPr>
              <a:t>Purpose: Design scenarios involving suspicious calls and software installation requests.</a:t>
            </a:r>
            <a:endParaRPr sz="1800"/>
          </a:p>
        </p:txBody>
      </p:sp>
      <p:sp>
        <p:nvSpPr>
          <p:cNvPr id="190" name="text-4">
            <a:extLst xmlns:a="http://schemas.openxmlformats.org/drawingml/2006/main">
              <a:ext uri="{FF2B5EF4-FFF2-40B4-BE49-F238E27FC236}">
                <a16:creationId xmlns:a16="http://schemas.microsoft.com/office/drawing/2014/main" id="{9292D28C-4EAF-41FB-9B1A-B557ABB7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57800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1">
                <a:latin typeface="Arial"/>
                <a:ea typeface="Arial"/>
                <a:cs typeface="Arial"/>
              </a:rPr>
              <a:t>Finding: Tech Support has 17,696 complaints. US counts do not measure Hong Kong risk or prevention.</a:t>
            </a:r>
            <a:endParaRPr sz="1600"/>
          </a:p>
        </p:txBody>
      </p:sp>
      <p:sp>
        <p:nvSpPr>
          <p:cNvPr id="192" name="text-6">
            <a:extLst xmlns:a="http://schemas.openxmlformats.org/drawingml/2006/main">
              <a:ext uri="{FF2B5EF4-FFF2-40B4-BE49-F238E27FC236}">
                <a16:creationId xmlns:a16="http://schemas.microsoft.com/office/drawing/2014/main" id="{46A31508-512C-4941-927C-CF3B0C34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57925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 u="none" strike="noStrike">
                <a:solidFill>
                  <a:srgbClr val="64748B"/>
                </a:solidFill>
                <a:latin typeface="Arial"/>
                <a:ea typeface="Arial"/>
                <a:cs typeface="Arial"/>
              </a:rPr>
              <a:t>Source: FBI (2024), 2023 Elder Fraud Report, p. 7.</a:t>
            </a:r>
            <a:endParaRPr sz="1050"/>
          </a:p>
        </p:txBody>
      </p:sp>
      <p:sp>
        <p:nvSpPr>
          <p:cNvPr id="193" name="Slide20_Object193">
            <a:extLst xmlns:a="http://schemas.openxmlformats.org/drawingml/2006/main">
              <a:ext uri="{FF2B5EF4-FFF2-40B4-BE49-F238E27FC236}">
                <a16:creationId xmlns:a16="http://schemas.microsoft.com/office/drawing/2014/main" id="{1F714218-032B-404F-A9A4-E2E98FED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2397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23344F"/>
                </a:solidFill>
                <a:latin typeface="Arial"/>
                <a:ea typeface="Arial"/>
                <a:cs typeface="Arial"/>
              </a:rPr>
              <a:t>Method: Compare six selected US complaint categories for people over 60 in 2023.</a:t>
            </a:r>
            <a:endParaRPr sz="1800"/>
          </a:p>
        </p:txBody>
      </p:sp>
      <p:sp>
        <p:nvSpPr>
          <p:cNvPr id="194" name="Slide20_Object194">
            <a:extLst xmlns:a="http://schemas.openxmlformats.org/drawingml/2006/main">
              <a:ext uri="{FF2B5EF4-FFF2-40B4-BE49-F238E27FC236}">
                <a16:creationId xmlns:a16="http://schemas.microsoft.com/office/drawing/2014/main" id="{4FF73609-8934-4AC0-85E9-FDE994D77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9775"/>
            <a:ext cx="11087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C34D22"/>
                </a:solidFill>
                <a:latin typeface="Arial"/>
                <a:ea typeface="Arial"/>
                <a:cs typeface="Arial"/>
              </a:rPr>
              <a:t>Complaint counts help choose scenarios. Workflow reliability still needs testing.</a:t>
            </a: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77842929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3" name="text-0">
            <a:extLst xmlns:a="http://schemas.openxmlformats.org/drawingml/2006/main">
              <a:ext uri="{FF2B5EF4-FFF2-40B4-BE49-F238E27FC236}">
                <a16:creationId xmlns:a16="http://schemas.microsoft.com/office/drawing/2014/main" id="{7F781375-A971-4B9B-8C6B-933F97FEA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"/>
            <a:ext cx="9810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5365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3000" b="1">
                <a:solidFill>
                  <a:srgbClr val="15365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 u="none" strike="noStrike">
                <a:solidFill>
                  <a:srgbClr val="15365C"/>
                </a:solidFill>
                <a:latin typeface="Arial"/>
                <a:ea typeface="Arial"/>
                <a:cs typeface="Arial"/>
              </a:rPr>
              <a:t>Hobbit prototype feature availability</a:t>
            </a:r>
            <a:endParaRPr sz="3000"/>
          </a:p>
        </p:txBody>
      </p:sp>
      <p:sp>
        <p:nvSpPr>
          <p:cNvPr id="194" name="text-1">
            <a:extLst xmlns:a="http://schemas.openxmlformats.org/drawingml/2006/main">
              <a:ext uri="{FF2B5EF4-FFF2-40B4-BE49-F238E27FC236}">
                <a16:creationId xmlns:a16="http://schemas.microsoft.com/office/drawing/2014/main" id="{C29CCBEE-3B88-4F2C-B5E2-3C7B2860E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43675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 u="none" strike="noStrike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5" name="text-2">
            <a:extLst xmlns:a="http://schemas.openxmlformats.org/drawingml/2006/main">
              <a:ext uri="{FF2B5EF4-FFF2-40B4-BE49-F238E27FC236}">
                <a16:creationId xmlns:a16="http://schemas.microsoft.com/office/drawing/2014/main" id="{22F9BEA7-14A3-4887-82D9-0FC3E7C05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 u="none" strike="noStrike">
                <a:solidFill>
                  <a:srgbClr val="64748B"/>
                </a:solidFill>
                <a:latin typeface="Arial"/>
                <a:ea typeface="Arial"/>
                <a:cs typeface="Arial"/>
              </a:rPr>
              <a:t>Figure 15   Report p. 12</a:t>
            </a:r>
            <a:endParaRPr sz="1050"/>
          </a:p>
        </p:txBody>
      </p:sp>
      <p:graphicFrame>
        <p:nvGraphicFramePr>
          <p:cNvPr id="196" name="Slide21_Object196">
            <a:extLst xmlns:a="http://schemas.openxmlformats.org/drawingml/2006/main">
              <a:ext uri="{FF2B5EF4-FFF2-40B4-BE49-F238E27FC236}">
                <a16:creationId xmlns:a16="http://schemas.microsoft.com/office/drawing/2014/main" id="{57F87F2C-25F8-4AEB-8866-82FE9599B061}"/>
              </a:ext>
            </a:extLst>
          </p:cNvPr>
          <p:cNvGraphicFramePr/>
          <p:nvPr/>
        </p:nvGraphicFramePr>
        <p:xfrm>
          <a:off xmlns:a="http://schemas.openxmlformats.org/drawingml/2006/main" x="714375" y="1762125"/>
          <a:ext xmlns:a="http://schemas.openxmlformats.org/drawingml/2006/main" cx="10715625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00400"/>
                <a:gridCol w="2857320"/>
                <a:gridCol w="2857320"/>
              </a:tblGrid>
              <a:tr h="316057">
                <a:tc>
                  <a:txBody>
                    <a:bodyPr lIns="95040" tIns="9360" rIns="95040" bIns="9360" anchor="t">
                      <a:no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300" b="1" u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Feature</a:t>
                      </a:r>
                      <a:endParaRPr sz="1300"/>
                    </a:p>
                  </a:txBody>
                  <a:tcPr marL="95040" marR="95040" marT="9360" marB="9360" anchor="t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solidFill>
                      <a:srgbClr val="276F8A"/>
                    </a:solidFill>
                  </a:tcPr>
                </a:tc>
                <a:tc>
                  <a:txBody>
                    <a:bodyPr lIns="95040" tIns="9360" rIns="95040" bIns="9360" anchor="t">
                      <a:no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300" b="1" u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Companion mode</a:t>
                      </a:r>
                      <a:endParaRPr sz="1300"/>
                    </a:p>
                  </a:txBody>
                  <a:tcPr marL="95040" marR="95040" marT="9360" marB="9360" anchor="t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solidFill>
                      <a:srgbClr val="276F8A"/>
                    </a:solidFill>
                  </a:tcPr>
                </a:tc>
                <a:tc>
                  <a:txBody>
                    <a:bodyPr lIns="95040" tIns="9360" rIns="95040" bIns="9360" anchor="t">
                      <a:no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300" b="1" u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Device mode</a:t>
                      </a:r>
                      <a:endParaRPr sz="1300"/>
                    </a:p>
                  </a:txBody>
                  <a:tcPr marL="95040" marR="95040" marT="9360" marB="9360" anchor="t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solidFill>
                      <a:srgbClr val="276F8A"/>
                    </a:solidFill>
                  </a:tcPr>
                </a:tc>
              </a:tr>
              <a:tr h="316057">
                <a:tc>
                  <a:txBody>
                    <a:bodyPr lIns="95040" tIns="9360" rIns="95040" bIns="9360" anchor="t">
                      <a:no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300" b="0" u="none" strike="noStrike">
                          <a:solidFill>
                            <a:srgbClr val="23344F"/>
                          </a:solidFill>
                          <a:latin typeface="Arial"/>
                          <a:ea typeface="Arial"/>
                          <a:cs typeface="Arial"/>
                        </a:rPr>
                        <a:t>Stop command</a:t>
                      </a:r>
                      <a:endParaRPr sz="1300"/>
                    </a:p>
                  </a:txBody>
                  <a:tcPr marL="95040" marR="95040" marT="9360" marB="9360" anchor="t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solidFill>
                      <a:srgbClr val="F0F7F8"/>
                    </a:solidFill>
                  </a:tcPr>
                </a:tc>
                <a:tc>
                  <a:txBody>
                    <a:bodyPr lIns="95040" tIns="9360" rIns="95040" bIns="9360" anchor="t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300" b="0" u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87.11</a:t>
                      </a:r>
                      <a:endParaRPr sz="1300"/>
                    </a:p>
                  </a:txBody>
                  <a:tcPr marL="95040" marR="95040" marT="9360" marB="9360" anchor="t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solidFill>
                      <a:srgbClr val="2374A7"/>
                    </a:solidFill>
                  </a:tcPr>
                </a:tc>
                <a:tc>
                  <a:txBody>
                    <a:bodyPr lIns="95040" tIns="9360" rIns="95040" bIns="9360" anchor="t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300" b="0" u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82.86</a:t>
                      </a:r>
                      <a:endParaRPr sz="1300"/>
                    </a:p>
                  </a:txBody>
                  <a:tcPr marL="95040" marR="95040" marT="9360" marB="9360" anchor="t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solidFill>
                      <a:srgbClr val="2374A7"/>
                    </a:solidFill>
                  </a:tcPr>
                </a:tc>
              </a:tr>
              <a:tr h="316057">
                <a:tc>
                  <a:txBody>
                    <a:bodyPr lIns="95040" tIns="9360" rIns="95040" bIns="9360" anchor="t">
                      <a:no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300" b="0" u="none" strike="noStrike">
                          <a:solidFill>
                            <a:srgbClr val="23344F"/>
                          </a:solidFill>
                          <a:latin typeface="Arial"/>
                          <a:ea typeface="Arial"/>
                          <a:cs typeface="Arial"/>
                        </a:rPr>
                        <a:t>Call robot</a:t>
                      </a:r>
                      <a:endParaRPr sz="1300"/>
                    </a:p>
                  </a:txBody>
                  <a:tcPr marL="95040" marR="95040" marT="9360" marB="9360" anchor="t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040" tIns="9360" rIns="95040" bIns="9360" anchor="t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300" b="0" u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79.30</a:t>
                      </a:r>
                      <a:endParaRPr sz="1300"/>
                    </a:p>
                  </a:txBody>
                  <a:tcPr marL="95040" marR="95040" marT="9360" marB="9360" anchor="t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solidFill>
                      <a:srgbClr val="19B8CC"/>
                    </a:solidFill>
                  </a:tcPr>
                </a:tc>
                <a:tc>
                  <a:txBody>
                    <a:bodyPr lIns="95040" tIns="9360" rIns="95040" bIns="9360" anchor="t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300" b="0" u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81.79</a:t>
                      </a:r>
                      <a:endParaRPr sz="1300"/>
                    </a:p>
                  </a:txBody>
                  <a:tcPr marL="95040" marR="95040" marT="9360" marB="9360" anchor="t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solidFill>
                      <a:srgbClr val="2374A7"/>
                    </a:solidFill>
                  </a:tcPr>
                </a:tc>
              </a:tr>
              <a:tr h="316057">
                <a:tc>
                  <a:txBody>
                    <a:bodyPr lIns="95040" tIns="9360" rIns="95040" bIns="9360" anchor="t">
                      <a:no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300" b="0" u="none" strike="noStrike">
                          <a:solidFill>
                            <a:srgbClr val="23344F"/>
                          </a:solidFill>
                          <a:latin typeface="Arial"/>
                          <a:ea typeface="Arial"/>
                          <a:cs typeface="Arial"/>
                        </a:rPr>
                        <a:t>Learn new object</a:t>
                      </a:r>
                      <a:endParaRPr sz="1300"/>
                    </a:p>
                  </a:txBody>
                  <a:tcPr marL="95040" marR="95040" marT="9360" marB="9360" anchor="t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solidFill>
                      <a:srgbClr val="F0F7F8"/>
                    </a:solidFill>
                  </a:tcPr>
                </a:tc>
                <a:tc>
                  <a:txBody>
                    <a:bodyPr lIns="95040" tIns="9360" rIns="95040" bIns="9360" anchor="t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300" b="0" u="none" strike="noStrike">
                          <a:solidFill>
                            <a:srgbClr val="23344F"/>
                          </a:solidFill>
                          <a:latin typeface="Arial"/>
                          <a:ea typeface="Arial"/>
                          <a:cs typeface="Arial"/>
                        </a:rPr>
                        <a:t>49.61</a:t>
                      </a:r>
                      <a:endParaRPr sz="1300"/>
                    </a:p>
                  </a:txBody>
                  <a:tcPr marL="95040" marR="95040" marT="9360" marB="9360" anchor="t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solidFill>
                      <a:srgbClr val="86D0B9"/>
                    </a:solidFill>
                  </a:tcPr>
                </a:tc>
                <a:tc>
                  <a:txBody>
                    <a:bodyPr lIns="95040" tIns="9360" rIns="95040" bIns="9360" anchor="t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300" b="0" u="none" strike="noStrike">
                          <a:solidFill>
                            <a:srgbClr val="23344F"/>
                          </a:solidFill>
                          <a:latin typeface="Arial"/>
                          <a:ea typeface="Arial"/>
                          <a:cs typeface="Arial"/>
                        </a:rPr>
                        <a:t>50.00</a:t>
                      </a:r>
                      <a:endParaRPr sz="1300"/>
                    </a:p>
                  </a:txBody>
                  <a:tcPr marL="95040" marR="95040" marT="9360" marB="9360" anchor="t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solidFill>
                      <a:srgbClr val="86D0B9"/>
                    </a:solidFill>
                  </a:tcPr>
                </a:tc>
              </a:tr>
              <a:tr h="316057">
                <a:tc>
                  <a:txBody>
                    <a:bodyPr lIns="95040" tIns="9360" rIns="95040" bIns="9360" anchor="t">
                      <a:no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300" b="0" u="none" strike="noStrike">
                          <a:solidFill>
                            <a:srgbClr val="23344F"/>
                          </a:solidFill>
                          <a:latin typeface="Arial"/>
                          <a:ea typeface="Arial"/>
                          <a:cs typeface="Arial"/>
                        </a:rPr>
                        <a:t>Pick up object</a:t>
                      </a:r>
                      <a:endParaRPr sz="1300"/>
                    </a:p>
                  </a:txBody>
                  <a:tcPr marL="95040" marR="95040" marT="9360" marB="9360" anchor="t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040" tIns="9360" rIns="95040" bIns="9360" anchor="t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300" b="0" u="none" strike="noStrike">
                          <a:solidFill>
                            <a:srgbClr val="23344F"/>
                          </a:solidFill>
                          <a:latin typeface="Arial"/>
                          <a:ea typeface="Arial"/>
                          <a:cs typeface="Arial"/>
                        </a:rPr>
                        <a:t>19.53</a:t>
                      </a:r>
                      <a:endParaRPr sz="1300"/>
                    </a:p>
                  </a:txBody>
                  <a:tcPr marL="95040" marR="95040" marT="9360" marB="9360" anchor="t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 lIns="95040" tIns="9360" rIns="95040" bIns="9360" anchor="t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300" b="0" u="none" strike="noStrike">
                          <a:solidFill>
                            <a:srgbClr val="23344F"/>
                          </a:solidFill>
                          <a:latin typeface="Arial"/>
                          <a:ea typeface="Arial"/>
                          <a:cs typeface="Arial"/>
                        </a:rPr>
                        <a:t>23.21</a:t>
                      </a:r>
                      <a:endParaRPr sz="1300"/>
                    </a:p>
                  </a:txBody>
                  <a:tcPr marL="95040" marR="95040" marT="9360" marB="9360" anchor="t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solidFill>
                      <a:srgbClr val="D6EFB1"/>
                    </a:solidFill>
                  </a:tcPr>
                </a:tc>
              </a:tr>
              <a:tr h="316057">
                <a:tc>
                  <a:txBody>
                    <a:bodyPr lIns="95040" tIns="9360" rIns="95040" bIns="9360" anchor="t">
                      <a:no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300" b="0" u="none" strike="noStrike">
                          <a:solidFill>
                            <a:srgbClr val="23344F"/>
                          </a:solidFill>
                          <a:latin typeface="Arial"/>
                          <a:ea typeface="Arial"/>
                          <a:cs typeface="Arial"/>
                        </a:rPr>
                        <a:t>Bring object</a:t>
                      </a:r>
                      <a:endParaRPr sz="1300"/>
                    </a:p>
                  </a:txBody>
                  <a:tcPr marL="95040" marR="95040" marT="9360" marB="9360" anchor="t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solidFill>
                      <a:srgbClr val="F0F7F8"/>
                    </a:solidFill>
                  </a:tcPr>
                </a:tc>
                <a:tc>
                  <a:txBody>
                    <a:bodyPr lIns="95040" tIns="9360" rIns="95040" bIns="9360" anchor="t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300" b="0" u="none" strike="noStrike">
                          <a:solidFill>
                            <a:srgbClr val="23344F"/>
                          </a:solidFill>
                          <a:latin typeface="Arial"/>
                          <a:ea typeface="Arial"/>
                          <a:cs typeface="Arial"/>
                        </a:rPr>
                        <a:t>16.80</a:t>
                      </a:r>
                      <a:endParaRPr sz="1300"/>
                    </a:p>
                  </a:txBody>
                  <a:tcPr marL="95040" marR="95040" marT="9360" marB="9360" anchor="t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 lIns="95040" tIns="9360" rIns="95040" bIns="9360" anchor="t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300" b="0" u="none" strike="noStrike">
                          <a:solidFill>
                            <a:srgbClr val="23344F"/>
                          </a:solidFill>
                          <a:latin typeface="Arial"/>
                          <a:ea typeface="Arial"/>
                          <a:cs typeface="Arial"/>
                        </a:rPr>
                        <a:t>21.43</a:t>
                      </a:r>
                      <a:endParaRPr sz="1300"/>
                    </a:p>
                  </a:txBody>
                  <a:tcPr marL="95040" marR="95040" marT="9360" marB="9360" anchor="t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solidFill>
                      <a:srgbClr val="D6EFB1"/>
                    </a:solidFill>
                  </a:tcPr>
                </a:tc>
              </a:tr>
              <a:tr h="316057">
                <a:tc>
                  <a:txBody>
                    <a:bodyPr lIns="95040" tIns="9360" rIns="95040" bIns="9360" anchor="t">
                      <a:no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300" b="0" u="none" strike="noStrike">
                          <a:solidFill>
                            <a:srgbClr val="23344F"/>
                          </a:solidFill>
                          <a:latin typeface="Arial"/>
                          <a:ea typeface="Arial"/>
                          <a:cs typeface="Arial"/>
                        </a:rPr>
                        <a:t>Calendar reminder</a:t>
                      </a:r>
                      <a:endParaRPr sz="1300"/>
                    </a:p>
                  </a:txBody>
                  <a:tcPr marL="95040" marR="95040" marT="9360" marB="9360" anchor="t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040" tIns="9360" rIns="95040" bIns="9360" anchor="t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300" b="0" u="none" strike="noStrike">
                          <a:solidFill>
                            <a:srgbClr val="23344F"/>
                          </a:solidFill>
                          <a:latin typeface="Arial"/>
                          <a:ea typeface="Arial"/>
                          <a:cs typeface="Arial"/>
                        </a:rPr>
                        <a:t>32.81</a:t>
                      </a:r>
                      <a:endParaRPr sz="1300"/>
                    </a:p>
                  </a:txBody>
                  <a:tcPr marL="95040" marR="95040" marT="9360" marB="9360" anchor="t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solidFill>
                      <a:srgbClr val="D6EFB1"/>
                    </a:solidFill>
                  </a:tcPr>
                </a:tc>
                <a:tc>
                  <a:txBody>
                    <a:bodyPr lIns="95040" tIns="9360" rIns="95040" bIns="9360" anchor="t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300" b="0" u="none" strike="noStrike">
                          <a:solidFill>
                            <a:srgbClr val="23344F"/>
                          </a:solidFill>
                          <a:latin typeface="Arial"/>
                          <a:ea typeface="Arial"/>
                          <a:cs typeface="Arial"/>
                        </a:rPr>
                        <a:t>35.36</a:t>
                      </a:r>
                      <a:endParaRPr sz="1300"/>
                    </a:p>
                  </a:txBody>
                  <a:tcPr marL="95040" marR="95040" marT="9360" marB="9360" anchor="t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solidFill>
                      <a:srgbClr val="D6EFB1"/>
                    </a:solidFill>
                  </a:tcPr>
                </a:tc>
              </a:tr>
              <a:tr h="316057">
                <a:tc>
                  <a:txBody>
                    <a:bodyPr lIns="95040" tIns="9360" rIns="95040" bIns="9360" anchor="t">
                      <a:no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300" b="0" u="none" strike="noStrike">
                          <a:solidFill>
                            <a:srgbClr val="23344F"/>
                          </a:solidFill>
                          <a:latin typeface="Arial"/>
                          <a:ea typeface="Arial"/>
                          <a:cs typeface="Arial"/>
                        </a:rPr>
                        <a:t>Go to location</a:t>
                      </a:r>
                      <a:endParaRPr sz="1300"/>
                    </a:p>
                  </a:txBody>
                  <a:tcPr marL="95040" marR="95040" marT="9360" marB="9360" anchor="t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solidFill>
                      <a:srgbClr val="F0F7F8"/>
                    </a:solidFill>
                  </a:tcPr>
                </a:tc>
                <a:tc>
                  <a:txBody>
                    <a:bodyPr lIns="95040" tIns="9360" rIns="95040" bIns="9360" anchor="t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300" b="0" u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81.64</a:t>
                      </a:r>
                      <a:endParaRPr sz="1300"/>
                    </a:p>
                  </a:txBody>
                  <a:tcPr marL="95040" marR="95040" marT="9360" marB="9360" anchor="t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solidFill>
                      <a:srgbClr val="2374A7"/>
                    </a:solidFill>
                  </a:tcPr>
                </a:tc>
                <a:tc>
                  <a:txBody>
                    <a:bodyPr lIns="95040" tIns="9360" rIns="95040" bIns="9360" anchor="t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300" b="0" u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77.86</a:t>
                      </a:r>
                      <a:endParaRPr sz="1300"/>
                    </a:p>
                  </a:txBody>
                  <a:tcPr marL="95040" marR="95040" marT="9360" marB="9360" anchor="t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solidFill>
                      <a:srgbClr val="19B8CC"/>
                    </a:solidFill>
                  </a:tcPr>
                </a:tc>
              </a:tr>
              <a:tr h="316057">
                <a:tc>
                  <a:txBody>
                    <a:bodyPr lIns="95040" tIns="9360" rIns="95040" bIns="9360" anchor="t">
                      <a:no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300" b="0" u="none" strike="noStrike">
                          <a:solidFill>
                            <a:srgbClr val="23344F"/>
                          </a:solidFill>
                          <a:latin typeface="Arial"/>
                          <a:ea typeface="Arial"/>
                          <a:cs typeface="Arial"/>
                        </a:rPr>
                        <a:t>Emergency function</a:t>
                      </a:r>
                      <a:endParaRPr sz="1300"/>
                    </a:p>
                  </a:txBody>
                  <a:tcPr marL="95040" marR="95040" marT="9360" marB="9360" anchor="t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040" tIns="9360" rIns="95040" bIns="9360" anchor="t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300" b="0" u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75.78</a:t>
                      </a:r>
                      <a:endParaRPr sz="1300"/>
                    </a:p>
                  </a:txBody>
                  <a:tcPr marL="95040" marR="95040" marT="9360" marB="9360" anchor="t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solidFill>
                      <a:srgbClr val="19B8CC"/>
                    </a:solidFill>
                  </a:tcPr>
                </a:tc>
                <a:tc>
                  <a:txBody>
                    <a:bodyPr lIns="95040" tIns="9360" rIns="95040" bIns="9360" anchor="t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300" b="0" u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70.71</a:t>
                      </a:r>
                      <a:endParaRPr sz="1300"/>
                    </a:p>
                  </a:txBody>
                  <a:tcPr marL="95040" marR="95040" marT="9360" marB="9360" anchor="t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solidFill>
                      <a:srgbClr val="19B8CC"/>
                    </a:solidFill>
                  </a:tcPr>
                </a:tc>
              </a:tr>
              <a:tr h="316057">
                <a:tc>
                  <a:txBody>
                    <a:bodyPr lIns="95040" tIns="9360" rIns="95040" bIns="9360" anchor="t">
                      <a:no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300" b="0" u="none" strike="noStrike">
                          <a:solidFill>
                            <a:srgbClr val="23344F"/>
                          </a:solidFill>
                          <a:latin typeface="Arial"/>
                          <a:ea typeface="Arial"/>
                          <a:cs typeface="Arial"/>
                        </a:rPr>
                        <a:t>Follow user</a:t>
                      </a:r>
                      <a:endParaRPr sz="1300"/>
                    </a:p>
                  </a:txBody>
                  <a:tcPr marL="95040" marR="95040" marT="9360" marB="9360" anchor="t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solidFill>
                      <a:srgbClr val="F0F7F8"/>
                    </a:solidFill>
                  </a:tcPr>
                </a:tc>
                <a:tc>
                  <a:txBody>
                    <a:bodyPr lIns="95040" tIns="9360" rIns="95040" bIns="9360" anchor="t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300" b="0" u="none" strike="noStrike">
                          <a:solidFill>
                            <a:srgbClr val="23344F"/>
                          </a:solidFill>
                          <a:latin typeface="Arial"/>
                          <a:ea typeface="Arial"/>
                          <a:cs typeface="Arial"/>
                        </a:rPr>
                        <a:t>21.09</a:t>
                      </a:r>
                      <a:endParaRPr sz="1300"/>
                    </a:p>
                  </a:txBody>
                  <a:tcPr marL="95040" marR="95040" marT="9360" marB="9360" anchor="t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solidFill>
                      <a:srgbClr val="D6EFB1"/>
                    </a:solidFill>
                  </a:tcPr>
                </a:tc>
                <a:tc>
                  <a:txBody>
                    <a:bodyPr lIns="95040" tIns="9360" rIns="95040" bIns="9360" anchor="t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300" b="0" u="none" strike="noStrike">
                          <a:solidFill>
                            <a:srgbClr val="23344F"/>
                          </a:solidFill>
                          <a:latin typeface="Arial"/>
                          <a:ea typeface="Arial"/>
                          <a:cs typeface="Arial"/>
                        </a:rPr>
                        <a:t>20.36</a:t>
                      </a:r>
                      <a:endParaRPr sz="1300"/>
                    </a:p>
                  </a:txBody>
                  <a:tcPr marL="95040" marR="95040" marT="9360" marB="9360" anchor="t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solidFill>
                      <a:srgbClr val="D6EFB1"/>
                    </a:solidFill>
                  </a:tcPr>
                </a:tc>
              </a:tr>
              <a:tr h="316057">
                <a:tc>
                  <a:txBody>
                    <a:bodyPr lIns="95040" tIns="9360" rIns="95040" bIns="9360" anchor="t">
                      <a:no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300" b="0" u="none" strike="noStrike">
                          <a:solidFill>
                            <a:srgbClr val="23344F"/>
                          </a:solidFill>
                          <a:latin typeface="Arial"/>
                          <a:ea typeface="Arial"/>
                          <a:cs typeface="Arial"/>
                        </a:rPr>
                        <a:t>Approach user</a:t>
                      </a:r>
                      <a:endParaRPr sz="1300"/>
                    </a:p>
                  </a:txBody>
                  <a:tcPr marL="95040" marR="95040" marT="9360" marB="9360" anchor="t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040" tIns="9360" rIns="95040" bIns="9360" anchor="t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300" b="0" u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85.94</a:t>
                      </a:r>
                      <a:endParaRPr sz="1300"/>
                    </a:p>
                  </a:txBody>
                  <a:tcPr marL="95040" marR="95040" marT="9360" marB="9360" anchor="t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solidFill>
                      <a:srgbClr val="2374A7"/>
                    </a:solidFill>
                  </a:tcPr>
                </a:tc>
                <a:tc>
                  <a:txBody>
                    <a:bodyPr lIns="95040" tIns="9360" rIns="95040" bIns="9360" anchor="t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300" b="0" u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83.57</a:t>
                      </a:r>
                      <a:endParaRPr sz="1300"/>
                    </a:p>
                  </a:txBody>
                  <a:tcPr marL="95040" marR="95040" marT="9360" marB="9360" anchor="t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solidFill>
                      <a:srgbClr val="2374A7"/>
                    </a:solidFill>
                  </a:tcPr>
                </a:tc>
              </a:tr>
            </a:tbl>
          </a:graphicData>
        </a:graphic>
      </p:graphicFrame>
      <p:sp>
        <p:nvSpPr>
          <p:cNvPr id="197" name="text-3">
            <a:extLst xmlns:a="http://schemas.openxmlformats.org/drawingml/2006/main">
              <a:ext uri="{FF2B5EF4-FFF2-40B4-BE49-F238E27FC236}">
                <a16:creationId xmlns:a16="http://schemas.microsoft.com/office/drawing/2014/main" id="{BDB60871-ABC9-48ED-AC17-73F771A3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600" y="6191280"/>
            <a:ext cx="9000" cy="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8" name="text-4">
            <a:extLst xmlns:a="http://schemas.openxmlformats.org/drawingml/2006/main">
              <a:ext uri="{FF2B5EF4-FFF2-40B4-BE49-F238E27FC236}">
                <a16:creationId xmlns:a16="http://schemas.microsoft.com/office/drawing/2014/main" id="{935C6DD4-D4D8-4D3D-B2A9-5212737A1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81075"/>
            <a:ext cx="976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75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8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u="none" strike="noStrike">
                <a:solidFill>
                  <a:srgbClr val="276F8A"/>
                </a:solidFill>
                <a:latin typeface="Arial"/>
                <a:ea typeface="Arial"/>
                <a:cs typeface="Arial"/>
              </a:rPr>
              <a:t>Purpose: Identify prototype functions and workflows that require testing.</a:t>
            </a:r>
            <a:endParaRPr sz="1800"/>
          </a:p>
        </p:txBody>
      </p:sp>
      <p:sp>
        <p:nvSpPr>
          <p:cNvPr id="199" name="text-5">
            <a:extLst xmlns:a="http://schemas.openxmlformats.org/drawingml/2006/main">
              <a:ext uri="{FF2B5EF4-FFF2-40B4-BE49-F238E27FC236}">
                <a16:creationId xmlns:a16="http://schemas.microsoft.com/office/drawing/2014/main" id="{4776B35B-4E8B-4D50-9AF0-E55B4C8BA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57800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1">
                <a:latin typeface="Arial"/>
                <a:ea typeface="Arial"/>
                <a:cs typeface="Arial"/>
              </a:rPr>
              <a:t>Finding: Working over days in use is an availability indicator, not detection accuracy or rescue success.</a:t>
            </a:r>
            <a:endParaRPr sz="1600"/>
          </a:p>
        </p:txBody>
      </p:sp>
      <p:sp>
        <p:nvSpPr>
          <p:cNvPr id="201" name="text-7">
            <a:extLst xmlns:a="http://schemas.openxmlformats.org/drawingml/2006/main">
              <a:ext uri="{FF2B5EF4-FFF2-40B4-BE49-F238E27FC236}">
                <a16:creationId xmlns:a16="http://schemas.microsoft.com/office/drawing/2014/main" id="{EF3D46A9-612A-4E96-8A27-8C1D0D4EE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57925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 u="none" strike="noStrike">
                <a:solidFill>
                  <a:srgbClr val="64748B"/>
                </a:solidFill>
                <a:latin typeface="Arial"/>
                <a:ea typeface="Arial"/>
                <a:cs typeface="Arial"/>
              </a:rPr>
              <a:t>Source: Bajones et al. (2018), Table 2.</a:t>
            </a:r>
            <a:endParaRPr sz="1050"/>
          </a:p>
        </p:txBody>
      </p:sp>
      <p:sp>
        <p:nvSpPr>
          <p:cNvPr id="202" name="Slide21_Object202">
            <a:extLst xmlns:a="http://schemas.openxmlformats.org/drawingml/2006/main">
              <a:ext uri="{FF2B5EF4-FFF2-40B4-BE49-F238E27FC236}">
                <a16:creationId xmlns:a16="http://schemas.microsoft.com/office/drawing/2014/main" id="{68A766E4-7FDF-4B76-9A69-EE45BEFAB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2397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50" b="0">
                <a:solidFill>
                  <a:srgbClr val="23344F"/>
                </a:solidFill>
                <a:latin typeface="Arial"/>
                <a:ea typeface="Arial"/>
                <a:cs typeface="Arial"/>
              </a:rPr>
              <a:t>Method: Compare availability (%). Users tried Device first, then Companion mode.</a:t>
            </a:r>
            <a:endParaRPr sz="1750"/>
          </a:p>
        </p:txBody>
      </p:sp>
      <p:sp>
        <p:nvSpPr>
          <p:cNvPr id="203" name="Slide21_Object203">
            <a:extLst xmlns:a="http://schemas.openxmlformats.org/drawingml/2006/main">
              <a:ext uri="{FF2B5EF4-FFF2-40B4-BE49-F238E27FC236}">
                <a16:creationId xmlns:a16="http://schemas.microsoft.com/office/drawing/2014/main" id="{B6524D69-F384-46C0-8DD2-2082B30EC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9775"/>
            <a:ext cx="11087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C34D22"/>
                </a:solidFill>
                <a:latin typeface="Arial"/>
                <a:ea typeface="Arial"/>
                <a:cs typeface="Arial"/>
              </a:rPr>
              <a:t>Use reported experience and function limitations to propose improvements.</a:t>
            </a:r>
            <a:endParaRPr sz="1800"/>
          </a:p>
        </p:txBody>
      </p:sp>
      <p:pic>
        <p:nvPicPr>
          <p:cNvPr id="204" name="Slide21_Object204">
            <a:extLst xmlns:a="http://schemas.openxmlformats.org/drawingml/2006/main">
              <a:ext uri="{FF2B5EF4-FFF2-40B4-BE49-F238E27FC236}">
                <a16:creationId xmlns:a16="http://schemas.microsoft.com/office/drawing/2014/main" id="{AD09C651-0EE9-4AB0-BC25-106E4020D2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4cbb6595ab4d8a"/>
          <a:srcRect xmlns:a="http://schemas.openxmlformats.org/drawingml/2006/main" l="52000" t="25000" r="12000" b="3000"/>
          <a:stretch xmlns:a="http://schemas.openxmlformats.org/drawingml/2006/main"/>
        </p:blipFill>
        <p:spPr>
          <a:xfrm xmlns:a="http://schemas.openxmlformats.org/drawingml/2006/main">
            <a:off x="10892490" y="133350"/>
            <a:ext cx="551145" cy="733425"/>
          </a:xfrm>
          <a:prstGeom xmlns:a="http://schemas.openxmlformats.org/drawingml/2006/main" prst="rect">
            <a:avLst/>
          </a:prstGeom>
        </p:spPr>
      </p:pic>
      <p:sp>
        <p:nvSpPr>
          <p:cNvPr id="205" name="Slide21_Object205">
            <a:extLst xmlns:a="http://schemas.openxmlformats.org/drawingml/2006/main">
              <a:ext uri="{FF2B5EF4-FFF2-40B4-BE49-F238E27FC236}">
                <a16:creationId xmlns:a16="http://schemas.microsoft.com/office/drawing/2014/main" id="{5A970172-9D2D-4F22-9D73-4C8F6F8F4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847725"/>
            <a:ext cx="1333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rPr>
              <a:t>Hobbit</a:t>
            </a:r>
          </a:p>
        </p:txBody>
      </p:sp>
    </p:spTree>
    <p:extLst>
      <p:ext uri="{BB962C8B-B14F-4D97-AF65-F5344CB8AC3E}">
        <p14:creationId xmlns:p14="http://schemas.microsoft.com/office/powerpoint/2010/main" val="67489114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2" name="text-0">
            <a:extLst xmlns:a="http://schemas.openxmlformats.org/drawingml/2006/main">
              <a:ext uri="{FF2B5EF4-FFF2-40B4-BE49-F238E27FC236}">
                <a16:creationId xmlns:a16="http://schemas.microsoft.com/office/drawing/2014/main" id="{7724E687-D3D7-48C4-9D71-AEBDD0D48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"/>
            <a:ext cx="11087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5365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3000" b="1">
                <a:solidFill>
                  <a:srgbClr val="15365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 u="none" strike="noStrike">
                <a:solidFill>
                  <a:srgbClr val="15365C"/>
                </a:solidFill>
                <a:latin typeface="Arial"/>
                <a:ea typeface="Arial"/>
                <a:cs typeface="Arial"/>
              </a:rPr>
              <a:t>Improvements suggested by the evidence</a:t>
            </a:r>
            <a:endParaRPr sz="3000"/>
          </a:p>
        </p:txBody>
      </p:sp>
      <p:sp>
        <p:nvSpPr>
          <p:cNvPr id="203" name="text-1">
            <a:extLst xmlns:a="http://schemas.openxmlformats.org/drawingml/2006/main">
              <a:ext uri="{FF2B5EF4-FFF2-40B4-BE49-F238E27FC236}">
                <a16:creationId xmlns:a16="http://schemas.microsoft.com/office/drawing/2014/main" id="{4D9D4B0D-829A-427B-8803-CA7A14716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43675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 u="none" strike="noStrike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4" name="text-2">
            <a:extLst xmlns:a="http://schemas.openxmlformats.org/drawingml/2006/main">
              <a:ext uri="{FF2B5EF4-FFF2-40B4-BE49-F238E27FC236}">
                <a16:creationId xmlns:a16="http://schemas.microsoft.com/office/drawing/2014/main" id="{A4B72CAB-700D-40AB-B4C6-6FCB2CCF8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641" y="6553105"/>
            <a:ext cx="5714619" cy="209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 u="none" strike="noStrike">
                <a:solidFill>
                  <a:srgbClr val="64748B"/>
                </a:solidFill>
                <a:latin typeface="Arial"/>
                <a:ea typeface="Arial"/>
                <a:cs typeface="Arial"/>
              </a:rPr>
              <a:t>Report p. 13</a:t>
            </a:r>
            <a:endParaRPr sz="1050"/>
          </a:p>
        </p:txBody>
      </p:sp>
      <p:graphicFrame>
        <p:nvGraphicFramePr>
          <p:cNvPr id="205" name="Slide22_Object205">
            <a:extLst xmlns:a="http://schemas.openxmlformats.org/drawingml/2006/main">
              <a:ext uri="{FF2B5EF4-FFF2-40B4-BE49-F238E27FC236}">
                <a16:creationId xmlns:a16="http://schemas.microsoft.com/office/drawing/2014/main" id="{F6BEF6DA-5BB9-44C1-AB94-44F48207A3D0}"/>
              </a:ext>
            </a:extLst>
          </p:cNvPr>
          <p:cNvGraphicFramePr/>
          <p:nvPr/>
        </p:nvGraphicFramePr>
        <p:xfrm>
          <a:off xmlns:a="http://schemas.openxmlformats.org/drawingml/2006/main" x="571680" y="1619280"/>
          <a:ext xmlns:a="http://schemas.openxmlformats.org/drawingml/2006/main" cx="10953360" cy="3571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33760"/>
                <a:gridCol w="5619600"/>
              </a:tblGrid>
              <a:tr h="666750">
                <a:tc>
                  <a:txBody>
                    <a:bodyPr anchor="t">
                      <a:no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575" b="1" u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</a:t>
                      </a:r>
                      <a:endParaRPr sz="1600"/>
                    </a:p>
                  </a:txBody>
                  <a:tcPr marL="91440" marR="91440" marT="45720" marB="45720" anchor="t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solidFill>
                      <a:srgbClr val="24748A"/>
                    </a:solidFill>
                  </a:tcPr>
                </a:tc>
                <a:tc>
                  <a:txBody>
                    <a:bodyPr anchor="t">
                      <a:no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575" b="1" u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Improvement to test</a:t>
                      </a:r>
                      <a:endParaRPr sz="1600"/>
                    </a:p>
                  </a:txBody>
                  <a:tcPr marL="91440" marR="91440" marT="45720" marB="45720" anchor="t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solidFill>
                      <a:srgbClr val="24748A"/>
                    </a:solidFill>
                  </a:tcPr>
                </a:tc>
              </a:tr>
              <a:tr h="666750">
                <a:tc>
                  <a:txBody>
                    <a:bodyPr anchor="t">
                      <a:no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575" b="0" u="none" strike="noStrike">
                          <a:solidFill>
                            <a:srgbClr val="17385D"/>
                          </a:solidFill>
                          <a:latin typeface="Arial"/>
                          <a:ea typeface="Arial"/>
                          <a:cs typeface="Arial"/>
                        </a:rPr>
                        <a:t>Individual experience varies</a:t>
                      </a:r>
                      <a:endParaRPr sz="1600"/>
                    </a:p>
                  </a:txBody>
                  <a:tcPr marL="91440" marR="91440" marT="45720" marB="45720" anchor="t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solidFill>
                      <a:srgbClr val="EEF5F7"/>
                    </a:solidFill>
                  </a:tcPr>
                </a:tc>
                <a:tc>
                  <a:txBody>
                    <a:bodyPr anchor="t">
                      <a:no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575" b="0" u="none" strike="noStrike">
                          <a:solidFill>
                            <a:srgbClr val="17385D"/>
                          </a:solidFill>
                          <a:latin typeface="Arial"/>
                          <a:ea typeface="Arial"/>
                          <a:cs typeface="Arial"/>
                        </a:rPr>
                        <a:t>Topic choices and brief user feedback</a:t>
                      </a:r>
                      <a:endParaRPr sz="1600"/>
                    </a:p>
                  </a:txBody>
                  <a:tcPr marL="91440" marR="91440" marT="45720" marB="45720" anchor="t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solidFill>
                      <a:srgbClr val="EEF5F7"/>
                    </a:solidFill>
                  </a:tcPr>
                </a:tc>
              </a:tr>
              <a:tr h="666750">
                <a:tc>
                  <a:txBody>
                    <a:bodyPr anchor="t">
                      <a:no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575" b="0" u="none" strike="noStrike">
                          <a:solidFill>
                            <a:srgbClr val="17385D"/>
                          </a:solidFill>
                          <a:latin typeface="Arial"/>
                          <a:ea typeface="Arial"/>
                          <a:cs typeface="Arial"/>
                        </a:rPr>
                        <a:t>Sound and content can disturb users</a:t>
                      </a:r>
                      <a:endParaRPr sz="1600"/>
                    </a:p>
                  </a:txBody>
                  <a:tcPr marL="91440" marR="91440" marT="45720" marB="45720" anchor="t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575" b="0" u="none" strike="noStrike">
                          <a:solidFill>
                            <a:srgbClr val="17385D"/>
                          </a:solidFill>
                          <a:latin typeface="Arial"/>
                          <a:ea typeface="Arial"/>
                          <a:cs typeface="Arial"/>
                        </a:rPr>
                        <a:t>Volume, quiet times and a clear stop option</a:t>
                      </a:r>
                      <a:endParaRPr sz="1600"/>
                    </a:p>
                  </a:txBody>
                  <a:tcPr marL="91440" marR="91440" marT="45720" marB="45720" anchor="t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anchor="t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7385D"/>
                          </a:solidFill>
                          <a:latin typeface="Arial"/>
                          <a:ea typeface="Arial"/>
                          <a:cs typeface="Arial"/>
                        </a:rPr>
                        <a:t>Suspicious technical requests</a:t>
                      </a:r>
                    </a:p>
                  </a:txBody>
                  <a:tcPr marL="91440" marR="91440" marT="45720" marB="45720" anchor="t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solidFill>
                      <a:srgbClr val="EEF5F7"/>
                    </a:solidFill>
                  </a:tcPr>
                </a:tc>
                <a:tc>
                  <a:txBody>
                    <a:bodyPr anchor="t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7385D"/>
                          </a:solidFill>
                          <a:latin typeface="Arial"/>
                          <a:ea typeface="Arial"/>
                          <a:cs typeface="Arial"/>
                        </a:rPr>
                        <a:t>Pause and verify with a trusted person</a:t>
                      </a:r>
                    </a:p>
                  </a:txBody>
                  <a:tcPr marL="91440" marR="91440" marT="45720" marB="45720" anchor="t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solidFill>
                      <a:srgbClr val="EEF5F7"/>
                    </a:solidFill>
                  </a:tcPr>
                </a:tc>
              </a:tr>
              <a:tr h="666750">
                <a:tc>
                  <a:txBody>
                    <a:bodyPr anchor="t">
                      <a:no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575" b="0" u="none" strike="noStrike">
                          <a:solidFill>
                            <a:srgbClr val="17385D"/>
                          </a:solidFill>
                          <a:latin typeface="Arial"/>
                          <a:ea typeface="Arial"/>
                          <a:cs typeface="Arial"/>
                        </a:rPr>
                        <a:t>Prototype function availability varies</a:t>
                      </a:r>
                      <a:endParaRPr sz="1600"/>
                    </a:p>
                  </a:txBody>
                  <a:tcPr marL="91440" marR="91440" marT="45720" marB="45720" anchor="t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575" b="0" u="none" strike="noStrike">
                          <a:solidFill>
                            <a:srgbClr val="17385D"/>
                          </a:solidFill>
                          <a:latin typeface="Arial"/>
                          <a:ea typeface="Arial"/>
                          <a:cs typeface="Arial"/>
                        </a:rPr>
                        <a:t>Notification confirmation and human fallback</a:t>
                      </a:r>
                      <a:endParaRPr sz="1600"/>
                    </a:p>
                  </a:txBody>
                  <a:tcPr marL="91440" marR="91440" marT="45720" marB="45720" anchor="t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6" name="text-3">
            <a:extLst xmlns:a="http://schemas.openxmlformats.org/drawingml/2006/main">
              <a:ext uri="{FF2B5EF4-FFF2-40B4-BE49-F238E27FC236}">
                <a16:creationId xmlns:a16="http://schemas.microsoft.com/office/drawing/2014/main" id="{E5DE10C7-03CE-4956-90C6-5A339C6BC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220" y="5048250"/>
            <a:ext cx="10667524" cy="904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32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32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32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32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32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32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32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32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32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32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232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0" b="0" u="none" strike="noStrike">
                <a:solidFill>
                  <a:srgbClr val="23344F"/>
                </a:solidFill>
                <a:latin typeface="Arial"/>
                <a:ea typeface="Arial"/>
                <a:cs typeface="Arial"/>
              </a:rPr>
              <a:t>Evidence supports design tests. Long-term outcomes still need local validation.</a:t>
            </a:r>
            <a:endParaRPr sz="2320"/>
          </a:p>
        </p:txBody>
      </p:sp>
      <p:sp>
        <p:nvSpPr>
          <p:cNvPr id="207" name="Slide22_Object207">
            <a:extLst xmlns:a="http://schemas.openxmlformats.org/drawingml/2006/main">
              <a:ext uri="{FF2B5EF4-FFF2-40B4-BE49-F238E27FC236}">
                <a16:creationId xmlns:a16="http://schemas.microsoft.com/office/drawing/2014/main" id="{4052A38A-D9A6-4D8E-9EC3-636077DE5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9775"/>
            <a:ext cx="11087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C34D22"/>
                </a:solidFill>
                <a:latin typeface="Arial"/>
                <a:ea typeface="Arial"/>
                <a:cs typeface="Arial"/>
              </a:rPr>
              <a:t>The Guardian proposal puts these ideas into everyday scenarios.</a:t>
            </a: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40003305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Slide23_Object2">
            <a:extLst xmlns:a="http://schemas.openxmlformats.org/drawingml/2006/main">
              <a:ext uri="{FF2B5EF4-FFF2-40B4-BE49-F238E27FC236}">
                <a16:creationId xmlns:a16="http://schemas.microsoft.com/office/drawing/2014/main" id="{CE828990-7683-4F60-BBE0-C4F62F94BB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1cef5ac0d64f6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lide23_Object3">
            <a:extLst xmlns:a="http://schemas.openxmlformats.org/drawingml/2006/main">
              <a:ext uri="{FF2B5EF4-FFF2-40B4-BE49-F238E27FC236}">
                <a16:creationId xmlns:a16="http://schemas.microsoft.com/office/drawing/2014/main" id="{1EFAC73B-A6C9-4415-87D2-7B7BC1D53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3375"/>
            <a:ext cx="11049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450" b="1">
                <a:solidFill>
                  <a:srgbClr val="15365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3450" b="1">
                <a:solidFill>
                  <a:srgbClr val="15365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3450" b="1">
                <a:solidFill>
                  <a:srgbClr val="15365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3450" b="1">
                <a:solidFill>
                  <a:srgbClr val="15365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3450" b="1">
                <a:solidFill>
                  <a:srgbClr val="15365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3450" b="1">
                <a:solidFill>
                  <a:srgbClr val="15365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3450" b="1">
                <a:solidFill>
                  <a:srgbClr val="15365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3450" b="1">
                <a:solidFill>
                  <a:srgbClr val="15365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3450" b="1">
                <a:solidFill>
                  <a:srgbClr val="15365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3450" b="1">
                <a:solidFill>
                  <a:srgbClr val="15365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15365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5365C"/>
                </a:solidFill>
                <a:latin typeface="Arial"/>
                <a:ea typeface="Arial"/>
                <a:cs typeface="Arial"/>
              </a:rPr>
              <a:t>Guardian proposal: companionship and support</a:t>
            </a:r>
            <a:endParaRPr sz="3450"/>
          </a:p>
        </p:txBody>
      </p:sp>
      <p:sp>
        <p:nvSpPr>
          <p:cNvPr id="4" name="Slide23_Object4">
            <a:extLst xmlns:a="http://schemas.openxmlformats.org/drawingml/2006/main">
              <a:ext uri="{FF2B5EF4-FFF2-40B4-BE49-F238E27FC236}">
                <a16:creationId xmlns:a16="http://schemas.microsoft.com/office/drawing/2014/main" id="{537C86DA-2A0D-4283-934A-766472C9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23975"/>
            <a:ext cx="5143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4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4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4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4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4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4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4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4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4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276F8A"/>
                </a:solidFill>
                <a:latin typeface="Arial"/>
                <a:ea typeface="Arial"/>
                <a:cs typeface="Arial"/>
              </a:rPr>
              <a:t>Everyday companionship</a:t>
            </a:r>
            <a:endParaRPr sz="2400"/>
          </a:p>
        </p:txBody>
      </p:sp>
      <p:sp>
        <p:nvSpPr>
          <p:cNvPr id="5" name="Slide23_Object5">
            <a:extLst xmlns:a="http://schemas.openxmlformats.org/drawingml/2006/main">
              <a:ext uri="{FF2B5EF4-FFF2-40B4-BE49-F238E27FC236}">
                <a16:creationId xmlns:a16="http://schemas.microsoft.com/office/drawing/2014/main" id="{DFA39D60-D4DA-4D87-887B-EE841CF7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28800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75" b="0">
                <a:solidFill>
                  <a:srgbClr val="435B7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75" b="0">
                <a:solidFill>
                  <a:srgbClr val="435B7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75" b="0">
                <a:solidFill>
                  <a:srgbClr val="435B7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75" b="0">
                <a:solidFill>
                  <a:srgbClr val="435B7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75" b="0">
                <a:solidFill>
                  <a:srgbClr val="435B7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75" b="0">
                <a:solidFill>
                  <a:srgbClr val="435B7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75" b="0">
                <a:solidFill>
                  <a:srgbClr val="435B7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75" b="0">
                <a:solidFill>
                  <a:srgbClr val="435B7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75" b="0">
                <a:solidFill>
                  <a:srgbClr val="435B7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75" b="0">
                <a:solidFill>
                  <a:srgbClr val="435B7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435B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35B76"/>
                </a:solidFill>
                <a:latin typeface="Arial"/>
                <a:ea typeface="Arial"/>
                <a:cs typeface="Arial"/>
              </a:rPr>
              <a:t>Choose topics, adjust volume and stop the interaction</a:t>
            </a:r>
            <a:endParaRPr sz="1875"/>
          </a:p>
        </p:txBody>
      </p:sp>
      <p:sp>
        <p:nvSpPr>
          <p:cNvPr id="6" name="Slide23_Object6">
            <a:extLst xmlns:a="http://schemas.openxmlformats.org/drawingml/2006/main">
              <a:ext uri="{FF2B5EF4-FFF2-40B4-BE49-F238E27FC236}">
                <a16:creationId xmlns:a16="http://schemas.microsoft.com/office/drawing/2014/main" id="{7087A5EF-B82E-4679-8443-22B2F1674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323975"/>
            <a:ext cx="5048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4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4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4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4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4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4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4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4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4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C34D22"/>
                </a:solidFill>
                <a:latin typeface="Arial"/>
                <a:ea typeface="Arial"/>
                <a:cs typeface="Arial"/>
              </a:rPr>
              <a:t>Verification and authorised help</a:t>
            </a:r>
            <a:endParaRPr sz="2400"/>
          </a:p>
        </p:txBody>
      </p:sp>
      <p:sp>
        <p:nvSpPr>
          <p:cNvPr id="7" name="Slide23_Object7">
            <a:extLst xmlns:a="http://schemas.openxmlformats.org/drawingml/2006/main">
              <a:ext uri="{FF2B5EF4-FFF2-40B4-BE49-F238E27FC236}">
                <a16:creationId xmlns:a16="http://schemas.microsoft.com/office/drawing/2014/main" id="{BED7E652-7DA0-49C3-B215-448CD04F2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28800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75" b="0">
                <a:solidFill>
                  <a:srgbClr val="435B7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75" b="0">
                <a:solidFill>
                  <a:srgbClr val="435B7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75" b="0">
                <a:solidFill>
                  <a:srgbClr val="435B7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75" b="0">
                <a:solidFill>
                  <a:srgbClr val="435B7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75" b="0">
                <a:solidFill>
                  <a:srgbClr val="435B7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75" b="0">
                <a:solidFill>
                  <a:srgbClr val="435B7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75" b="0">
                <a:solidFill>
                  <a:srgbClr val="435B7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75" b="0">
                <a:solidFill>
                  <a:srgbClr val="435B7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75" b="0">
                <a:solidFill>
                  <a:srgbClr val="435B7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75" b="0">
                <a:solidFill>
                  <a:srgbClr val="435B7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435B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35B76"/>
                </a:solidFill>
                <a:latin typeface="Arial"/>
                <a:ea typeface="Arial"/>
                <a:cs typeface="Arial"/>
              </a:rPr>
              <a:t>Pause, verify and contact a trusted person with consent</a:t>
            </a:r>
            <a:endParaRPr sz="1875"/>
          </a:p>
        </p:txBody>
      </p:sp>
      <p:sp>
        <p:nvSpPr>
          <p:cNvPr id="8" name="Slide23_Object8">
            <a:extLst xmlns:a="http://schemas.openxmlformats.org/drawingml/2006/main">
              <a:ext uri="{FF2B5EF4-FFF2-40B4-BE49-F238E27FC236}">
                <a16:creationId xmlns:a16="http://schemas.microsoft.com/office/drawing/2014/main" id="{55B7482A-6113-41A7-8CC2-0AF8DBE3F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86050"/>
            <a:ext cx="768096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Proposed scenarios. AI-generated illustration, not a real product or validated function.</a:t>
            </a:r>
            <a:endParaRPr sz="1200"/>
          </a:p>
        </p:txBody>
      </p:sp>
      <p:sp>
        <p:nvSpPr>
          <p:cNvPr id="9" name="Slide23_Object9">
            <a:extLst xmlns:a="http://schemas.openxmlformats.org/drawingml/2006/main">
              <a:ext uri="{FF2B5EF4-FFF2-40B4-BE49-F238E27FC236}">
                <a16:creationId xmlns:a16="http://schemas.microsoft.com/office/drawing/2014/main" id="{0AEB6EAC-E303-4BA2-AB2B-B04748092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00750"/>
            <a:ext cx="12192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C34D22"/>
                </a:solidFill>
                <a:latin typeface="Arial"/>
                <a:ea typeface="Arial"/>
                <a:cs typeface="Arial"/>
              </a:rPr>
              <a:t>The next step is a four-week pilot to find usability and workflow problems.</a:t>
            </a:r>
            <a:endParaRPr sz="1800"/>
          </a:p>
        </p:txBody>
      </p:sp>
      <p:sp>
        <p:nvSpPr>
          <p:cNvPr id="10" name="text-1">
            <a:extLst xmlns:a="http://schemas.openxmlformats.org/drawingml/2006/main">
              <a:ext uri="{FF2B5EF4-FFF2-40B4-BE49-F238E27FC236}">
                <a16:creationId xmlns:a16="http://schemas.microsoft.com/office/drawing/2014/main" id="{439DBF7E-0D7B-4588-92D0-7568F946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43675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 u="none" strike="noStrike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23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text-2">
            <a:extLst xmlns:a="http://schemas.openxmlformats.org/drawingml/2006/main">
              <a:ext uri="{FF2B5EF4-FFF2-40B4-BE49-F238E27FC236}">
                <a16:creationId xmlns:a16="http://schemas.microsoft.com/office/drawing/2014/main" id="{24CAB06A-85C7-44EF-B49D-DA1152D78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641" y="6553105"/>
            <a:ext cx="5714619" cy="209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 u="none" strike="noStrike">
                <a:solidFill>
                  <a:srgbClr val="64748B"/>
                </a:solidFill>
                <a:latin typeface="Arial"/>
                <a:ea typeface="Arial"/>
                <a:cs typeface="Arial"/>
              </a:rPr>
              <a:t>Report p. 14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21376624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5" name="text-0">
            <a:extLst xmlns:a="http://schemas.openxmlformats.org/drawingml/2006/main">
              <a:ext uri="{FF2B5EF4-FFF2-40B4-BE49-F238E27FC236}">
                <a16:creationId xmlns:a16="http://schemas.microsoft.com/office/drawing/2014/main" id="{887CC56C-DC45-416A-B336-CD106128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"/>
            <a:ext cx="11087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5365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3000" b="1">
                <a:solidFill>
                  <a:srgbClr val="15365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 u="none" strike="noStrike">
                <a:solidFill>
                  <a:srgbClr val="15365C"/>
                </a:solidFill>
                <a:latin typeface="Arial"/>
                <a:ea typeface="Arial"/>
                <a:cs typeface="Arial"/>
              </a:rPr>
              <a:t>Proposed four-week pilot</a:t>
            </a:r>
            <a:endParaRPr sz="3000"/>
          </a:p>
        </p:txBody>
      </p:sp>
      <p:sp>
        <p:nvSpPr>
          <p:cNvPr id="216" name="text-1">
            <a:extLst xmlns:a="http://schemas.openxmlformats.org/drawingml/2006/main">
              <a:ext uri="{FF2B5EF4-FFF2-40B4-BE49-F238E27FC236}">
                <a16:creationId xmlns:a16="http://schemas.microsoft.com/office/drawing/2014/main" id="{32F487AD-CE56-4C5C-92CA-CA7DDBB45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43675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 u="none" strike="noStrike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24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7" name="text-2">
            <a:extLst xmlns:a="http://schemas.openxmlformats.org/drawingml/2006/main">
              <a:ext uri="{FF2B5EF4-FFF2-40B4-BE49-F238E27FC236}">
                <a16:creationId xmlns:a16="http://schemas.microsoft.com/office/drawing/2014/main" id="{59BA4DA5-38A6-41FC-A237-3D42E1817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641" y="6553105"/>
            <a:ext cx="5714619" cy="209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 u="none" strike="noStrike">
                <a:solidFill>
                  <a:srgbClr val="64748B"/>
                </a:solidFill>
                <a:latin typeface="Arial"/>
                <a:ea typeface="Arial"/>
                <a:cs typeface="Arial"/>
              </a:rPr>
              <a:t>Report p. 15</a:t>
            </a:r>
            <a:endParaRPr sz="1050"/>
          </a:p>
        </p:txBody>
      </p:sp>
      <p:graphicFrame>
        <p:nvGraphicFramePr>
          <p:cNvPr id="218" name="Slide24_Object218">
            <a:extLst xmlns:a="http://schemas.openxmlformats.org/drawingml/2006/main">
              <a:ext uri="{FF2B5EF4-FFF2-40B4-BE49-F238E27FC236}">
                <a16:creationId xmlns:a16="http://schemas.microsoft.com/office/drawing/2014/main" id="{C9856523-B962-4997-B360-A2F470F984B4}"/>
              </a:ext>
            </a:extLst>
          </p:cNvPr>
          <p:cNvGraphicFramePr/>
          <p:nvPr/>
        </p:nvGraphicFramePr>
        <p:xfrm>
          <a:off xmlns:a="http://schemas.openxmlformats.org/drawingml/2006/main" x="571680" y="1571760"/>
          <a:ext xmlns:a="http://schemas.openxmlformats.org/drawingml/2006/main" cx="10953360" cy="352404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33440"/>
                <a:gridCol w="5333760"/>
                <a:gridCol w="4286160"/>
              </a:tblGrid>
              <a:tr h="704520">
                <a:tc>
                  <a:txBody>
                    <a:bodyPr anchor="t">
                      <a:no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600" b="1" u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Week</a:t>
                      </a:r>
                      <a:endParaRPr sz="1600"/>
                    </a:p>
                  </a:txBody>
                  <a:tcPr marL="91440" marR="91440" marT="45720" marB="45720" anchor="t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solidFill>
                      <a:srgbClr val="276F8A"/>
                    </a:solidFill>
                  </a:tcPr>
                </a:tc>
                <a:tc>
                  <a:txBody>
                    <a:bodyPr anchor="t">
                      <a:no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600" b="1" u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Main procedure</a:t>
                      </a:r>
                      <a:endParaRPr sz="1600"/>
                    </a:p>
                  </a:txBody>
                  <a:tcPr marL="91440" marR="91440" marT="45720" marB="45720" anchor="t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solidFill>
                      <a:srgbClr val="276F8A"/>
                    </a:solidFill>
                  </a:tcPr>
                </a:tc>
                <a:tc>
                  <a:txBody>
                    <a:bodyPr anchor="t">
                      <a:no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600" b="1" u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Records</a:t>
                      </a:r>
                      <a:endParaRPr sz="1600"/>
                    </a:p>
                  </a:txBody>
                  <a:tcPr marL="91440" marR="91440" marT="45720" marB="45720" anchor="t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solidFill>
                      <a:srgbClr val="276F8A"/>
                    </a:solidFill>
                  </a:tcPr>
                </a:tc>
              </a:tr>
              <a:tr h="704520">
                <a:tc>
                  <a:txBody>
                    <a:bodyPr anchor="t">
                      <a:no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600" b="0" u="none" strike="noStrike">
                          <a:solidFill>
                            <a:srgbClr val="23344F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  <a:endParaRPr sz="1600"/>
                    </a:p>
                  </a:txBody>
                  <a:tcPr marL="91440" marR="91440" marT="45720" marB="45720" anchor="t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solidFill>
                      <a:srgbClr val="F0F7F8"/>
                    </a:solidFill>
                  </a:tcPr>
                </a:tc>
                <a:tc>
                  <a:txBody>
                    <a:bodyPr anchor="t">
                      <a:no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600" b="0" u="none" strike="noStrike">
                          <a:solidFill>
                            <a:srgbClr val="23344F"/>
                          </a:solidFill>
                          <a:latin typeface="Arial"/>
                          <a:ea typeface="Arial"/>
                          <a:cs typeface="Arial"/>
                        </a:rPr>
                        <a:t>Agree topics, volume and consent</a:t>
                      </a:r>
                      <a:endParaRPr sz="1600"/>
                    </a:p>
                  </a:txBody>
                  <a:tcPr marL="91440" marR="91440" marT="45720" marB="45720" anchor="t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solidFill>
                      <a:srgbClr val="F0F7F8"/>
                    </a:solidFill>
                  </a:tcPr>
                </a:tc>
                <a:tc>
                  <a:txBody>
                    <a:bodyPr anchor="t">
                      <a:no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600" b="0" u="none" strike="noStrike">
                          <a:solidFill>
                            <a:srgbClr val="23344F"/>
                          </a:solidFill>
                          <a:latin typeface="Arial"/>
                          <a:ea typeface="Arial"/>
                          <a:cs typeface="Arial"/>
                        </a:rPr>
                        <a:t>Stopping and withdrawal</a:t>
                      </a:r>
                      <a:endParaRPr sz="1600"/>
                    </a:p>
                  </a:txBody>
                  <a:tcPr marL="91440" marR="91440" marT="45720" marB="45720" anchor="t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solidFill>
                      <a:srgbClr val="F0F7F8"/>
                    </a:solidFill>
                  </a:tcPr>
                </a:tc>
              </a:tr>
              <a:tr h="704520">
                <a:tc>
                  <a:txBody>
                    <a:bodyPr anchor="t">
                      <a:no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600" b="0" u="none" strike="noStrike">
                          <a:solidFill>
                            <a:srgbClr val="23344F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  <a:endParaRPr sz="1600"/>
                    </a:p>
                  </a:txBody>
                  <a:tcPr marL="91440" marR="91440" marT="45720" marB="45720" anchor="t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600" b="0" u="none" strike="noStrike">
                          <a:solidFill>
                            <a:srgbClr val="23344F"/>
                          </a:solidFill>
                          <a:latin typeface="Arial"/>
                          <a:ea typeface="Arial"/>
                          <a:cs typeface="Arial"/>
                        </a:rPr>
                        <a:t>Staff test 20 scripted cases and failures</a:t>
                      </a:r>
                      <a:endParaRPr sz="1600"/>
                    </a:p>
                  </a:txBody>
                  <a:tcPr marL="91440" marR="91440" marT="45720" marB="45720" anchor="t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600" b="0" u="none" strike="noStrike">
                          <a:solidFill>
                            <a:srgbClr val="23344F"/>
                          </a:solidFill>
                          <a:latin typeface="Arial"/>
                          <a:ea typeface="Arial"/>
                          <a:cs typeface="Arial"/>
                        </a:rPr>
                        <a:t>False alarms, missed prompts, delivery, delay and acknowledgement</a:t>
                      </a:r>
                      <a:endParaRPr sz="1600"/>
                    </a:p>
                  </a:txBody>
                  <a:tcPr marL="91440" marR="91440" marT="45720" marB="45720" anchor="t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4520">
                <a:tc>
                  <a:txBody>
                    <a:bodyPr anchor="t">
                      <a:no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600" b="0" u="none" strike="noStrike">
                          <a:solidFill>
                            <a:srgbClr val="23344F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  <a:endParaRPr sz="1600"/>
                    </a:p>
                  </a:txBody>
                  <a:tcPr marL="91440" marR="91440" marT="45720" marB="45720" anchor="t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solidFill>
                      <a:srgbClr val="F0F7F8"/>
                    </a:solidFill>
                  </a:tcPr>
                </a:tc>
                <a:tc>
                  <a:txBody>
                    <a:bodyPr anchor="t">
                      <a:no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600" b="0" u="none" strike="noStrike">
                          <a:solidFill>
                            <a:srgbClr val="23344F"/>
                          </a:solidFill>
                          <a:latin typeface="Arial"/>
                          <a:ea typeface="Arial"/>
                          <a:cs typeface="Arial"/>
                        </a:rPr>
                        <a:t>Five volunteers try fictional scenarios with staff present</a:t>
                      </a:r>
                      <a:endParaRPr sz="1600"/>
                    </a:p>
                  </a:txBody>
                  <a:tcPr marL="91440" marR="91440" marT="45720" marB="45720" anchor="t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solidFill>
                      <a:srgbClr val="F0F7F8"/>
                    </a:solidFill>
                  </a:tcPr>
                </a:tc>
                <a:tc>
                  <a:txBody>
                    <a:bodyPr anchor="t">
                      <a:no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600" b="0" u="none" strike="noStrike">
                          <a:solidFill>
                            <a:srgbClr val="23344F"/>
                          </a:solidFill>
                          <a:latin typeface="Arial"/>
                          <a:ea typeface="Arial"/>
                          <a:cs typeface="Arial"/>
                        </a:rPr>
                        <a:t>Understanding, stopping and willingness to use again</a:t>
                      </a:r>
                      <a:endParaRPr sz="1600"/>
                    </a:p>
                  </a:txBody>
                  <a:tcPr marL="91440" marR="91440" marT="45720" marB="45720" anchor="t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solidFill>
                      <a:srgbClr val="F0F7F8"/>
                    </a:solidFill>
                  </a:tcPr>
                </a:tc>
              </a:tr>
              <a:tr h="704520">
                <a:tc>
                  <a:txBody>
                    <a:bodyPr anchor="t">
                      <a:no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600" b="0" u="none" strike="noStrike">
                          <a:solidFill>
                            <a:srgbClr val="23344F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  <a:endParaRPr sz="1600"/>
                    </a:p>
                  </a:txBody>
                  <a:tcPr marL="91440" marR="91440" marT="45720" marB="45720" anchor="t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600" b="0" u="none" strike="noStrike">
                          <a:solidFill>
                            <a:srgbClr val="23344F"/>
                          </a:solidFill>
                          <a:latin typeface="Arial"/>
                          <a:ea typeface="Arial"/>
                          <a:cs typeface="Arial"/>
                        </a:rPr>
                        <a:t>Fix problems and retest</a:t>
                      </a:r>
                      <a:endParaRPr sz="1600"/>
                    </a:p>
                  </a:txBody>
                  <a:tcPr marL="91440" marR="91440" marT="45720" marB="45720" anchor="t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600" b="0" u="none" strike="noStrike">
                          <a:solidFill>
                            <a:srgbClr val="23344F"/>
                          </a:solidFill>
                          <a:latin typeface="Arial"/>
                          <a:ea typeface="Arial"/>
                          <a:cs typeface="Arial"/>
                        </a:rPr>
                        <a:t>Review further supervised use</a:t>
                      </a:r>
                      <a:endParaRPr sz="1600"/>
                    </a:p>
                  </a:txBody>
                  <a:tcPr marL="91440" marR="91440" marT="45720" marB="45720" anchor="t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9" name="text-3">
            <a:extLst xmlns:a="http://schemas.openxmlformats.org/drawingml/2006/main">
              <a:ext uri="{FF2B5EF4-FFF2-40B4-BE49-F238E27FC236}">
                <a16:creationId xmlns:a16="http://schemas.microsoft.com/office/drawing/2014/main" id="{46832367-7E08-4564-8397-884D980A9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81625"/>
            <a:ext cx="11087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6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6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6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6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6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6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6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6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6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6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 u="none" strike="noStrike">
                <a:solidFill>
                  <a:srgbClr val="23344F"/>
                </a:solidFill>
                <a:latin typeface="Arial"/>
                <a:ea typeface="Arial"/>
                <a:cs typeface="Arial"/>
              </a:rPr>
              <a:t>Proposed scale only. No new participants or completed tests are reported.</a:t>
            </a:r>
            <a:endParaRPr sz="1650"/>
          </a:p>
        </p:txBody>
      </p:sp>
      <p:sp>
        <p:nvSpPr>
          <p:cNvPr id="220" name="Slide24_Object220">
            <a:extLst xmlns:a="http://schemas.openxmlformats.org/drawingml/2006/main">
              <a:ext uri="{FF2B5EF4-FFF2-40B4-BE49-F238E27FC236}">
                <a16:creationId xmlns:a16="http://schemas.microsoft.com/office/drawing/2014/main" id="{E4E0492C-3B77-451A-A8E9-F39CD3D5E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0"/>
            <a:ext cx="1108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C34D22"/>
                </a:solidFill>
                <a:latin typeface="Arial"/>
                <a:ea typeface="Arial"/>
                <a:cs typeface="Arial"/>
              </a:rPr>
              <a:t>Which records would support a decision after testing?</a:t>
            </a: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9535084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0" name="text-0">
            <a:extLst xmlns:a="http://schemas.openxmlformats.org/drawingml/2006/main">
              <a:ext uri="{FF2B5EF4-FFF2-40B4-BE49-F238E27FC236}">
                <a16:creationId xmlns:a16="http://schemas.microsoft.com/office/drawing/2014/main" id="{8E58CD74-1911-4768-A28A-5A1266755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"/>
            <a:ext cx="11087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5365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3000" b="1">
                <a:solidFill>
                  <a:srgbClr val="15365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 u="none" strike="noStrike">
                <a:solidFill>
                  <a:srgbClr val="15365C"/>
                </a:solidFill>
                <a:latin typeface="Arial"/>
                <a:ea typeface="Arial"/>
                <a:cs typeface="Arial"/>
              </a:rPr>
              <a:t>Records needed before a larger trial</a:t>
            </a:r>
            <a:endParaRPr sz="3000"/>
          </a:p>
        </p:txBody>
      </p:sp>
      <p:sp>
        <p:nvSpPr>
          <p:cNvPr id="221" name="text-1">
            <a:extLst xmlns:a="http://schemas.openxmlformats.org/drawingml/2006/main">
              <a:ext uri="{FF2B5EF4-FFF2-40B4-BE49-F238E27FC236}">
                <a16:creationId xmlns:a16="http://schemas.microsoft.com/office/drawing/2014/main" id="{DD18A5D3-F79A-466E-8580-9D4D3A1CA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43675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 u="none" strike="noStrike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25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2" name="text-2">
            <a:extLst xmlns:a="http://schemas.openxmlformats.org/drawingml/2006/main">
              <a:ext uri="{FF2B5EF4-FFF2-40B4-BE49-F238E27FC236}">
                <a16:creationId xmlns:a16="http://schemas.microsoft.com/office/drawing/2014/main" id="{D24EA655-A4F3-4ECE-8FED-566A5444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641" y="6553105"/>
            <a:ext cx="5714619" cy="209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 u="none" strike="noStrike">
                <a:solidFill>
                  <a:srgbClr val="64748B"/>
                </a:solidFill>
                <a:latin typeface="Arial"/>
                <a:ea typeface="Arial"/>
                <a:cs typeface="Arial"/>
              </a:rPr>
              <a:t>Report p. 15</a:t>
            </a:r>
            <a:endParaRPr sz="1050"/>
          </a:p>
        </p:txBody>
      </p:sp>
      <p:sp>
        <p:nvSpPr>
          <p:cNvPr id="223" name="text-3">
            <a:extLst xmlns:a="http://schemas.openxmlformats.org/drawingml/2006/main">
              <a:ext uri="{FF2B5EF4-FFF2-40B4-BE49-F238E27FC236}">
                <a16:creationId xmlns:a16="http://schemas.microsoft.com/office/drawing/2014/main" id="{563B0B86-AE60-4B8A-B950-2E2B5ABF7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220" y="1666780"/>
            <a:ext cx="10667524" cy="6188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550" b="1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5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5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5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5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5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5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5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5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5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25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u="none" strike="noStrike">
                <a:solidFill>
                  <a:srgbClr val="23344F"/>
                </a:solidFill>
                <a:latin typeface="Arial"/>
                <a:ea typeface="Arial"/>
                <a:cs typeface="Arial"/>
              </a:rPr>
              <a:t>Can users understand prompts and stop independently?</a:t>
            </a:r>
            <a:endParaRPr sz="2550"/>
          </a:p>
        </p:txBody>
      </p:sp>
      <p:sp>
        <p:nvSpPr>
          <p:cNvPr id="224" name="text-4">
            <a:extLst xmlns:a="http://schemas.openxmlformats.org/drawingml/2006/main">
              <a:ext uri="{FF2B5EF4-FFF2-40B4-BE49-F238E27FC236}">
                <a16:creationId xmlns:a16="http://schemas.microsoft.com/office/drawing/2014/main" id="{933887C0-9D7A-4DAC-AC48-A7740C58A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220" y="2857691"/>
            <a:ext cx="10667524" cy="6188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550" b="1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5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5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5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5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5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5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5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5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5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25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u="none" strike="noStrike">
                <a:solidFill>
                  <a:srgbClr val="23344F"/>
                </a:solidFill>
                <a:latin typeface="Arial"/>
                <a:ea typeface="Arial"/>
                <a:cs typeface="Arial"/>
              </a:rPr>
              <a:t>Are simulated messages and notifications fully recorded?</a:t>
            </a:r>
            <a:endParaRPr sz="2550"/>
          </a:p>
        </p:txBody>
      </p:sp>
      <p:sp>
        <p:nvSpPr>
          <p:cNvPr id="225" name="text-5">
            <a:extLst xmlns:a="http://schemas.openxmlformats.org/drawingml/2006/main">
              <a:ext uri="{FF2B5EF4-FFF2-40B4-BE49-F238E27FC236}">
                <a16:creationId xmlns:a16="http://schemas.microsoft.com/office/drawing/2014/main" id="{94CF1187-45EA-4913-A4E5-1E3DB6A9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220" y="4048220"/>
            <a:ext cx="10667524" cy="6188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550" b="1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5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5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5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5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5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5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5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5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5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25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u="none" strike="noStrike">
                <a:solidFill>
                  <a:srgbClr val="23344F"/>
                </a:solidFill>
                <a:latin typeface="Arial"/>
                <a:ea typeface="Arial"/>
                <a:cs typeface="Arial"/>
              </a:rPr>
              <a:t>Have known notification failures been fixed and retested?</a:t>
            </a:r>
            <a:endParaRPr sz="2550"/>
          </a:p>
        </p:txBody>
      </p:sp>
      <p:sp>
        <p:nvSpPr>
          <p:cNvPr id="226" name="text-6">
            <a:extLst xmlns:a="http://schemas.openxmlformats.org/drawingml/2006/main">
              <a:ext uri="{FF2B5EF4-FFF2-40B4-BE49-F238E27FC236}">
                <a16:creationId xmlns:a16="http://schemas.microsoft.com/office/drawing/2014/main" id="{BB356617-9D35-4928-BB90-A0D3BC533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0"/>
            <a:ext cx="11087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725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 u="none" strike="noStrike">
                <a:solidFill>
                  <a:srgbClr val="23344F"/>
                </a:solidFill>
                <a:latin typeface="Arial"/>
                <a:ea typeface="Arial"/>
                <a:cs typeface="Arial"/>
              </a:rPr>
              <a:t>The team and centre review the records before deciding on a larger supervised trial.</a:t>
            </a:r>
            <a:endParaRPr sz="1725"/>
          </a:p>
        </p:txBody>
      </p:sp>
      <p:sp>
        <p:nvSpPr>
          <p:cNvPr id="227" name="Slide25_Object227">
            <a:extLst xmlns:a="http://schemas.openxmlformats.org/drawingml/2006/main">
              <a:ext uri="{FF2B5EF4-FFF2-40B4-BE49-F238E27FC236}">
                <a16:creationId xmlns:a16="http://schemas.microsoft.com/office/drawing/2014/main" id="{323998BA-4CEA-44E8-A6B6-E97EBDA6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0"/>
            <a:ext cx="1108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C34D22"/>
                </a:solidFill>
                <a:latin typeface="Arial"/>
                <a:ea typeface="Arial"/>
                <a:cs typeface="Arial"/>
              </a:rPr>
              <a:t>Review user actions and notification records before expanding.</a:t>
            </a: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161142625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1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7" name="text-0">
            <a:extLst xmlns:a="http://schemas.openxmlformats.org/drawingml/2006/main">
              <a:ext uri="{FF2B5EF4-FFF2-40B4-BE49-F238E27FC236}">
                <a16:creationId xmlns:a16="http://schemas.microsoft.com/office/drawing/2014/main" id="{77A2E576-30A8-463F-8D58-686EF51A3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"/>
            <a:ext cx="11087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5365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3000" b="1">
                <a:solidFill>
                  <a:srgbClr val="15365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 u="none" strike="noStrike">
                <a:solidFill>
                  <a:srgbClr val="15365C"/>
                </a:solidFill>
                <a:latin typeface="Arial"/>
                <a:ea typeface="Arial"/>
                <a:cs typeface="Arial"/>
              </a:rPr>
              <a:t>Recommendations for development</a:t>
            </a:r>
            <a:endParaRPr sz="3000"/>
          </a:p>
        </p:txBody>
      </p:sp>
      <p:sp>
        <p:nvSpPr>
          <p:cNvPr id="228" name="text-1">
            <a:extLst xmlns:a="http://schemas.openxmlformats.org/drawingml/2006/main">
              <a:ext uri="{FF2B5EF4-FFF2-40B4-BE49-F238E27FC236}">
                <a16:creationId xmlns:a16="http://schemas.microsoft.com/office/drawing/2014/main" id="{30317FC7-AE5C-4012-8082-FC6AE7647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43675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 u="none" strike="noStrike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26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9" name="text-2">
            <a:extLst xmlns:a="http://schemas.openxmlformats.org/drawingml/2006/main">
              <a:ext uri="{FF2B5EF4-FFF2-40B4-BE49-F238E27FC236}">
                <a16:creationId xmlns:a16="http://schemas.microsoft.com/office/drawing/2014/main" id="{89EB3ADE-E5ED-40D3-94B6-33AE3BC3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641" y="6553105"/>
            <a:ext cx="5714619" cy="209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 u="none" strike="noStrike">
                <a:solidFill>
                  <a:srgbClr val="64748B"/>
                </a:solidFill>
                <a:latin typeface="Arial"/>
                <a:ea typeface="Arial"/>
                <a:cs typeface="Arial"/>
              </a:rPr>
              <a:t>Report pp. 14-15</a:t>
            </a:r>
            <a:endParaRPr sz="1050"/>
          </a:p>
        </p:txBody>
      </p:sp>
      <p:sp>
        <p:nvSpPr>
          <p:cNvPr id="230" name="text-3">
            <a:extLst xmlns:a="http://schemas.openxmlformats.org/drawingml/2006/main">
              <a:ext uri="{FF2B5EF4-FFF2-40B4-BE49-F238E27FC236}">
                <a16:creationId xmlns:a16="http://schemas.microsoft.com/office/drawing/2014/main" id="{F8D08AA8-D066-4E97-BDD9-F912AE3B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220" y="1714691"/>
            <a:ext cx="10667524" cy="8567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7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7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7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7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7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7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7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7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7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7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 u="none" strike="noStrike">
                <a:solidFill>
                  <a:srgbClr val="276F8A"/>
                </a:solidFill>
                <a:latin typeface="Arial"/>
                <a:ea typeface="Arial"/>
                <a:cs typeface="Arial"/>
              </a:rPr>
              <a:t>User suitability determines development priorities</a:t>
            </a:r>
            <a:endParaRPr sz="2700"/>
          </a:p>
        </p:txBody>
      </p:sp>
      <p:sp>
        <p:nvSpPr>
          <p:cNvPr id="231" name="text-4">
            <a:extLst xmlns:a="http://schemas.openxmlformats.org/drawingml/2006/main">
              <a:ext uri="{FF2B5EF4-FFF2-40B4-BE49-F238E27FC236}">
                <a16:creationId xmlns:a16="http://schemas.microsoft.com/office/drawing/2014/main" id="{BA73C513-2E4A-44B0-9A7A-DF271342C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62250"/>
            <a:ext cx="10668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400" b="1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4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4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4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4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4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4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4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4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4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24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 u="none" strike="noStrike">
                <a:solidFill>
                  <a:srgbClr val="23344F"/>
                </a:solidFill>
                <a:latin typeface="Arial"/>
                <a:ea typeface="Arial"/>
                <a:cs typeface="Arial"/>
              </a:rPr>
              <a:t>Main data show individual experience varies</a:t>
            </a:r>
            <a:endParaRPr sz="2400"/>
          </a:p>
          <a:p xmlns:a="http://schemas.openxmlformats.org/drawingml/2006/main">
            <a:pPr>
              <a:lnSpc>
                <a:spcPct val="100000"/>
              </a:lnSpc>
              <a:buNone/>
              <a:defRPr sz="24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 u="none" strike="noStrike">
                <a:solidFill>
                  <a:srgbClr val="23344F"/>
                </a:solidFill>
                <a:latin typeface="Arial"/>
                <a:ea typeface="Arial"/>
                <a:cs typeface="Arial"/>
              </a:rPr>
              <a:t>Product studies add continued-use evidence</a:t>
            </a:r>
            <a:endParaRPr sz="2400"/>
          </a:p>
          <a:p xmlns:a="http://schemas.openxmlformats.org/drawingml/2006/main">
            <a:pPr>
              <a:lnSpc>
                <a:spcPct val="100000"/>
              </a:lnSpc>
              <a:buNone/>
              <a:defRPr sz="24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 u="none" strike="noStrike">
                <a:solidFill>
                  <a:srgbClr val="23344F"/>
                </a:solidFill>
                <a:latin typeface="Arial"/>
                <a:ea typeface="Arial"/>
                <a:cs typeface="Arial"/>
              </a:rPr>
              <a:t>Support functions require independent testing</a:t>
            </a:r>
            <a:endParaRPr sz="2400"/>
          </a:p>
        </p:txBody>
      </p:sp>
      <p:sp>
        <p:nvSpPr>
          <p:cNvPr id="232" name="text-5">
            <a:extLst xmlns:a="http://schemas.openxmlformats.org/drawingml/2006/main">
              <a:ext uri="{FF2B5EF4-FFF2-40B4-BE49-F238E27FC236}">
                <a16:creationId xmlns:a16="http://schemas.microsoft.com/office/drawing/2014/main" id="{6B42C396-2A33-4056-90F9-107F8A47F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220" y="5381625"/>
            <a:ext cx="10667524" cy="666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1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1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1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1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1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1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1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1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1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2100" b="1">
                <a:solidFill>
                  <a:srgbClr val="C34D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 u="none" strike="noStrike">
                <a:solidFill>
                  <a:srgbClr val="C34D22"/>
                </a:solidFill>
                <a:latin typeface="Arial"/>
                <a:ea typeface="Arial"/>
                <a:cs typeface="Arial"/>
              </a:rPr>
              <a:t>Recommendation: run the four-week pilot, then review whether to expand</a:t>
            </a:r>
            <a:endParaRPr sz="2100"/>
          </a:p>
        </p:txBody>
      </p:sp>
    </p:spTree>
    <p:extLst>
      <p:ext uri="{BB962C8B-B14F-4D97-AF65-F5344CB8AC3E}">
        <p14:creationId xmlns:p14="http://schemas.microsoft.com/office/powerpoint/2010/main" val="134557962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3" name="text-0">
            <a:extLst xmlns:a="http://schemas.openxmlformats.org/drawingml/2006/main">
              <a:ext uri="{FF2B5EF4-FFF2-40B4-BE49-F238E27FC236}">
                <a16:creationId xmlns:a16="http://schemas.microsoft.com/office/drawing/2014/main" id="{FDBFA80D-A8D2-4FAA-8A36-757C0D890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"/>
            <a:ext cx="11087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5365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3000" b="1">
                <a:solidFill>
                  <a:srgbClr val="15365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 u="none" strike="noStrike">
                <a:solidFill>
                  <a:srgbClr val="15365C"/>
                </a:solidFill>
                <a:latin typeface="Arial"/>
                <a:ea typeface="Arial"/>
                <a:cs typeface="Arial"/>
              </a:rPr>
              <a:t>Research data and references</a:t>
            </a:r>
            <a:endParaRPr sz="3000"/>
          </a:p>
        </p:txBody>
      </p:sp>
      <p:sp>
        <p:nvSpPr>
          <p:cNvPr id="234" name="text-1">
            <a:extLst xmlns:a="http://schemas.openxmlformats.org/drawingml/2006/main">
              <a:ext uri="{FF2B5EF4-FFF2-40B4-BE49-F238E27FC236}">
                <a16:creationId xmlns:a16="http://schemas.microsoft.com/office/drawing/2014/main" id="{71215094-706D-4623-8DCD-94BB5B7A5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43675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 u="none" strike="noStrike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27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5" name="text-2">
            <a:extLst xmlns:a="http://schemas.openxmlformats.org/drawingml/2006/main">
              <a:ext uri="{FF2B5EF4-FFF2-40B4-BE49-F238E27FC236}">
                <a16:creationId xmlns:a16="http://schemas.microsoft.com/office/drawing/2014/main" id="{4E7E5F41-AABC-4682-B343-C3FFC3F6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641" y="6553105"/>
            <a:ext cx="5714619" cy="209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 u="none" strike="noStrike">
                <a:solidFill>
                  <a:srgbClr val="64748B"/>
                </a:solidFill>
                <a:latin typeface="Arial"/>
                <a:ea typeface="Arial"/>
                <a:cs typeface="Arial"/>
              </a:rPr>
              <a:t>Report pp. 16-17</a:t>
            </a:r>
            <a:endParaRPr sz="1050"/>
          </a:p>
        </p:txBody>
      </p:sp>
      <p:sp>
        <p:nvSpPr>
          <p:cNvPr id="236" name="text-3">
            <a:extLst xmlns:a="http://schemas.openxmlformats.org/drawingml/2006/main">
              <a:ext uri="{FF2B5EF4-FFF2-40B4-BE49-F238E27FC236}">
                <a16:creationId xmlns:a16="http://schemas.microsoft.com/office/drawing/2014/main" id="{ABCA75D2-EA12-4B2F-B8FE-1F1BC6D11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220" y="1571720"/>
            <a:ext cx="1085831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9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9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9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9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9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9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9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9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9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9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 u="none" strike="noStrike">
                <a:solidFill>
                  <a:srgbClr val="23344F"/>
                </a:solidFill>
                <a:latin typeface="Arial"/>
                <a:ea typeface="Arial"/>
                <a:cs typeface="Arial"/>
              </a:rPr>
              <a:t>Main dataset: Irfan et al. (2024), anonymised HRI CUES dataset</a:t>
            </a:r>
            <a:endParaRPr sz="1950"/>
          </a:p>
          <a:p xmlns:a="http://schemas.openxmlformats.org/drawingml/2006/main">
            <a:pPr>
              <a:lnSpc>
                <a:spcPct val="100000"/>
              </a:lnSpc>
              <a:buNone/>
              <a:defRPr sz="19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 u="none" strike="noStrike">
                <a:solidFill>
                  <a:srgbClr val="23344F"/>
                </a:solidFill>
                <a:latin typeface="Arial"/>
                <a:ea typeface="Arial"/>
                <a:cs typeface="Arial"/>
              </a:rPr>
              <a:t>https://doi.org/10.5281/zenodo.12588810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9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 u="none" strike="noStrike">
                <a:solidFill>
                  <a:srgbClr val="23344F"/>
                </a:solidFill>
                <a:latin typeface="Arial"/>
                <a:ea typeface="Arial"/>
                <a:cs typeface="Arial"/>
              </a:rPr>
              <a:t>Scale paper: Irfan et al. (2026), HRI CUES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9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 u="none" strike="noStrike">
                <a:solidFill>
                  <a:srgbClr val="23344F"/>
                </a:solidFill>
                <a:latin typeface="Arial"/>
                <a:ea typeface="Arial"/>
                <a:cs typeface="Arial"/>
              </a:rPr>
              <a:t>https://doi.org/10.1109/TAFFC.2025.3590359</a:t>
            </a:r>
          </a:p>
        </p:txBody>
      </p:sp>
      <p:sp>
        <p:nvSpPr>
          <p:cNvPr id="237" name="text-4">
            <a:extLst xmlns:a="http://schemas.openxmlformats.org/drawingml/2006/main">
              <a:ext uri="{FF2B5EF4-FFF2-40B4-BE49-F238E27FC236}">
                <a16:creationId xmlns:a16="http://schemas.microsoft.com/office/drawing/2014/main" id="{5D676FC0-F255-434D-9781-426F36E1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220" y="3143155"/>
            <a:ext cx="10858310" cy="2476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8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0" b="0" u="none" strike="noStrike">
                <a:solidFill>
                  <a:srgbClr val="23344F"/>
                </a:solidFill>
                <a:latin typeface="Arial"/>
                <a:ea typeface="Arial"/>
                <a:cs typeface="Arial"/>
              </a:rPr>
              <a:t>Supplementary sources</a:t>
            </a:r>
            <a:endParaRPr sz="1870"/>
          </a:p>
          <a:p xmlns:a="http://schemas.openxmlformats.org/drawingml/2006/main">
            <a:pPr>
              <a:lnSpc>
                <a:spcPct val="100000"/>
              </a:lnSpc>
              <a:buNone/>
              <a:defRPr sz="18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0" b="0" u="none" strike="noStrike">
                <a:solidFill>
                  <a:srgbClr val="23344F"/>
                </a:solidFill>
                <a:latin typeface="Arial"/>
                <a:ea typeface="Arial"/>
                <a:cs typeface="Arial"/>
              </a:rPr>
              <a:t>Census and Statistics Department (2023), population projections</a:t>
            </a:r>
            <a:endParaRPr sz="1870"/>
          </a:p>
          <a:p xmlns:a="http://schemas.openxmlformats.org/drawingml/2006/main">
            <a:pPr>
              <a:lnSpc>
                <a:spcPct val="100000"/>
              </a:lnSpc>
              <a:buNone/>
              <a:defRPr sz="18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0" b="0" u="none" strike="noStrike">
                <a:solidFill>
                  <a:srgbClr val="23344F"/>
                </a:solidFill>
                <a:latin typeface="Arial"/>
                <a:ea typeface="Arial"/>
                <a:cs typeface="Arial"/>
              </a:rPr>
              <a:t>Intuition Robotics (2026), ElliQ programme report</a:t>
            </a:r>
            <a:endParaRPr sz="1870"/>
          </a:p>
          <a:p xmlns:a="http://schemas.openxmlformats.org/drawingml/2006/main">
            <a:pPr>
              <a:lnSpc>
                <a:spcPct val="100000"/>
              </a:lnSpc>
              <a:buNone/>
              <a:defRPr sz="18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0" b="0" u="none" strike="noStrike">
                <a:solidFill>
                  <a:srgbClr val="23344F"/>
                </a:solidFill>
                <a:latin typeface="Arial"/>
                <a:ea typeface="Arial"/>
                <a:cs typeface="Arial"/>
              </a:rPr>
              <a:t>Lim (2023), PIO; Chen et al. (2024), PARO</a:t>
            </a:r>
            <a:endParaRPr sz="1870"/>
          </a:p>
          <a:p xmlns:a="http://schemas.openxmlformats.org/drawingml/2006/main">
            <a:pPr>
              <a:lnSpc>
                <a:spcPct val="100000"/>
              </a:lnSpc>
              <a:buNone/>
              <a:defRPr sz="18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0" b="0" u="none" strike="noStrike">
                <a:solidFill>
                  <a:srgbClr val="23344F"/>
                </a:solidFill>
                <a:latin typeface="Arial"/>
                <a:ea typeface="Arial"/>
                <a:cs typeface="Arial"/>
              </a:rPr>
              <a:t>Lee et al. (2024), Hyodol; Bajones et al. (2018), Hobbit</a:t>
            </a:r>
            <a:endParaRPr sz="1870"/>
          </a:p>
          <a:p xmlns:a="http://schemas.openxmlformats.org/drawingml/2006/main">
            <a:pPr>
              <a:lnSpc>
                <a:spcPct val="100000"/>
              </a:lnSpc>
              <a:buNone/>
              <a:defRPr sz="187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0" b="0" u="none" strike="noStrike">
                <a:solidFill>
                  <a:srgbClr val="23344F"/>
                </a:solidFill>
                <a:latin typeface="Arial"/>
                <a:ea typeface="Arial"/>
                <a:cs typeface="Arial"/>
              </a:rPr>
              <a:t>FBI (2024), 2023 Elder Fraud Report</a:t>
            </a:r>
            <a:endParaRPr sz="1870"/>
          </a:p>
        </p:txBody>
      </p:sp>
      <p:sp>
        <p:nvSpPr>
          <p:cNvPr id="238" name="text-5">
            <a:extLst xmlns:a="http://schemas.openxmlformats.org/drawingml/2006/main">
              <a:ext uri="{FF2B5EF4-FFF2-40B4-BE49-F238E27FC236}">
                <a16:creationId xmlns:a16="http://schemas.microsoft.com/office/drawing/2014/main" id="{24089A1E-B264-4475-9D97-568AFAE91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220" y="5952935"/>
            <a:ext cx="10858310" cy="3805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58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58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58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58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58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58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58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58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58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58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58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80" b="0" u="none" strike="noStrike">
                <a:solidFill>
                  <a:srgbClr val="23344F"/>
                </a:solidFill>
                <a:latin typeface="Arial"/>
                <a:ea typeface="Arial"/>
                <a:cs typeface="Arial"/>
              </a:rPr>
              <a:t>Full references: Report pp. 16-17 and the source documentation.</a:t>
            </a:r>
            <a:endParaRPr sz="1580"/>
          </a:p>
        </p:txBody>
      </p:sp>
    </p:spTree>
    <p:extLst>
      <p:ext uri="{BB962C8B-B14F-4D97-AF65-F5344CB8AC3E}">
        <p14:creationId xmlns:p14="http://schemas.microsoft.com/office/powerpoint/2010/main" val="84498176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9" name="Slide28_Object239">
            <a:extLst xmlns:a="http://schemas.openxmlformats.org/drawingml/2006/main">
              <a:ext uri="{FF2B5EF4-FFF2-40B4-BE49-F238E27FC236}">
                <a16:creationId xmlns:a16="http://schemas.microsoft.com/office/drawing/2014/main" id="{DD8E65FE-E4DF-420E-84B8-D875B50D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"/>
            <a:ext cx="11087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5365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3000" b="1">
                <a:solidFill>
                  <a:srgbClr val="15365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 u="none" strike="noStrike">
                <a:solidFill>
                  <a:srgbClr val="15365C"/>
                </a:solidFill>
                <a:latin typeface="Arial"/>
                <a:ea typeface="Arial"/>
                <a:cs typeface="Arial"/>
              </a:rPr>
              <a:t>Product illustrations and price context</a:t>
            </a:r>
            <a:endParaRPr sz="3000"/>
          </a:p>
        </p:txBody>
      </p:sp>
      <p:sp>
        <p:nvSpPr>
          <p:cNvPr id="240" name="Slide28_Object240">
            <a:extLst xmlns:a="http://schemas.openxmlformats.org/drawingml/2006/main">
              <a:ext uri="{FF2B5EF4-FFF2-40B4-BE49-F238E27FC236}">
                <a16:creationId xmlns:a16="http://schemas.microsoft.com/office/drawing/2014/main" id="{6F859216-F938-43E1-B90E-470B51F6C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641" y="1104805"/>
            <a:ext cx="11048714" cy="4568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02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02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02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02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02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02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02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02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02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02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202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0" b="0" u="none" strike="noStrike">
                <a:solidFill>
                  <a:srgbClr val="23344F"/>
                </a:solidFill>
                <a:latin typeface="Arial"/>
                <a:ea typeface="Arial"/>
                <a:cs typeface="Arial"/>
              </a:rPr>
              <a:t>Product forms and uses provide context for the analysis</a:t>
            </a:r>
            <a:endParaRPr sz="2020"/>
          </a:p>
        </p:txBody>
      </p:sp>
      <p:pic>
        <p:nvPicPr>
          <p:cNvPr id="241" name="Slide28_Object241">
            <a:extLst xmlns:a="http://schemas.openxmlformats.org/drawingml/2006/main">
              <a:ext uri="{FF2B5EF4-FFF2-40B4-BE49-F238E27FC236}">
                <a16:creationId xmlns:a16="http://schemas.microsoft.com/office/drawing/2014/main" id="{6DDCB312-458A-4FAE-90ED-DA5EAC1659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b08563f42e4a27"/>
          <a:stretch xmlns:a="http://schemas.openxmlformats.org/drawingml/2006/main"/>
        </p:blipFill>
        <p:spPr>
          <a:xfrm xmlns:a="http://schemas.openxmlformats.org/drawingml/2006/main">
            <a:off x="552600" y="1703160"/>
            <a:ext cx="3428640" cy="19274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242" name="Slide28_Object242">
            <a:extLst xmlns:a="http://schemas.openxmlformats.org/drawingml/2006/main">
              <a:ext uri="{FF2B5EF4-FFF2-40B4-BE49-F238E27FC236}">
                <a16:creationId xmlns:a16="http://schemas.microsoft.com/office/drawing/2014/main" id="{35B2E101-89A0-4E9B-BE34-6BDED4EBC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641" y="3809905"/>
            <a:ext cx="3428619" cy="4377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4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4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4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4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4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4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4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4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4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4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24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 u="none" strike="noStrike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rPr>
              <a:t>ElliQ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3" name="Slide28_Object243">
            <a:extLst xmlns:a="http://schemas.openxmlformats.org/drawingml/2006/main">
              <a:ext uri="{FF2B5EF4-FFF2-40B4-BE49-F238E27FC236}">
                <a16:creationId xmlns:a16="http://schemas.microsoft.com/office/drawing/2014/main" id="{622BB3FB-0D8D-48FA-9413-1D45123E8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641" y="4286155"/>
            <a:ext cx="3428619" cy="3805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9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9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9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9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9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9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9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9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9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9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9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 u="none" strike="noStrike">
                <a:solidFill>
                  <a:srgbClr val="23344F"/>
                </a:solidFill>
                <a:latin typeface="Arial"/>
                <a:ea typeface="Arial"/>
                <a:cs typeface="Arial"/>
              </a:rPr>
              <a:t>Desktop device and tablet</a:t>
            </a:r>
            <a:endParaRPr sz="1950"/>
          </a:p>
        </p:txBody>
      </p:sp>
      <p:sp>
        <p:nvSpPr>
          <p:cNvPr id="244" name="Slide28_Object244">
            <a:extLst xmlns:a="http://schemas.openxmlformats.org/drawingml/2006/main">
              <a:ext uri="{FF2B5EF4-FFF2-40B4-BE49-F238E27FC236}">
                <a16:creationId xmlns:a16="http://schemas.microsoft.com/office/drawing/2014/main" id="{000ACA69-0BDE-4D07-B208-4B9AD7B0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641" y="4714875"/>
            <a:ext cx="3428619" cy="6188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9" b="0" u="none" strike="noStrike">
                <a:solidFill>
                  <a:srgbClr val="23344F"/>
                </a:solidFill>
                <a:latin typeface="Arial"/>
                <a:ea typeface="Arial"/>
                <a:cs typeface="Arial"/>
              </a:rPr>
              <a:t>Conversation and everyday activities.</a:t>
            </a:r>
            <a:endParaRPr sz="1729"/>
          </a:p>
        </p:txBody>
      </p:sp>
      <p:sp>
        <p:nvSpPr>
          <p:cNvPr id="245" name="Slide28_Object245">
            <a:extLst xmlns:a="http://schemas.openxmlformats.org/drawingml/2006/main">
              <a:ext uri="{FF2B5EF4-FFF2-40B4-BE49-F238E27FC236}">
                <a16:creationId xmlns:a16="http://schemas.microsoft.com/office/drawing/2014/main" id="{72DE6FA4-70E8-49EE-B757-7FDB6E42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641" y="5390960"/>
            <a:ext cx="3428619" cy="6188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9" b="0" u="none" strike="noStrike">
                <a:solidFill>
                  <a:srgbClr val="23344F"/>
                </a:solidFill>
                <a:latin typeface="Arial"/>
                <a:ea typeface="Arial"/>
                <a:cs typeface="Arial"/>
              </a:rPr>
              <a:t>Recorded US annual fee: USD 588</a:t>
            </a:r>
            <a:endParaRPr sz="1579"/>
          </a:p>
          <a:p xmlns:a="http://schemas.openxmlformats.org/drawingml/2006/main">
            <a:pPr>
              <a:lnSpc>
                <a:spcPct val="100000"/>
              </a:lnSpc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9" b="0" u="none" strike="noStrike">
                <a:solidFill>
                  <a:srgbClr val="23344F"/>
                </a:solidFill>
                <a:latin typeface="Arial"/>
                <a:ea typeface="Arial"/>
                <a:cs typeface="Arial"/>
              </a:rPr>
              <a:t>Plus USD 249 rental initiation fee</a:t>
            </a:r>
            <a:endParaRPr sz="1579"/>
          </a:p>
        </p:txBody>
      </p:sp>
      <p:sp>
        <p:nvSpPr>
          <p:cNvPr id="246" name="Slide28_Object246">
            <a:extLst xmlns:a="http://schemas.openxmlformats.org/drawingml/2006/main">
              <a:ext uri="{FF2B5EF4-FFF2-40B4-BE49-F238E27FC236}">
                <a16:creationId xmlns:a16="http://schemas.microsoft.com/office/drawing/2014/main" id="{F6655C27-2088-47A2-9528-6E3E13F0E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641" y="6019895"/>
            <a:ext cx="3428619" cy="285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5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5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5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5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5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5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5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5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5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5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5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 u="none" strike="noStrike">
                <a:solidFill>
                  <a:srgbClr val="23344F"/>
                </a:solidFill>
                <a:latin typeface="Arial"/>
                <a:ea typeface="Arial"/>
                <a:cs typeface="Arial"/>
              </a:rPr>
              <a:t>Related analysis: Figures 8 and 9</a:t>
            </a:r>
            <a:endParaRPr sz="1500"/>
          </a:p>
        </p:txBody>
      </p:sp>
      <p:pic>
        <p:nvPicPr>
          <p:cNvPr id="247" name="Slide28_Object247">
            <a:extLst xmlns:a="http://schemas.openxmlformats.org/drawingml/2006/main">
              <a:ext uri="{FF2B5EF4-FFF2-40B4-BE49-F238E27FC236}">
                <a16:creationId xmlns:a16="http://schemas.microsoft.com/office/drawing/2014/main" id="{96F32565-0953-4918-AF61-DAA2734378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2a656323524ce0"/>
          <a:stretch xmlns:a="http://schemas.openxmlformats.org/drawingml/2006/main"/>
        </p:blipFill>
        <p:spPr>
          <a:xfrm xmlns:a="http://schemas.openxmlformats.org/drawingml/2006/main">
            <a:off x="4557600" y="1666800"/>
            <a:ext cx="3076560" cy="19998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248" name="Slide28_Object248">
            <a:extLst xmlns:a="http://schemas.openxmlformats.org/drawingml/2006/main">
              <a:ext uri="{FF2B5EF4-FFF2-40B4-BE49-F238E27FC236}">
                <a16:creationId xmlns:a16="http://schemas.microsoft.com/office/drawing/2014/main" id="{899C8C0F-406C-4C54-8E27-872CAD4A0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95" y="3809905"/>
            <a:ext cx="3428619" cy="4377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4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4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4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4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4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4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4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4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4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4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24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 u="none" strike="noStrike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rPr>
              <a:t>PIO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9" name="Slide28_Object249">
            <a:extLst xmlns:a="http://schemas.openxmlformats.org/drawingml/2006/main">
              <a:ext uri="{FF2B5EF4-FFF2-40B4-BE49-F238E27FC236}">
                <a16:creationId xmlns:a16="http://schemas.microsoft.com/office/drawing/2014/main" id="{310A9715-5D8B-4275-A861-C4FF26C8A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95" y="4286155"/>
            <a:ext cx="3428619" cy="3805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9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9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9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9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9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9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9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9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9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9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9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 u="none" strike="noStrike">
                <a:solidFill>
                  <a:srgbClr val="23344F"/>
                </a:solidFill>
                <a:latin typeface="Arial"/>
                <a:ea typeface="Arial"/>
                <a:cs typeface="Arial"/>
              </a:rPr>
              <a:t>Parrot shaped robot</a:t>
            </a:r>
            <a:endParaRPr sz="1950"/>
          </a:p>
        </p:txBody>
      </p:sp>
      <p:sp>
        <p:nvSpPr>
          <p:cNvPr id="250" name="Slide28_Object250">
            <a:extLst xmlns:a="http://schemas.openxmlformats.org/drawingml/2006/main">
              <a:ext uri="{FF2B5EF4-FFF2-40B4-BE49-F238E27FC236}">
                <a16:creationId xmlns:a16="http://schemas.microsoft.com/office/drawing/2014/main" id="{726B11C0-B83C-41E3-AD53-97CD233A2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95" y="4714875"/>
            <a:ext cx="3428619" cy="6188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9" b="0" u="none" strike="noStrike">
                <a:solidFill>
                  <a:srgbClr val="23344F"/>
                </a:solidFill>
                <a:latin typeface="Arial"/>
                <a:ea typeface="Arial"/>
                <a:cs typeface="Arial"/>
              </a:rPr>
              <a:t>Staff-led cognitive and social activities.</a:t>
            </a:r>
            <a:endParaRPr sz="1729"/>
          </a:p>
        </p:txBody>
      </p:sp>
      <p:sp>
        <p:nvSpPr>
          <p:cNvPr id="251" name="Slide28_Object251">
            <a:extLst xmlns:a="http://schemas.openxmlformats.org/drawingml/2006/main">
              <a:ext uri="{FF2B5EF4-FFF2-40B4-BE49-F238E27FC236}">
                <a16:creationId xmlns:a16="http://schemas.microsoft.com/office/drawing/2014/main" id="{FB1A3BF8-DDB7-4843-BC27-D152E1098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95" y="5390960"/>
            <a:ext cx="3428619" cy="6188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9" b="0" u="none" strike="noStrike">
                <a:solidFill>
                  <a:srgbClr val="23344F"/>
                </a:solidFill>
                <a:latin typeface="Arial"/>
                <a:ea typeface="Arial"/>
                <a:cs typeface="Arial"/>
              </a:rPr>
              <a:t>Current retail price unverified</a:t>
            </a:r>
            <a:endParaRPr sz="1729"/>
          </a:p>
          <a:p xmlns:a="http://schemas.openxmlformats.org/drawingml/2006/main">
            <a:pPr>
              <a:lnSpc>
                <a:spcPct val="100000"/>
              </a:lnSpc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9" b="0" u="none" strike="noStrike">
                <a:solidFill>
                  <a:srgbClr val="23344F"/>
                </a:solidFill>
                <a:latin typeface="Arial"/>
                <a:ea typeface="Arial"/>
                <a:cs typeface="Arial"/>
              </a:rPr>
              <a:t>Supplier quotation required</a:t>
            </a:r>
            <a:endParaRPr sz="1729"/>
          </a:p>
        </p:txBody>
      </p:sp>
      <p:sp>
        <p:nvSpPr>
          <p:cNvPr id="252" name="Slide28_Object252">
            <a:extLst xmlns:a="http://schemas.openxmlformats.org/drawingml/2006/main">
              <a:ext uri="{FF2B5EF4-FFF2-40B4-BE49-F238E27FC236}">
                <a16:creationId xmlns:a16="http://schemas.microsoft.com/office/drawing/2014/main" id="{D6E8B593-C7AF-47AC-9B41-135D7469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95" y="6019895"/>
            <a:ext cx="3428619" cy="285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5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5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5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5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5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5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5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5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5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5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5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 u="none" strike="noStrike">
                <a:solidFill>
                  <a:srgbClr val="23344F"/>
                </a:solidFill>
                <a:latin typeface="Arial"/>
                <a:ea typeface="Arial"/>
                <a:cs typeface="Arial"/>
              </a:rPr>
              <a:t>Related analysis: Figures 10 and 11</a:t>
            </a:r>
            <a:endParaRPr sz="1500"/>
          </a:p>
        </p:txBody>
      </p:sp>
      <p:pic>
        <p:nvPicPr>
          <p:cNvPr id="253" name="Slide28_Object253">
            <a:extLst xmlns:a="http://schemas.openxmlformats.org/drawingml/2006/main">
              <a:ext uri="{FF2B5EF4-FFF2-40B4-BE49-F238E27FC236}">
                <a16:creationId xmlns:a16="http://schemas.microsoft.com/office/drawing/2014/main" id="{ED442B28-4B2A-4D74-9FC8-1EA2465DDD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c1d9c6c422447d"/>
          <a:stretch xmlns:a="http://schemas.openxmlformats.org/drawingml/2006/main"/>
        </p:blipFill>
        <p:spPr>
          <a:xfrm xmlns:a="http://schemas.openxmlformats.org/drawingml/2006/main">
            <a:off x="8591400" y="1666800"/>
            <a:ext cx="2666520" cy="19998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254" name="Slide28_Object254">
            <a:extLst xmlns:a="http://schemas.openxmlformats.org/drawingml/2006/main">
              <a:ext uri="{FF2B5EF4-FFF2-40B4-BE49-F238E27FC236}">
                <a16:creationId xmlns:a16="http://schemas.microsoft.com/office/drawing/2014/main" id="{ECA7E7B5-016F-47B5-94D2-81B1A36B0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09905"/>
            <a:ext cx="3428619" cy="4377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4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4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4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4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4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4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4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4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4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4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24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 u="none" strike="noStrike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rPr>
              <a:t>PARO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5" name="Slide28_Object255">
            <a:extLst xmlns:a="http://schemas.openxmlformats.org/drawingml/2006/main">
              <a:ext uri="{FF2B5EF4-FFF2-40B4-BE49-F238E27FC236}">
                <a16:creationId xmlns:a16="http://schemas.microsoft.com/office/drawing/2014/main" id="{08E9A0B6-B4B2-4AAC-BD56-11BFCEDA8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286155"/>
            <a:ext cx="3428619" cy="3805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9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9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9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9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9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9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9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9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9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9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9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 u="none" strike="noStrike">
                <a:solidFill>
                  <a:srgbClr val="23344F"/>
                </a:solidFill>
                <a:latin typeface="Arial"/>
                <a:ea typeface="Arial"/>
                <a:cs typeface="Arial"/>
              </a:rPr>
              <a:t>Seal shaped robot</a:t>
            </a:r>
            <a:endParaRPr sz="1950"/>
          </a:p>
        </p:txBody>
      </p:sp>
      <p:sp>
        <p:nvSpPr>
          <p:cNvPr id="256" name="Slide28_Object256">
            <a:extLst xmlns:a="http://schemas.openxmlformats.org/drawingml/2006/main">
              <a:ext uri="{FF2B5EF4-FFF2-40B4-BE49-F238E27FC236}">
                <a16:creationId xmlns:a16="http://schemas.microsoft.com/office/drawing/2014/main" id="{154936F2-4368-40AF-B3F7-1D4AD66D3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714875"/>
            <a:ext cx="3428619" cy="6188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9" b="0" u="none" strike="noStrike">
                <a:solidFill>
                  <a:srgbClr val="23344F"/>
                </a:solidFill>
                <a:latin typeface="Arial"/>
                <a:ea typeface="Arial"/>
                <a:cs typeface="Arial"/>
              </a:rPr>
              <a:t>Group interaction and companionship.</a:t>
            </a:r>
            <a:endParaRPr sz="1729"/>
          </a:p>
        </p:txBody>
      </p:sp>
      <p:sp>
        <p:nvSpPr>
          <p:cNvPr id="257" name="Slide28_Object257">
            <a:extLst xmlns:a="http://schemas.openxmlformats.org/drawingml/2006/main">
              <a:ext uri="{FF2B5EF4-FFF2-40B4-BE49-F238E27FC236}">
                <a16:creationId xmlns:a16="http://schemas.microsoft.com/office/drawing/2014/main" id="{3C975777-C34F-4C96-A131-11D4F3CA1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390960"/>
            <a:ext cx="3428619" cy="6188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79" b="0" u="none" strike="noStrike">
                <a:solidFill>
                  <a:srgbClr val="23344F"/>
                </a:solidFill>
                <a:latin typeface="Arial"/>
                <a:ea typeface="Arial"/>
                <a:cs typeface="Arial"/>
              </a:rPr>
              <a:t>Historical reference: USD 6,000</a:t>
            </a:r>
            <a:endParaRPr sz="1679"/>
          </a:p>
          <a:p xmlns:a="http://schemas.openxmlformats.org/drawingml/2006/main">
            <a:pPr>
              <a:lnSpc>
                <a:spcPct val="100000"/>
              </a:lnSpc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79" b="0" u="none" strike="noStrike">
                <a:solidFill>
                  <a:srgbClr val="23344F"/>
                </a:solidFill>
                <a:latin typeface="Arial"/>
                <a:ea typeface="Arial"/>
                <a:cs typeface="Arial"/>
              </a:rPr>
              <a:t>US launch price in 2009</a:t>
            </a:r>
            <a:endParaRPr sz="1679"/>
          </a:p>
        </p:txBody>
      </p:sp>
      <p:sp>
        <p:nvSpPr>
          <p:cNvPr id="258" name="Slide28_Object258">
            <a:extLst xmlns:a="http://schemas.openxmlformats.org/drawingml/2006/main">
              <a:ext uri="{FF2B5EF4-FFF2-40B4-BE49-F238E27FC236}">
                <a16:creationId xmlns:a16="http://schemas.microsoft.com/office/drawing/2014/main" id="{DF1384CE-F9F6-4723-A6E8-B83F0AB24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6019895"/>
            <a:ext cx="3428619" cy="285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5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5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5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5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5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5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5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5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5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5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5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 u="none" strike="noStrike">
                <a:solidFill>
                  <a:srgbClr val="23344F"/>
                </a:solidFill>
                <a:latin typeface="Arial"/>
                <a:ea typeface="Arial"/>
                <a:cs typeface="Arial"/>
              </a:rPr>
              <a:t>Related analysis: Figure 12</a:t>
            </a:r>
            <a:endParaRPr sz="1500"/>
          </a:p>
        </p:txBody>
      </p:sp>
      <p:sp>
        <p:nvSpPr>
          <p:cNvPr id="259" name="Slide28_Object259">
            <a:extLst xmlns:a="http://schemas.openxmlformats.org/drawingml/2006/main">
              <a:ext uri="{FF2B5EF4-FFF2-40B4-BE49-F238E27FC236}">
                <a16:creationId xmlns:a16="http://schemas.microsoft.com/office/drawing/2014/main" id="{89EA0DFA-6596-46FA-AD8F-9ED089B92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641" y="6477095"/>
            <a:ext cx="10667524" cy="2375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 u="none" strike="noStrike">
                <a:solidFill>
                  <a:srgbClr val="64748B"/>
                </a:solidFill>
                <a:latin typeface="Arial"/>
                <a:ea typeface="Arial"/>
                <a:cs typeface="Arial"/>
              </a:rPr>
              <a:t>Price context recorded on 15 October 2026. Original currencies. Rental fees, historical prices and targets differ.</a:t>
            </a:r>
            <a:endParaRPr sz="1050"/>
          </a:p>
        </p:txBody>
      </p:sp>
      <p:sp>
        <p:nvSpPr>
          <p:cNvPr id="260" name="Slide28_Object260">
            <a:extLst xmlns:a="http://schemas.openxmlformats.org/drawingml/2006/main">
              <a:ext uri="{FF2B5EF4-FFF2-40B4-BE49-F238E27FC236}">
                <a16:creationId xmlns:a16="http://schemas.microsoft.com/office/drawing/2014/main" id="{E01C9455-00F7-4B68-8420-5B58B2686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43675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 u="none" strike="noStrike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28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4263408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1" name="Slide29_Object261">
            <a:extLst xmlns:a="http://schemas.openxmlformats.org/drawingml/2006/main">
              <a:ext uri="{FF2B5EF4-FFF2-40B4-BE49-F238E27FC236}">
                <a16:creationId xmlns:a16="http://schemas.microsoft.com/office/drawing/2014/main" id="{A1E14223-92AD-4B16-9D4B-061000C62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"/>
            <a:ext cx="11087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5365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3150" b="1">
                <a:solidFill>
                  <a:srgbClr val="276F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3000" b="1">
                <a:solidFill>
                  <a:srgbClr val="15365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 u="none" strike="noStrike">
                <a:solidFill>
                  <a:srgbClr val="15365C"/>
                </a:solidFill>
                <a:latin typeface="Arial"/>
                <a:ea typeface="Arial"/>
                <a:cs typeface="Arial"/>
              </a:rPr>
              <a:t>Retention and home support products</a:t>
            </a:r>
            <a:endParaRPr sz="3000"/>
          </a:p>
        </p:txBody>
      </p:sp>
      <p:sp>
        <p:nvSpPr>
          <p:cNvPr id="262" name="Slide29_Object262">
            <a:extLst xmlns:a="http://schemas.openxmlformats.org/drawingml/2006/main">
              <a:ext uri="{FF2B5EF4-FFF2-40B4-BE49-F238E27FC236}">
                <a16:creationId xmlns:a16="http://schemas.microsoft.com/office/drawing/2014/main" id="{572BA3AF-4FD8-47B5-9F46-096F21AD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641" y="1104805"/>
            <a:ext cx="11048714" cy="4568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02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02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02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02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02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02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02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02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02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02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202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0" b="0" u="none" strike="noStrike">
                <a:solidFill>
                  <a:srgbClr val="23344F"/>
                </a:solidFill>
                <a:latin typeface="Arial"/>
                <a:ea typeface="Arial"/>
                <a:cs typeface="Arial"/>
              </a:rPr>
              <a:t>Continued-use experience and home functions supplement the interaction analysis</a:t>
            </a:r>
            <a:endParaRPr sz="2020"/>
          </a:p>
        </p:txBody>
      </p:sp>
      <p:pic>
        <p:nvPicPr>
          <p:cNvPr id="263" name="Slide29_Object263">
            <a:extLst xmlns:a="http://schemas.openxmlformats.org/drawingml/2006/main">
              <a:ext uri="{FF2B5EF4-FFF2-40B4-BE49-F238E27FC236}">
                <a16:creationId xmlns:a16="http://schemas.microsoft.com/office/drawing/2014/main" id="{AE3DCF42-5FD3-47AC-9185-C57B48348D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1f857efd134316"/>
          <a:stretch xmlns:a="http://schemas.openxmlformats.org/drawingml/2006/main"/>
        </p:blipFill>
        <p:spPr>
          <a:xfrm xmlns:a="http://schemas.openxmlformats.org/drawingml/2006/main">
            <a:off x="1940040" y="1666800"/>
            <a:ext cx="3168360" cy="19998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264" name="Slide29_Object264">
            <a:extLst xmlns:a="http://schemas.openxmlformats.org/drawingml/2006/main">
              <a:ext uri="{FF2B5EF4-FFF2-40B4-BE49-F238E27FC236}">
                <a16:creationId xmlns:a16="http://schemas.microsoft.com/office/drawing/2014/main" id="{10234771-8B39-481C-9EC4-2F70E71B4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3905" y="3809905"/>
            <a:ext cx="4000310" cy="4377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4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4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4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4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4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4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4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4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4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4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24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 u="none" strike="noStrike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rPr>
              <a:t>Hyodol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5" name="Slide29_Object265">
            <a:extLst xmlns:a="http://schemas.openxmlformats.org/drawingml/2006/main">
              <a:ext uri="{FF2B5EF4-FFF2-40B4-BE49-F238E27FC236}">
                <a16:creationId xmlns:a16="http://schemas.microsoft.com/office/drawing/2014/main" id="{05C1334A-69C6-4737-B0FD-CDC5BD5B7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3905" y="4286155"/>
            <a:ext cx="4000310" cy="3805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9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9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9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9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9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9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9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9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9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9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9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 u="none" strike="noStrike">
                <a:solidFill>
                  <a:srgbClr val="23344F"/>
                </a:solidFill>
                <a:latin typeface="Arial"/>
                <a:ea typeface="Arial"/>
                <a:cs typeface="Arial"/>
              </a:rPr>
              <a:t>Doll shaped companion robot</a:t>
            </a:r>
            <a:endParaRPr sz="1950"/>
          </a:p>
        </p:txBody>
      </p:sp>
      <p:sp>
        <p:nvSpPr>
          <p:cNvPr id="266" name="Slide29_Object266">
            <a:extLst xmlns:a="http://schemas.openxmlformats.org/drawingml/2006/main">
              <a:ext uri="{FF2B5EF4-FFF2-40B4-BE49-F238E27FC236}">
                <a16:creationId xmlns:a16="http://schemas.microsoft.com/office/drawing/2014/main" id="{C470C4E8-A927-4CBF-9D8F-9D8EFC028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3905" y="4714875"/>
            <a:ext cx="4000310" cy="6188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9" b="0" u="none" strike="noStrike">
                <a:solidFill>
                  <a:srgbClr val="23344F"/>
                </a:solidFill>
                <a:latin typeface="Arial"/>
                <a:ea typeface="Arial"/>
                <a:cs typeface="Arial"/>
              </a:rPr>
              <a:t>Home companionship, studied through retention and return.</a:t>
            </a:r>
            <a:endParaRPr sz="1729"/>
          </a:p>
        </p:txBody>
      </p:sp>
      <p:sp>
        <p:nvSpPr>
          <p:cNvPr id="267" name="Slide29_Object267">
            <a:extLst xmlns:a="http://schemas.openxmlformats.org/drawingml/2006/main">
              <a:ext uri="{FF2B5EF4-FFF2-40B4-BE49-F238E27FC236}">
                <a16:creationId xmlns:a16="http://schemas.microsoft.com/office/drawing/2014/main" id="{7EB657DB-B0EF-42AE-ADB0-672A7E7A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3905" y="5390960"/>
            <a:ext cx="4000310" cy="6188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9" b="0" u="none" strike="noStrike">
                <a:solidFill>
                  <a:srgbClr val="23344F"/>
                </a:solidFill>
                <a:latin typeface="Arial"/>
                <a:ea typeface="Arial"/>
                <a:cs typeface="Arial"/>
              </a:rPr>
              <a:t>Current retail price unverified</a:t>
            </a:r>
            <a:endParaRPr sz="1729"/>
          </a:p>
          <a:p xmlns:a="http://schemas.openxmlformats.org/drawingml/2006/main">
            <a:pPr>
              <a:lnSpc>
                <a:spcPct val="100000"/>
              </a:lnSpc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9" b="0" u="none" strike="noStrike">
                <a:solidFill>
                  <a:srgbClr val="23344F"/>
                </a:solidFill>
                <a:latin typeface="Arial"/>
                <a:ea typeface="Arial"/>
                <a:cs typeface="Arial"/>
              </a:rPr>
              <a:t>Supplier quotation required</a:t>
            </a:r>
            <a:endParaRPr sz="1729"/>
          </a:p>
        </p:txBody>
      </p:sp>
      <p:sp>
        <p:nvSpPr>
          <p:cNvPr id="268" name="Slide29_Object268">
            <a:extLst xmlns:a="http://schemas.openxmlformats.org/drawingml/2006/main">
              <a:ext uri="{FF2B5EF4-FFF2-40B4-BE49-F238E27FC236}">
                <a16:creationId xmlns:a16="http://schemas.microsoft.com/office/drawing/2014/main" id="{5009AB1D-EA8A-4074-A4A8-19803E82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3905" y="6019895"/>
            <a:ext cx="4000310" cy="285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5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5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5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5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5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5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5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5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5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5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5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 u="none" strike="noStrike">
                <a:solidFill>
                  <a:srgbClr val="23344F"/>
                </a:solidFill>
                <a:latin typeface="Arial"/>
                <a:ea typeface="Arial"/>
                <a:cs typeface="Arial"/>
              </a:rPr>
              <a:t>Related analysis: Figures 13 and 14</a:t>
            </a:r>
            <a:endParaRPr sz="1500"/>
          </a:p>
        </p:txBody>
      </p:sp>
      <p:pic>
        <p:nvPicPr>
          <p:cNvPr id="269" name="Slide29_Object269">
            <a:extLst xmlns:a="http://schemas.openxmlformats.org/drawingml/2006/main">
              <a:ext uri="{FF2B5EF4-FFF2-40B4-BE49-F238E27FC236}">
                <a16:creationId xmlns:a16="http://schemas.microsoft.com/office/drawing/2014/main" id="{DC58E397-4E04-4FE8-B500-8063752DE7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0e8aee4d394367"/>
          <a:stretch xmlns:a="http://schemas.openxmlformats.org/drawingml/2006/main"/>
        </p:blipFill>
        <p:spPr>
          <a:xfrm xmlns:a="http://schemas.openxmlformats.org/drawingml/2006/main">
            <a:off x="7164720" y="1666800"/>
            <a:ext cx="3006000" cy="19998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270" name="Slide29_Object270">
            <a:extLst xmlns:a="http://schemas.openxmlformats.org/drawingml/2006/main">
              <a:ext uri="{FF2B5EF4-FFF2-40B4-BE49-F238E27FC236}">
                <a16:creationId xmlns:a16="http://schemas.microsoft.com/office/drawing/2014/main" id="{3AA70B30-8E51-4305-9871-B3C0A3278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95" y="3809905"/>
            <a:ext cx="4000310" cy="4377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4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4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4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4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4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4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4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4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4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4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24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 u="none" strike="noStrike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rPr>
              <a:t>Hobbit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1" name="Slide29_Object271">
            <a:extLst xmlns:a="http://schemas.openxmlformats.org/drawingml/2006/main">
              <a:ext uri="{FF2B5EF4-FFF2-40B4-BE49-F238E27FC236}">
                <a16:creationId xmlns:a16="http://schemas.microsoft.com/office/drawing/2014/main" id="{9B6F0528-52D4-417F-A03D-256B1575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95" y="4286155"/>
            <a:ext cx="4000310" cy="3805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9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9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9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9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9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9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9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9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9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9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95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 u="none" strike="noStrike">
                <a:solidFill>
                  <a:srgbClr val="23344F"/>
                </a:solidFill>
                <a:latin typeface="Arial"/>
                <a:ea typeface="Arial"/>
                <a:cs typeface="Arial"/>
              </a:rPr>
              <a:t>Mobile home support prototype</a:t>
            </a:r>
            <a:endParaRPr sz="1950"/>
          </a:p>
        </p:txBody>
      </p:sp>
      <p:sp>
        <p:nvSpPr>
          <p:cNvPr id="272" name="Slide29_Object272">
            <a:extLst xmlns:a="http://schemas.openxmlformats.org/drawingml/2006/main">
              <a:ext uri="{FF2B5EF4-FFF2-40B4-BE49-F238E27FC236}">
                <a16:creationId xmlns:a16="http://schemas.microsoft.com/office/drawing/2014/main" id="{E99B9D2F-F7AC-4E6D-BEDE-260FCCF3C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95" y="4714875"/>
            <a:ext cx="4000310" cy="6188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9" b="0" u="none" strike="noStrike">
                <a:solidFill>
                  <a:srgbClr val="23344F"/>
                </a:solidFill>
                <a:latin typeface="Arial"/>
                <a:ea typeface="Arial"/>
                <a:cs typeface="Arial"/>
              </a:rPr>
              <a:t>A wheeled research prototype with a screen and robotic arm.</a:t>
            </a:r>
            <a:endParaRPr sz="1729"/>
          </a:p>
        </p:txBody>
      </p:sp>
      <p:sp>
        <p:nvSpPr>
          <p:cNvPr id="273" name="Slide29_Object273">
            <a:extLst xmlns:a="http://schemas.openxmlformats.org/drawingml/2006/main">
              <a:ext uri="{FF2B5EF4-FFF2-40B4-BE49-F238E27FC236}">
                <a16:creationId xmlns:a16="http://schemas.microsoft.com/office/drawing/2014/main" id="{241D716A-0BC4-4E7C-BAA8-AFA8BF918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95" y="5390960"/>
            <a:ext cx="4000310" cy="6188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9" b="0" u="none" strike="noStrike">
                <a:solidFill>
                  <a:srgbClr val="23344F"/>
                </a:solidFill>
                <a:latin typeface="Arial"/>
                <a:ea typeface="Arial"/>
                <a:cs typeface="Arial"/>
              </a:rPr>
              <a:t>Historical target: below EUR 14,000</a:t>
            </a:r>
            <a:endParaRPr sz="1579"/>
          </a:p>
          <a:p xmlns:a="http://schemas.openxmlformats.org/drawingml/2006/main">
            <a:pPr>
              <a:lnSpc>
                <a:spcPct val="100000"/>
              </a:lnSpc>
              <a:buNone/>
              <a:defRPr sz="1729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9" b="0" u="none" strike="noStrike">
                <a:solidFill>
                  <a:srgbClr val="23344F"/>
                </a:solidFill>
                <a:latin typeface="Arial"/>
                <a:ea typeface="Arial"/>
                <a:cs typeface="Arial"/>
              </a:rPr>
              <a:t>Research target, not current retail price</a:t>
            </a:r>
            <a:endParaRPr sz="1579"/>
          </a:p>
        </p:txBody>
      </p:sp>
      <p:sp>
        <p:nvSpPr>
          <p:cNvPr id="274" name="Slide29_Object274">
            <a:extLst xmlns:a="http://schemas.openxmlformats.org/drawingml/2006/main">
              <a:ext uri="{FF2B5EF4-FFF2-40B4-BE49-F238E27FC236}">
                <a16:creationId xmlns:a16="http://schemas.microsoft.com/office/drawing/2014/main" id="{F0D32513-3581-4CD2-BC41-94C5885E4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95" y="6019895"/>
            <a:ext cx="4000310" cy="285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5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5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5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5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5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5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5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5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5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5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500" b="0">
                <a:solidFill>
                  <a:srgbClr val="2334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 u="none" strike="noStrike">
                <a:solidFill>
                  <a:srgbClr val="23344F"/>
                </a:solidFill>
                <a:latin typeface="Arial"/>
                <a:ea typeface="Arial"/>
                <a:cs typeface="Arial"/>
              </a:rPr>
              <a:t>Related analysis: Figure 15</a:t>
            </a:r>
            <a:endParaRPr sz="1500"/>
          </a:p>
        </p:txBody>
      </p:sp>
      <p:sp>
        <p:nvSpPr>
          <p:cNvPr id="275" name="Slide29_Object275">
            <a:extLst xmlns:a="http://schemas.openxmlformats.org/drawingml/2006/main">
              <a:ext uri="{FF2B5EF4-FFF2-40B4-BE49-F238E27FC236}">
                <a16:creationId xmlns:a16="http://schemas.microsoft.com/office/drawing/2014/main" id="{4886A55B-2742-4D7D-8163-CB193FE3F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641" y="6477095"/>
            <a:ext cx="10667524" cy="2375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0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 u="none" strike="noStrike">
                <a:solidFill>
                  <a:srgbClr val="64748B"/>
                </a:solidFill>
                <a:latin typeface="Arial"/>
                <a:ea typeface="Arial"/>
                <a:cs typeface="Arial"/>
              </a:rPr>
              <a:t>Price context recorded on 15 October 2026. Original currencies. Rental fees, historical prices and targets differ.</a:t>
            </a:r>
            <a:endParaRPr sz="1050"/>
          </a:p>
        </p:txBody>
      </p:sp>
      <p:sp>
        <p:nvSpPr>
          <p:cNvPr id="276" name="Slide29_Object276">
            <a:extLst xmlns:a="http://schemas.openxmlformats.org/drawingml/2006/main">
              <a:ext uri="{FF2B5EF4-FFF2-40B4-BE49-F238E27FC236}">
                <a16:creationId xmlns:a16="http://schemas.microsoft.com/office/drawing/2014/main" id="{0358F836-63FD-4580-A3DD-0E33EC1D0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43675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 u="none" strike="noStrike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29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708502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Wong Chei Oi (Alice)</dc:creator>
  <lastModifiedBy>Walnut Exporter</lastModifiedBy>
  <dc:title>Data Analysis for the Development of Companion Robots for Older Adults</dc:title>
  <dcterms:created xsi:type="dcterms:W3CDTF">2026-10-23T04:29:49.1860000Z</dcterms:created>
  <dcterms:modified xsi:type="dcterms:W3CDTF">2026-10-23T04:29:49.1860000Z</dcterms:modified>
</coreProperties>
</file>